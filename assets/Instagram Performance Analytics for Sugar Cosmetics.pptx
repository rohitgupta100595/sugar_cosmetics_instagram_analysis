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69" r:id="rId17"/>
    <p:sldId id="270"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4316B3-ADD9-4757-9336-9485FE171449}">
          <p14:sldIdLst>
            <p14:sldId id="256"/>
            <p14:sldId id="257"/>
            <p14:sldId id="258"/>
            <p14:sldId id="259"/>
            <p14:sldId id="260"/>
            <p14:sldId id="261"/>
            <p14:sldId id="262"/>
            <p14:sldId id="263"/>
            <p14:sldId id="264"/>
            <p14:sldId id="265"/>
            <p14:sldId id="266"/>
            <p14:sldId id="267"/>
            <p14:sldId id="268"/>
            <p14:sldId id="272"/>
            <p14:sldId id="273"/>
            <p14:sldId id="269"/>
            <p14:sldId id="270"/>
            <p14:sldId id="27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38100" dist="25400" dir="5400000" rotWithShape="0">
                  <a:srgbClr val="000000">
                    <a:alpha val="45000"/>
                  </a:srgbClr>
                </a:outerShdw>
              </a:effectLst>
            </c:spPr>
            <c:extLst>
              <c:ext xmlns:c16="http://schemas.microsoft.com/office/drawing/2014/chart" uri="{C3380CC4-5D6E-409C-BE32-E72D297353CC}">
                <c16:uniqueId val="{00000001-1222-43AA-8159-9439E059A7B4}"/>
              </c:ext>
            </c:extLst>
          </c:dPt>
          <c:dPt>
            <c:idx val="1"/>
            <c:bubble3D val="0"/>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38100" dist="25400" dir="5400000" rotWithShape="0">
                  <a:srgbClr val="000000">
                    <a:alpha val="45000"/>
                  </a:srgbClr>
                </a:outerShdw>
              </a:effectLst>
            </c:spPr>
            <c:extLst>
              <c:ext xmlns:c16="http://schemas.microsoft.com/office/drawing/2014/chart" uri="{C3380CC4-5D6E-409C-BE32-E72D297353CC}">
                <c16:uniqueId val="{00000002-1222-43AA-8159-9439E059A7B4}"/>
              </c:ext>
            </c:extLst>
          </c:dPt>
          <c:dPt>
            <c:idx val="2"/>
            <c:bubble3D val="0"/>
            <c:spPr>
              <a:gradFill rotWithShape="1">
                <a:gsLst>
                  <a:gs pos="0">
                    <a:schemeClr val="accent3">
                      <a:tint val="98000"/>
                      <a:lumMod val="114000"/>
                    </a:schemeClr>
                  </a:gs>
                  <a:gs pos="100000">
                    <a:schemeClr val="accent3">
                      <a:shade val="90000"/>
                      <a:lumMod val="84000"/>
                    </a:schemeClr>
                  </a:gs>
                </a:gsLst>
                <a:lin ang="5400000" scaled="0"/>
              </a:gradFill>
              <a:ln>
                <a:noFill/>
              </a:ln>
              <a:effectLst>
                <a:outerShdw blurRad="38100" dist="25400" dir="5400000" rotWithShape="0">
                  <a:srgbClr val="000000">
                    <a:alpha val="45000"/>
                  </a:srgbClr>
                </a:outerShdw>
              </a:effectLst>
            </c:spPr>
            <c:extLst>
              <c:ext xmlns:c16="http://schemas.microsoft.com/office/drawing/2014/chart" uri="{C3380CC4-5D6E-409C-BE32-E72D297353CC}">
                <c16:uniqueId val="{00000004-1222-43AA-8159-9439E059A7B4}"/>
              </c:ext>
            </c:extLst>
          </c:dPt>
          <c:dPt>
            <c:idx val="3"/>
            <c:bubble3D val="0"/>
            <c:spPr>
              <a:gradFill rotWithShape="1">
                <a:gsLst>
                  <a:gs pos="0">
                    <a:schemeClr val="accent4">
                      <a:tint val="98000"/>
                      <a:lumMod val="114000"/>
                    </a:schemeClr>
                  </a:gs>
                  <a:gs pos="100000">
                    <a:schemeClr val="accent4">
                      <a:shade val="90000"/>
                      <a:lumMod val="84000"/>
                    </a:schemeClr>
                  </a:gs>
                </a:gsLst>
                <a:lin ang="5400000" scaled="0"/>
              </a:gradFill>
              <a:ln>
                <a:noFill/>
              </a:ln>
              <a:effectLst>
                <a:outerShdw blurRad="38100" dist="25400" dir="5400000" rotWithShape="0">
                  <a:srgbClr val="000000">
                    <a:alpha val="45000"/>
                  </a:srgbClr>
                </a:outerShdw>
              </a:effectLst>
            </c:spPr>
            <c:extLst>
              <c:ext xmlns:c16="http://schemas.microsoft.com/office/drawing/2014/chart" uri="{C3380CC4-5D6E-409C-BE32-E72D297353CC}">
                <c16:uniqueId val="{00000003-1222-43AA-8159-9439E059A7B4}"/>
              </c:ext>
            </c:extLst>
          </c:dPt>
          <c:dLbls>
            <c:numFmt formatCode="0.00%" sourceLinked="0"/>
            <c:spPr>
              <a:noFill/>
              <a:ln>
                <a:noFill/>
              </a:ln>
              <a:effectLst>
                <a:glow rad="50800">
                  <a:schemeClr val="accent1">
                    <a:alpha val="40000"/>
                  </a:schemeClr>
                </a:glow>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effectLst>
                      <a:outerShdw blurRad="50800" dist="76200" dir="5400000" algn="ctr" rotWithShape="0">
                        <a:schemeClr val="bg1"/>
                      </a:outerShdw>
                    </a:effectLst>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Sheet1!$A$2:$A$5</c:f>
              <c:strCache>
                <c:ptCount val="4"/>
                <c:pt idx="0">
                  <c:v>Image</c:v>
                </c:pt>
                <c:pt idx="1">
                  <c:v>Reel</c:v>
                </c:pt>
                <c:pt idx="2">
                  <c:v>Story</c:v>
                </c:pt>
                <c:pt idx="3">
                  <c:v>Video</c:v>
                </c:pt>
              </c:strCache>
            </c:strRef>
          </c:cat>
          <c:val>
            <c:numRef>
              <c:f>Sheet1!$B$2:$B$5</c:f>
              <c:numCache>
                <c:formatCode>General</c:formatCode>
                <c:ptCount val="4"/>
                <c:pt idx="0">
                  <c:v>24.8</c:v>
                </c:pt>
                <c:pt idx="1">
                  <c:v>25.2</c:v>
                </c:pt>
                <c:pt idx="2">
                  <c:v>25.03</c:v>
                </c:pt>
                <c:pt idx="3">
                  <c:v>24.9</c:v>
                </c:pt>
              </c:numCache>
            </c:numRef>
          </c:val>
          <c:extLst>
            <c:ext xmlns:c16="http://schemas.microsoft.com/office/drawing/2014/chart" uri="{C3380CC4-5D6E-409C-BE32-E72D297353CC}">
              <c16:uniqueId val="{00000000-1222-43AA-8159-9439E059A7B4}"/>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Sheet1!$B$1</c:f>
              <c:strCache>
                <c:ptCount val="1"/>
                <c:pt idx="0">
                  <c:v>Total Reach</c:v>
                </c:pt>
              </c:strCache>
            </c:strRef>
          </c:tx>
          <c:spPr>
            <a:ln w="31750" cap="rnd">
              <a:solidFill>
                <a:schemeClr val="accent1"/>
              </a:solidFill>
              <a:round/>
            </a:ln>
            <a:effectLst>
              <a:outerShdw blurRad="38100" dist="25400" dir="5400000" rotWithShape="0">
                <a:srgbClr val="000000">
                  <a:alpha val="45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Sheet1!$A$2:$A$14</c:f>
              <c:numCache>
                <c:formatCode>mmm\-yy</c:formatCode>
                <c:ptCount val="13"/>
                <c:pt idx="0">
                  <c:v>45383</c:v>
                </c:pt>
                <c:pt idx="1">
                  <c:v>45413</c:v>
                </c:pt>
                <c:pt idx="2">
                  <c:v>45444</c:v>
                </c:pt>
                <c:pt idx="3">
                  <c:v>45474</c:v>
                </c:pt>
                <c:pt idx="4">
                  <c:v>45505</c:v>
                </c:pt>
                <c:pt idx="5">
                  <c:v>45536</c:v>
                </c:pt>
                <c:pt idx="6">
                  <c:v>45566</c:v>
                </c:pt>
                <c:pt idx="7">
                  <c:v>45597</c:v>
                </c:pt>
                <c:pt idx="8">
                  <c:v>45627</c:v>
                </c:pt>
                <c:pt idx="9">
                  <c:v>45658</c:v>
                </c:pt>
                <c:pt idx="10">
                  <c:v>45689</c:v>
                </c:pt>
                <c:pt idx="11">
                  <c:v>45717</c:v>
                </c:pt>
                <c:pt idx="12">
                  <c:v>45748</c:v>
                </c:pt>
              </c:numCache>
            </c:numRef>
          </c:cat>
          <c:val>
            <c:numRef>
              <c:f>Sheet1!$B$2:$B$14</c:f>
              <c:numCache>
                <c:formatCode>General</c:formatCode>
                <c:ptCount val="13"/>
                <c:pt idx="0">
                  <c:v>32000000</c:v>
                </c:pt>
                <c:pt idx="1">
                  <c:v>83000000</c:v>
                </c:pt>
                <c:pt idx="2">
                  <c:v>84000000</c:v>
                </c:pt>
                <c:pt idx="3">
                  <c:v>80000000</c:v>
                </c:pt>
                <c:pt idx="4">
                  <c:v>84000000</c:v>
                </c:pt>
                <c:pt idx="5">
                  <c:v>82000000</c:v>
                </c:pt>
                <c:pt idx="6">
                  <c:v>84000000</c:v>
                </c:pt>
                <c:pt idx="7">
                  <c:v>80000000</c:v>
                </c:pt>
                <c:pt idx="8">
                  <c:v>84000000</c:v>
                </c:pt>
                <c:pt idx="9">
                  <c:v>83000000</c:v>
                </c:pt>
                <c:pt idx="10">
                  <c:v>78000000</c:v>
                </c:pt>
                <c:pt idx="11">
                  <c:v>82000000</c:v>
                </c:pt>
                <c:pt idx="12">
                  <c:v>49000000</c:v>
                </c:pt>
              </c:numCache>
            </c:numRef>
          </c:val>
          <c:smooth val="0"/>
          <c:extLst>
            <c:ext xmlns:c16="http://schemas.microsoft.com/office/drawing/2014/chart" uri="{C3380CC4-5D6E-409C-BE32-E72D297353CC}">
              <c16:uniqueId val="{00000000-F640-4914-8E60-F846D8A88585}"/>
            </c:ext>
          </c:extLst>
        </c:ser>
        <c:ser>
          <c:idx val="1"/>
          <c:order val="1"/>
          <c:tx>
            <c:strRef>
              <c:f>Sheet1!$C$1</c:f>
              <c:strCache>
                <c:ptCount val="1"/>
                <c:pt idx="0">
                  <c:v>Interaction</c:v>
                </c:pt>
              </c:strCache>
            </c:strRef>
          </c:tx>
          <c:spPr>
            <a:ln w="31750" cap="rnd">
              <a:solidFill>
                <a:schemeClr val="accent2"/>
              </a:solidFill>
              <a:round/>
            </a:ln>
            <a:effectLst>
              <a:outerShdw blurRad="38100" dist="25400" dir="5400000" rotWithShape="0">
                <a:srgbClr val="000000">
                  <a:alpha val="45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Sheet1!$A$2:$A$14</c:f>
              <c:numCache>
                <c:formatCode>mmm\-yy</c:formatCode>
                <c:ptCount val="13"/>
                <c:pt idx="0">
                  <c:v>45383</c:v>
                </c:pt>
                <c:pt idx="1">
                  <c:v>45413</c:v>
                </c:pt>
                <c:pt idx="2">
                  <c:v>45444</c:v>
                </c:pt>
                <c:pt idx="3">
                  <c:v>45474</c:v>
                </c:pt>
                <c:pt idx="4">
                  <c:v>45505</c:v>
                </c:pt>
                <c:pt idx="5">
                  <c:v>45536</c:v>
                </c:pt>
                <c:pt idx="6">
                  <c:v>45566</c:v>
                </c:pt>
                <c:pt idx="7">
                  <c:v>45597</c:v>
                </c:pt>
                <c:pt idx="8">
                  <c:v>45627</c:v>
                </c:pt>
                <c:pt idx="9">
                  <c:v>45658</c:v>
                </c:pt>
                <c:pt idx="10">
                  <c:v>45689</c:v>
                </c:pt>
                <c:pt idx="11">
                  <c:v>45717</c:v>
                </c:pt>
                <c:pt idx="12">
                  <c:v>45748</c:v>
                </c:pt>
              </c:numCache>
            </c:numRef>
          </c:cat>
          <c:val>
            <c:numRef>
              <c:f>Sheet1!$C$2:$C$14</c:f>
              <c:numCache>
                <c:formatCode>General</c:formatCode>
                <c:ptCount val="13"/>
                <c:pt idx="0">
                  <c:v>56000000</c:v>
                </c:pt>
                <c:pt idx="1">
                  <c:v>15000000</c:v>
                </c:pt>
                <c:pt idx="2">
                  <c:v>15000000</c:v>
                </c:pt>
                <c:pt idx="3">
                  <c:v>14000000</c:v>
                </c:pt>
                <c:pt idx="4">
                  <c:v>15000000</c:v>
                </c:pt>
                <c:pt idx="5">
                  <c:v>14000000</c:v>
                </c:pt>
                <c:pt idx="6">
                  <c:v>15000000</c:v>
                </c:pt>
                <c:pt idx="7">
                  <c:v>14000000</c:v>
                </c:pt>
                <c:pt idx="8">
                  <c:v>15000000</c:v>
                </c:pt>
                <c:pt idx="9">
                  <c:v>15000000</c:v>
                </c:pt>
                <c:pt idx="10">
                  <c:v>14000000</c:v>
                </c:pt>
                <c:pt idx="11">
                  <c:v>15000000</c:v>
                </c:pt>
                <c:pt idx="12">
                  <c:v>9000000</c:v>
                </c:pt>
              </c:numCache>
            </c:numRef>
          </c:val>
          <c:smooth val="0"/>
          <c:extLst>
            <c:ext xmlns:c16="http://schemas.microsoft.com/office/drawing/2014/chart" uri="{C3380CC4-5D6E-409C-BE32-E72D297353CC}">
              <c16:uniqueId val="{00000001-F640-4914-8E60-F846D8A88585}"/>
            </c:ext>
          </c:extLst>
        </c:ser>
        <c:dLbls>
          <c:dLblPos val="ctr"/>
          <c:showLegendKey val="0"/>
          <c:showVal val="1"/>
          <c:showCatName val="0"/>
          <c:showSerName val="0"/>
          <c:showPercent val="0"/>
          <c:showBubbleSize val="0"/>
        </c:dLbls>
        <c:smooth val="0"/>
        <c:axId val="1156864655"/>
        <c:axId val="1156872815"/>
      </c:lineChart>
      <c:dateAx>
        <c:axId val="1156864655"/>
        <c:scaling>
          <c:orientation val="minMax"/>
        </c:scaling>
        <c:delete val="0"/>
        <c:axPos val="b"/>
        <c:numFmt formatCode="mmm\-yy"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56872815"/>
        <c:crosses val="autoZero"/>
        <c:auto val="1"/>
        <c:lblOffset val="100"/>
        <c:baseTimeUnit val="months"/>
      </c:dateAx>
      <c:valAx>
        <c:axId val="11568728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56864655"/>
        <c:crosses val="autoZero"/>
        <c:crossBetween val="between"/>
        <c:dispUnits>
          <c:builtInUnit val="millions"/>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Interactions</c:v>
                </c:pt>
              </c:strCache>
            </c:strRef>
          </c:tx>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Inspired</c:v>
                </c:pt>
                <c:pt idx="1">
                  <c:v>Excited</c:v>
                </c:pt>
                <c:pt idx="2">
                  <c:v>Curious</c:v>
                </c:pt>
                <c:pt idx="3">
                  <c:v>Confident</c:v>
                </c:pt>
                <c:pt idx="4">
                  <c:v>Happy</c:v>
                </c:pt>
              </c:strCache>
            </c:strRef>
          </c:cat>
          <c:val>
            <c:numRef>
              <c:f>Sheet1!$B$2:$B$6</c:f>
              <c:numCache>
                <c:formatCode>General</c:formatCode>
                <c:ptCount val="5"/>
                <c:pt idx="0">
                  <c:v>35.549999999999997</c:v>
                </c:pt>
                <c:pt idx="1">
                  <c:v>35.28</c:v>
                </c:pt>
                <c:pt idx="2">
                  <c:v>34.880000000000003</c:v>
                </c:pt>
                <c:pt idx="3">
                  <c:v>34.369999999999997</c:v>
                </c:pt>
                <c:pt idx="4">
                  <c:v>34.229999999999997</c:v>
                </c:pt>
              </c:numCache>
            </c:numRef>
          </c:val>
          <c:extLst>
            <c:ext xmlns:c16="http://schemas.microsoft.com/office/drawing/2014/chart" uri="{C3380CC4-5D6E-409C-BE32-E72D297353CC}">
              <c16:uniqueId val="{00000000-A27B-4DB7-9D6F-73619782B7CB}"/>
            </c:ext>
          </c:extLst>
        </c:ser>
        <c:ser>
          <c:idx val="1"/>
          <c:order val="1"/>
          <c:tx>
            <c:strRef>
              <c:f>Sheet1!$C$1</c:f>
              <c:strCache>
                <c:ptCount val="1"/>
                <c:pt idx="0">
                  <c:v>Reach</c:v>
                </c:pt>
              </c:strCache>
            </c:strRef>
          </c:tx>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Inspired</c:v>
                </c:pt>
                <c:pt idx="1">
                  <c:v>Excited</c:v>
                </c:pt>
                <c:pt idx="2">
                  <c:v>Curious</c:v>
                </c:pt>
                <c:pt idx="3">
                  <c:v>Confident</c:v>
                </c:pt>
                <c:pt idx="4">
                  <c:v>Happy</c:v>
                </c:pt>
              </c:strCache>
            </c:strRef>
          </c:cat>
          <c:val>
            <c:numRef>
              <c:f>Sheet1!$C$2:$C$6</c:f>
              <c:numCache>
                <c:formatCode>General</c:formatCode>
                <c:ptCount val="5"/>
                <c:pt idx="0">
                  <c:v>201.7</c:v>
                </c:pt>
                <c:pt idx="1">
                  <c:v>200.13</c:v>
                </c:pt>
                <c:pt idx="2">
                  <c:v>196.49</c:v>
                </c:pt>
                <c:pt idx="3">
                  <c:v>194.98</c:v>
                </c:pt>
                <c:pt idx="4">
                  <c:v>194.12</c:v>
                </c:pt>
              </c:numCache>
            </c:numRef>
          </c:val>
          <c:extLst>
            <c:ext xmlns:c16="http://schemas.microsoft.com/office/drawing/2014/chart" uri="{C3380CC4-5D6E-409C-BE32-E72D297353CC}">
              <c16:uniqueId val="{00000001-A27B-4DB7-9D6F-73619782B7CB}"/>
            </c:ext>
          </c:extLst>
        </c:ser>
        <c:dLbls>
          <c:dLblPos val="outEnd"/>
          <c:showLegendKey val="0"/>
          <c:showVal val="1"/>
          <c:showCatName val="0"/>
          <c:showSerName val="0"/>
          <c:showPercent val="0"/>
          <c:showBubbleSize val="0"/>
        </c:dLbls>
        <c:gapWidth val="100"/>
        <c:overlap val="-24"/>
        <c:axId val="1372145455"/>
        <c:axId val="1372145935"/>
      </c:barChart>
      <c:catAx>
        <c:axId val="1372145455"/>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72145935"/>
        <c:crosses val="autoZero"/>
        <c:auto val="1"/>
        <c:lblAlgn val="ctr"/>
        <c:lblOffset val="100"/>
        <c:noMultiLvlLbl val="0"/>
      </c:catAx>
      <c:valAx>
        <c:axId val="1372145935"/>
        <c:scaling>
          <c:orientation val="minMax"/>
        </c:scaling>
        <c:delete val="1"/>
        <c:axPos val="l"/>
        <c:numFmt formatCode="General" sourceLinked="1"/>
        <c:majorTickMark val="out"/>
        <c:minorTickMark val="none"/>
        <c:tickLblPos val="nextTo"/>
        <c:crossAx val="13721454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Interaction</c:v>
                </c:pt>
              </c:strCache>
            </c:strRef>
          </c:tx>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Tutorial</c:v>
                </c:pt>
                <c:pt idx="1">
                  <c:v>Giveaway</c:v>
                </c:pt>
                <c:pt idx="2">
                  <c:v>Influencer Collab</c:v>
                </c:pt>
                <c:pt idx="3">
                  <c:v>Product Launch</c:v>
                </c:pt>
                <c:pt idx="4">
                  <c:v>Festive Offer</c:v>
                </c:pt>
              </c:strCache>
            </c:strRef>
          </c:cat>
          <c:val>
            <c:numRef>
              <c:f>Sheet1!$B$2:$B$6</c:f>
              <c:numCache>
                <c:formatCode>General</c:formatCode>
                <c:ptCount val="5"/>
                <c:pt idx="0">
                  <c:v>35.68</c:v>
                </c:pt>
                <c:pt idx="1">
                  <c:v>35</c:v>
                </c:pt>
                <c:pt idx="2">
                  <c:v>34.89</c:v>
                </c:pt>
                <c:pt idx="3">
                  <c:v>34.520000000000003</c:v>
                </c:pt>
                <c:pt idx="4">
                  <c:v>34.200000000000003</c:v>
                </c:pt>
              </c:numCache>
            </c:numRef>
          </c:val>
          <c:extLst>
            <c:ext xmlns:c16="http://schemas.microsoft.com/office/drawing/2014/chart" uri="{C3380CC4-5D6E-409C-BE32-E72D297353CC}">
              <c16:uniqueId val="{00000000-56A0-48D8-9CBB-1F87A04D5E91}"/>
            </c:ext>
          </c:extLst>
        </c:ser>
        <c:ser>
          <c:idx val="1"/>
          <c:order val="1"/>
          <c:tx>
            <c:strRef>
              <c:f>Sheet1!$C$1</c:f>
              <c:strCache>
                <c:ptCount val="1"/>
                <c:pt idx="0">
                  <c:v>Reach</c:v>
                </c:pt>
              </c:strCache>
            </c:strRef>
          </c:tx>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Tutorial</c:v>
                </c:pt>
                <c:pt idx="1">
                  <c:v>Giveaway</c:v>
                </c:pt>
                <c:pt idx="2">
                  <c:v>Influencer Collab</c:v>
                </c:pt>
                <c:pt idx="3">
                  <c:v>Product Launch</c:v>
                </c:pt>
                <c:pt idx="4">
                  <c:v>Festive Offer</c:v>
                </c:pt>
              </c:strCache>
            </c:strRef>
          </c:cat>
          <c:val>
            <c:numRef>
              <c:f>Sheet1!$C$2:$C$6</c:f>
              <c:numCache>
                <c:formatCode>General</c:formatCode>
                <c:ptCount val="5"/>
                <c:pt idx="0">
                  <c:v>201.73</c:v>
                </c:pt>
                <c:pt idx="1">
                  <c:v>198.1</c:v>
                </c:pt>
                <c:pt idx="2">
                  <c:v>196.82</c:v>
                </c:pt>
                <c:pt idx="3">
                  <c:v>195.91</c:v>
                </c:pt>
                <c:pt idx="4">
                  <c:v>194.87</c:v>
                </c:pt>
              </c:numCache>
            </c:numRef>
          </c:val>
          <c:extLst>
            <c:ext xmlns:c16="http://schemas.microsoft.com/office/drawing/2014/chart" uri="{C3380CC4-5D6E-409C-BE32-E72D297353CC}">
              <c16:uniqueId val="{00000001-56A0-48D8-9CBB-1F87A04D5E91}"/>
            </c:ext>
          </c:extLst>
        </c:ser>
        <c:dLbls>
          <c:dLblPos val="outEnd"/>
          <c:showLegendKey val="0"/>
          <c:showVal val="1"/>
          <c:showCatName val="0"/>
          <c:showSerName val="0"/>
          <c:showPercent val="0"/>
          <c:showBubbleSize val="0"/>
        </c:dLbls>
        <c:gapWidth val="100"/>
        <c:overlap val="-24"/>
        <c:axId val="2019814591"/>
        <c:axId val="2019806911"/>
      </c:barChart>
      <c:catAx>
        <c:axId val="2019814591"/>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9806911"/>
        <c:crosses val="autoZero"/>
        <c:auto val="1"/>
        <c:lblAlgn val="ctr"/>
        <c:lblOffset val="100"/>
        <c:noMultiLvlLbl val="0"/>
      </c:catAx>
      <c:valAx>
        <c:axId val="2019806911"/>
        <c:scaling>
          <c:orientation val="minMax"/>
        </c:scaling>
        <c:delete val="1"/>
        <c:axPos val="l"/>
        <c:numFmt formatCode="General" sourceLinked="1"/>
        <c:majorTickMark val="out"/>
        <c:minorTickMark val="none"/>
        <c:tickLblPos val="nextTo"/>
        <c:crossAx val="20198145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IN" dirty="0"/>
              <a:t>Average Profile Conversion</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1.2637642425642128E-2"/>
          <c:y val="3.9046450530264572E-2"/>
          <c:w val="0.97587359173286503"/>
          <c:h val="0.82838635660538196"/>
        </c:manualLayout>
      </c:layout>
      <c:bar3DChart>
        <c:barDir val="col"/>
        <c:grouping val="clustered"/>
        <c:varyColors val="0"/>
        <c:ser>
          <c:idx val="0"/>
          <c:order val="0"/>
          <c:tx>
            <c:strRef>
              <c:f>Sheet1!$B$1</c:f>
              <c:strCache>
                <c:ptCount val="1"/>
                <c:pt idx="0">
                  <c:v>Image</c:v>
                </c:pt>
              </c:strCache>
            </c:strRef>
          </c:tx>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cat>
            <c:strRef>
              <c:f>Sheet1!$A$2:$A$8</c:f>
              <c:strCache>
                <c:ptCount val="7"/>
                <c:pt idx="0">
                  <c:v>Sunday</c:v>
                </c:pt>
                <c:pt idx="1">
                  <c:v>Monday</c:v>
                </c:pt>
                <c:pt idx="2">
                  <c:v>Tuesday</c:v>
                </c:pt>
                <c:pt idx="3">
                  <c:v>Wednesday</c:v>
                </c:pt>
                <c:pt idx="4">
                  <c:v>Thursday</c:v>
                </c:pt>
                <c:pt idx="5">
                  <c:v>Friday</c:v>
                </c:pt>
                <c:pt idx="6">
                  <c:v>Saturday</c:v>
                </c:pt>
              </c:strCache>
            </c:strRef>
          </c:cat>
          <c:val>
            <c:numRef>
              <c:f>Sheet1!$B$2:$B$8</c:f>
              <c:numCache>
                <c:formatCode>General</c:formatCode>
                <c:ptCount val="7"/>
                <c:pt idx="0">
                  <c:v>3.0300000000000001E-2</c:v>
                </c:pt>
                <c:pt idx="1">
                  <c:v>2.98E-2</c:v>
                </c:pt>
                <c:pt idx="2">
                  <c:v>3.0200000000000001E-2</c:v>
                </c:pt>
                <c:pt idx="3">
                  <c:v>2.98E-2</c:v>
                </c:pt>
                <c:pt idx="4">
                  <c:v>0.03</c:v>
                </c:pt>
                <c:pt idx="5">
                  <c:v>3.0300000000000001E-2</c:v>
                </c:pt>
                <c:pt idx="6">
                  <c:v>0.03</c:v>
                </c:pt>
              </c:numCache>
            </c:numRef>
          </c:val>
          <c:extLst>
            <c:ext xmlns:c16="http://schemas.microsoft.com/office/drawing/2014/chart" uri="{C3380CC4-5D6E-409C-BE32-E72D297353CC}">
              <c16:uniqueId val="{00000000-45B2-4081-946C-60BD1CEA6A4B}"/>
            </c:ext>
          </c:extLst>
        </c:ser>
        <c:ser>
          <c:idx val="1"/>
          <c:order val="1"/>
          <c:tx>
            <c:strRef>
              <c:f>Sheet1!$C$1</c:f>
              <c:strCache>
                <c:ptCount val="1"/>
                <c:pt idx="0">
                  <c:v>Reel</c:v>
                </c:pt>
              </c:strCache>
            </c:strRef>
          </c:tx>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cat>
            <c:strRef>
              <c:f>Sheet1!$A$2:$A$8</c:f>
              <c:strCache>
                <c:ptCount val="7"/>
                <c:pt idx="0">
                  <c:v>Sunday</c:v>
                </c:pt>
                <c:pt idx="1">
                  <c:v>Monday</c:v>
                </c:pt>
                <c:pt idx="2">
                  <c:v>Tuesday</c:v>
                </c:pt>
                <c:pt idx="3">
                  <c:v>Wednesday</c:v>
                </c:pt>
                <c:pt idx="4">
                  <c:v>Thursday</c:v>
                </c:pt>
                <c:pt idx="5">
                  <c:v>Friday</c:v>
                </c:pt>
                <c:pt idx="6">
                  <c:v>Saturday</c:v>
                </c:pt>
              </c:strCache>
            </c:strRef>
          </c:cat>
          <c:val>
            <c:numRef>
              <c:f>Sheet1!$C$2:$C$8</c:f>
              <c:numCache>
                <c:formatCode>General</c:formatCode>
                <c:ptCount val="7"/>
                <c:pt idx="0">
                  <c:v>3.0099999999999998E-2</c:v>
                </c:pt>
                <c:pt idx="1">
                  <c:v>3.0099999999999998E-2</c:v>
                </c:pt>
                <c:pt idx="2">
                  <c:v>3.0499999999999999E-2</c:v>
                </c:pt>
                <c:pt idx="3">
                  <c:v>0.03</c:v>
                </c:pt>
                <c:pt idx="4">
                  <c:v>2.9899999999999999E-2</c:v>
                </c:pt>
                <c:pt idx="5">
                  <c:v>3.0200000000000001E-2</c:v>
                </c:pt>
                <c:pt idx="6">
                  <c:v>3.0200000000000001E-2</c:v>
                </c:pt>
              </c:numCache>
            </c:numRef>
          </c:val>
          <c:extLst>
            <c:ext xmlns:c16="http://schemas.microsoft.com/office/drawing/2014/chart" uri="{C3380CC4-5D6E-409C-BE32-E72D297353CC}">
              <c16:uniqueId val="{00000001-45B2-4081-946C-60BD1CEA6A4B}"/>
            </c:ext>
          </c:extLst>
        </c:ser>
        <c:ser>
          <c:idx val="2"/>
          <c:order val="2"/>
          <c:tx>
            <c:strRef>
              <c:f>Sheet1!$D$1</c:f>
              <c:strCache>
                <c:ptCount val="1"/>
                <c:pt idx="0">
                  <c:v>Story</c:v>
                </c:pt>
              </c:strCache>
            </c:strRef>
          </c:tx>
          <c:spPr>
            <a:gradFill rotWithShape="1">
              <a:gsLst>
                <a:gs pos="0">
                  <a:schemeClr val="accent3">
                    <a:tint val="98000"/>
                    <a:lumMod val="114000"/>
                  </a:schemeClr>
                </a:gs>
                <a:gs pos="100000">
                  <a:schemeClr val="accent3">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cat>
            <c:strRef>
              <c:f>Sheet1!$A$2:$A$8</c:f>
              <c:strCache>
                <c:ptCount val="7"/>
                <c:pt idx="0">
                  <c:v>Sunday</c:v>
                </c:pt>
                <c:pt idx="1">
                  <c:v>Monday</c:v>
                </c:pt>
                <c:pt idx="2">
                  <c:v>Tuesday</c:v>
                </c:pt>
                <c:pt idx="3">
                  <c:v>Wednesday</c:v>
                </c:pt>
                <c:pt idx="4">
                  <c:v>Thursday</c:v>
                </c:pt>
                <c:pt idx="5">
                  <c:v>Friday</c:v>
                </c:pt>
                <c:pt idx="6">
                  <c:v>Saturday</c:v>
                </c:pt>
              </c:strCache>
            </c:strRef>
          </c:cat>
          <c:val>
            <c:numRef>
              <c:f>Sheet1!$D$2:$D$8</c:f>
              <c:numCache>
                <c:formatCode>General</c:formatCode>
                <c:ptCount val="7"/>
                <c:pt idx="0">
                  <c:v>2.98E-2</c:v>
                </c:pt>
                <c:pt idx="1">
                  <c:v>3.0099999999999998E-2</c:v>
                </c:pt>
                <c:pt idx="2">
                  <c:v>3.0200000000000001E-2</c:v>
                </c:pt>
                <c:pt idx="3">
                  <c:v>3.0099999999999998E-2</c:v>
                </c:pt>
                <c:pt idx="4">
                  <c:v>2.9700000000000001E-2</c:v>
                </c:pt>
                <c:pt idx="5">
                  <c:v>3.0099999999999998E-2</c:v>
                </c:pt>
                <c:pt idx="6">
                  <c:v>2.9499999999999998E-2</c:v>
                </c:pt>
              </c:numCache>
            </c:numRef>
          </c:val>
          <c:extLst>
            <c:ext xmlns:c16="http://schemas.microsoft.com/office/drawing/2014/chart" uri="{C3380CC4-5D6E-409C-BE32-E72D297353CC}">
              <c16:uniqueId val="{00000002-45B2-4081-946C-60BD1CEA6A4B}"/>
            </c:ext>
          </c:extLst>
        </c:ser>
        <c:ser>
          <c:idx val="3"/>
          <c:order val="3"/>
          <c:tx>
            <c:strRef>
              <c:f>Sheet1!$E$1</c:f>
              <c:strCache>
                <c:ptCount val="1"/>
                <c:pt idx="0">
                  <c:v>Video</c:v>
                </c:pt>
              </c:strCache>
            </c:strRef>
          </c:tx>
          <c:spPr>
            <a:gradFill rotWithShape="1">
              <a:gsLst>
                <a:gs pos="0">
                  <a:schemeClr val="accent4">
                    <a:tint val="98000"/>
                    <a:lumMod val="114000"/>
                  </a:schemeClr>
                </a:gs>
                <a:gs pos="100000">
                  <a:schemeClr val="accent4">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invertIfNegative val="0"/>
          <c:cat>
            <c:strRef>
              <c:f>Sheet1!$A$2:$A$8</c:f>
              <c:strCache>
                <c:ptCount val="7"/>
                <c:pt idx="0">
                  <c:v>Sunday</c:v>
                </c:pt>
                <c:pt idx="1">
                  <c:v>Monday</c:v>
                </c:pt>
                <c:pt idx="2">
                  <c:v>Tuesday</c:v>
                </c:pt>
                <c:pt idx="3">
                  <c:v>Wednesday</c:v>
                </c:pt>
                <c:pt idx="4">
                  <c:v>Thursday</c:v>
                </c:pt>
                <c:pt idx="5">
                  <c:v>Friday</c:v>
                </c:pt>
                <c:pt idx="6">
                  <c:v>Saturday</c:v>
                </c:pt>
              </c:strCache>
            </c:strRef>
          </c:cat>
          <c:val>
            <c:numRef>
              <c:f>Sheet1!$E$2:$E$8</c:f>
              <c:numCache>
                <c:formatCode>General</c:formatCode>
                <c:ptCount val="7"/>
                <c:pt idx="0">
                  <c:v>3.0599999999999999E-2</c:v>
                </c:pt>
                <c:pt idx="1">
                  <c:v>3.0300000000000001E-2</c:v>
                </c:pt>
                <c:pt idx="2">
                  <c:v>2.9899999999999999E-2</c:v>
                </c:pt>
                <c:pt idx="3">
                  <c:v>3.0099999999999998E-2</c:v>
                </c:pt>
                <c:pt idx="4">
                  <c:v>2.9399999999999999E-2</c:v>
                </c:pt>
                <c:pt idx="5">
                  <c:v>2.9899999999999999E-2</c:v>
                </c:pt>
                <c:pt idx="6">
                  <c:v>2.9499999999999998E-2</c:v>
                </c:pt>
              </c:numCache>
            </c:numRef>
          </c:val>
          <c:extLst>
            <c:ext xmlns:c16="http://schemas.microsoft.com/office/drawing/2014/chart" uri="{C3380CC4-5D6E-409C-BE32-E72D297353CC}">
              <c16:uniqueId val="{00000003-45B2-4081-946C-60BD1CEA6A4B}"/>
            </c:ext>
          </c:extLst>
        </c:ser>
        <c:dLbls>
          <c:showLegendKey val="0"/>
          <c:showVal val="0"/>
          <c:showCatName val="0"/>
          <c:showSerName val="0"/>
          <c:showPercent val="0"/>
          <c:showBubbleSize val="0"/>
        </c:dLbls>
        <c:gapWidth val="150"/>
        <c:shape val="box"/>
        <c:axId val="149082000"/>
        <c:axId val="149082480"/>
        <c:axId val="0"/>
      </c:bar3DChart>
      <c:catAx>
        <c:axId val="149082000"/>
        <c:scaling>
          <c:orientation val="minMax"/>
        </c:scaling>
        <c:delete val="0"/>
        <c:axPos val="b"/>
        <c:numFmt formatCode="General" sourceLinked="1"/>
        <c:majorTickMark val="out"/>
        <c:minorTickMark val="none"/>
        <c:tickLblPos val="nextTo"/>
        <c:spPr>
          <a:noFill/>
          <a:ln w="28575" cap="rnd" cmpd="sng" algn="ctr">
            <a:solidFill>
              <a:schemeClr val="accent4"/>
            </a:solidFill>
            <a:prstDash val="solid"/>
            <a:round/>
          </a:ln>
          <a:effectLst>
            <a:outerShdw blurRad="38100" dist="25400" dir="5400000" rotWithShape="0">
              <a:srgbClr val="000000">
                <a:alpha val="45000"/>
              </a:srgbClr>
            </a:outerShdw>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49082480"/>
        <c:crosses val="autoZero"/>
        <c:auto val="1"/>
        <c:lblAlgn val="ctr"/>
        <c:lblOffset val="100"/>
        <c:noMultiLvlLbl val="0"/>
      </c:catAx>
      <c:valAx>
        <c:axId val="149082480"/>
        <c:scaling>
          <c:orientation val="minMax"/>
        </c:scaling>
        <c:delete val="0"/>
        <c:axPos val="l"/>
        <c:numFmt formatCode="0.00%" sourceLinked="0"/>
        <c:majorTickMark val="out"/>
        <c:minorTickMark val="none"/>
        <c:tickLblPos val="nextTo"/>
        <c:spPr>
          <a:noFill/>
          <a:ln w="28575" cap="rnd" cmpd="sng" algn="ctr">
            <a:solidFill>
              <a:schemeClr val="accent4"/>
            </a:solidFill>
            <a:prstDash val="solid"/>
          </a:ln>
          <a:effectLst>
            <a:outerShdw blurRad="38100" dist="25400" dir="5400000" rotWithShape="0">
              <a:srgbClr val="000000">
                <a:alpha val="45000"/>
              </a:srgbClr>
            </a:outerShdw>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49082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dirty="0"/>
              <a:t>Avg. Engagement Rate and Avg. Post</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 Engagement Rate</c:v>
                </c:pt>
              </c:strCache>
            </c:strRef>
          </c:tx>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38100" dist="25400" dir="5400000" rotWithShape="0">
                <a:srgbClr val="000000">
                  <a:alpha val="45000"/>
                </a:srgbClr>
              </a:outerShdw>
            </a:effectLst>
          </c:spPr>
          <c:invertIfNegative val="0"/>
          <c:cat>
            <c:strRef>
              <c:f>Sheet1!$A$2:$A$8</c:f>
              <c:strCache>
                <c:ptCount val="7"/>
                <c:pt idx="0">
                  <c:v>Sunday</c:v>
                </c:pt>
                <c:pt idx="1">
                  <c:v>Monday</c:v>
                </c:pt>
                <c:pt idx="2">
                  <c:v>Tuesday</c:v>
                </c:pt>
                <c:pt idx="3">
                  <c:v>Wednesday</c:v>
                </c:pt>
                <c:pt idx="4">
                  <c:v>Thursday</c:v>
                </c:pt>
                <c:pt idx="5">
                  <c:v>Friday</c:v>
                </c:pt>
                <c:pt idx="6">
                  <c:v>Saturday</c:v>
                </c:pt>
              </c:strCache>
            </c:strRef>
          </c:cat>
          <c:val>
            <c:numRef>
              <c:f>Sheet1!$B$2:$B$8</c:f>
              <c:numCache>
                <c:formatCode>General</c:formatCode>
                <c:ptCount val="7"/>
                <c:pt idx="0">
                  <c:v>0.17530000000000001</c:v>
                </c:pt>
                <c:pt idx="1">
                  <c:v>0.1759</c:v>
                </c:pt>
                <c:pt idx="2">
                  <c:v>0.17680000000000001</c:v>
                </c:pt>
                <c:pt idx="3">
                  <c:v>0.1774</c:v>
                </c:pt>
                <c:pt idx="4">
                  <c:v>0.1759</c:v>
                </c:pt>
                <c:pt idx="5">
                  <c:v>0.1797</c:v>
                </c:pt>
                <c:pt idx="6">
                  <c:v>0.17699999999999999</c:v>
                </c:pt>
              </c:numCache>
            </c:numRef>
          </c:val>
          <c:extLst>
            <c:ext xmlns:c16="http://schemas.microsoft.com/office/drawing/2014/chart" uri="{C3380CC4-5D6E-409C-BE32-E72D297353CC}">
              <c16:uniqueId val="{00000000-7E59-4F77-A496-E9C827D573A1}"/>
            </c:ext>
          </c:extLst>
        </c:ser>
        <c:dLbls>
          <c:showLegendKey val="0"/>
          <c:showVal val="0"/>
          <c:showCatName val="0"/>
          <c:showSerName val="0"/>
          <c:showPercent val="0"/>
          <c:showBubbleSize val="0"/>
        </c:dLbls>
        <c:gapWidth val="150"/>
        <c:axId val="149039760"/>
        <c:axId val="149047920"/>
      </c:barChart>
      <c:lineChart>
        <c:grouping val="standard"/>
        <c:varyColors val="0"/>
        <c:ser>
          <c:idx val="1"/>
          <c:order val="1"/>
          <c:tx>
            <c:strRef>
              <c:f>Sheet1!$C$1</c:f>
              <c:strCache>
                <c:ptCount val="1"/>
                <c:pt idx="0">
                  <c:v>Avg. Post</c:v>
                </c:pt>
              </c:strCache>
            </c:strRef>
          </c:tx>
          <c:spPr>
            <a:ln w="31750" cap="rnd">
              <a:solidFill>
                <a:schemeClr val="accent2"/>
              </a:solidFill>
              <a:round/>
            </a:ln>
            <a:effectLst>
              <a:outerShdw blurRad="38100" dist="25400" dir="5400000" rotWithShape="0">
                <a:srgbClr val="000000">
                  <a:alpha val="45000"/>
                </a:srgbClr>
              </a:outerShdw>
            </a:effectLst>
          </c:spPr>
          <c:marker>
            <c:symbol val="none"/>
          </c:marker>
          <c:cat>
            <c:strRef>
              <c:f>Sheet1!$A$2:$A$8</c:f>
              <c:strCache>
                <c:ptCount val="7"/>
                <c:pt idx="0">
                  <c:v>Sunday</c:v>
                </c:pt>
                <c:pt idx="1">
                  <c:v>Monday</c:v>
                </c:pt>
                <c:pt idx="2">
                  <c:v>Tuesday</c:v>
                </c:pt>
                <c:pt idx="3">
                  <c:v>Wednesday</c:v>
                </c:pt>
                <c:pt idx="4">
                  <c:v>Thursday</c:v>
                </c:pt>
                <c:pt idx="5">
                  <c:v>Friday</c:v>
                </c:pt>
                <c:pt idx="6">
                  <c:v>Saturday</c:v>
                </c:pt>
              </c:strCache>
            </c:strRef>
          </c:cat>
          <c:val>
            <c:numRef>
              <c:f>Sheet1!$C$2:$C$8</c:f>
              <c:numCache>
                <c:formatCode>General</c:formatCode>
                <c:ptCount val="7"/>
                <c:pt idx="0">
                  <c:v>19.2</c:v>
                </c:pt>
                <c:pt idx="1">
                  <c:v>19.38</c:v>
                </c:pt>
                <c:pt idx="2">
                  <c:v>20.100000000000001</c:v>
                </c:pt>
                <c:pt idx="3">
                  <c:v>19.61</c:v>
                </c:pt>
                <c:pt idx="4">
                  <c:v>19.309999999999999</c:v>
                </c:pt>
                <c:pt idx="5">
                  <c:v>19.8</c:v>
                </c:pt>
                <c:pt idx="6">
                  <c:v>19.21</c:v>
                </c:pt>
              </c:numCache>
            </c:numRef>
          </c:val>
          <c:smooth val="0"/>
          <c:extLst>
            <c:ext xmlns:c16="http://schemas.microsoft.com/office/drawing/2014/chart" uri="{C3380CC4-5D6E-409C-BE32-E72D297353CC}">
              <c16:uniqueId val="{00000001-7E59-4F77-A496-E9C827D573A1}"/>
            </c:ext>
          </c:extLst>
        </c:ser>
        <c:dLbls>
          <c:showLegendKey val="0"/>
          <c:showVal val="0"/>
          <c:showCatName val="0"/>
          <c:showSerName val="0"/>
          <c:showPercent val="0"/>
          <c:showBubbleSize val="0"/>
        </c:dLbls>
        <c:marker val="1"/>
        <c:smooth val="0"/>
        <c:axId val="321568240"/>
        <c:axId val="321562000"/>
      </c:lineChart>
      <c:catAx>
        <c:axId val="149039760"/>
        <c:scaling>
          <c:orientation val="minMax"/>
        </c:scaling>
        <c:delete val="0"/>
        <c:axPos val="b"/>
        <c:numFmt formatCode="General" sourceLinked="1"/>
        <c:majorTickMark val="none"/>
        <c:minorTickMark val="none"/>
        <c:tickLblPos val="nextTo"/>
        <c:spPr>
          <a:noFill/>
          <a:ln w="28575" cap="rnd" cmpd="sng" algn="ctr">
            <a:solidFill>
              <a:schemeClr val="accent4"/>
            </a:solidFill>
            <a:prstDash val="solid"/>
            <a:round/>
          </a:ln>
          <a:effectLst>
            <a:outerShdw blurRad="38100" dist="25400" dir="5400000" rotWithShape="0">
              <a:srgbClr val="000000">
                <a:alpha val="45000"/>
              </a:srgbClr>
            </a:outerShdw>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49047920"/>
        <c:crosses val="autoZero"/>
        <c:auto val="1"/>
        <c:lblAlgn val="ctr"/>
        <c:lblOffset val="100"/>
        <c:noMultiLvlLbl val="0"/>
      </c:catAx>
      <c:valAx>
        <c:axId val="149047920"/>
        <c:scaling>
          <c:orientation val="minMax"/>
        </c:scaling>
        <c:delete val="0"/>
        <c:axPos val="l"/>
        <c:numFmt formatCode="0.00%" sourceLinked="0"/>
        <c:majorTickMark val="none"/>
        <c:minorTickMark val="none"/>
        <c:tickLblPos val="nextTo"/>
        <c:spPr>
          <a:noFill/>
          <a:ln w="28575" cap="rnd" cmpd="sng" algn="ctr">
            <a:solidFill>
              <a:schemeClr val="accent4"/>
            </a:solidFill>
            <a:prstDash val="solid"/>
          </a:ln>
          <a:effectLst>
            <a:outerShdw blurRad="38100" dist="25400" dir="5400000" rotWithShape="0">
              <a:srgbClr val="000000">
                <a:alpha val="45000"/>
              </a:srgbClr>
            </a:outerShdw>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49039760"/>
        <c:crosses val="autoZero"/>
        <c:crossBetween val="between"/>
      </c:valAx>
      <c:valAx>
        <c:axId val="321562000"/>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321568240"/>
        <c:crosses val="max"/>
        <c:crossBetween val="between"/>
      </c:valAx>
      <c:catAx>
        <c:axId val="321568240"/>
        <c:scaling>
          <c:orientation val="minMax"/>
        </c:scaling>
        <c:delete val="1"/>
        <c:axPos val="b"/>
        <c:numFmt formatCode="General" sourceLinked="1"/>
        <c:majorTickMark val="none"/>
        <c:minorTickMark val="none"/>
        <c:tickLblPos val="nextTo"/>
        <c:crossAx val="32156200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31">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26">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F7BC9F-02BE-49E9-8AD4-B62E685891C8}" type="doc">
      <dgm:prSet loTypeId="urn:microsoft.com/office/officeart/2005/8/layout/vList3" loCatId="list" qsTypeId="urn:microsoft.com/office/officeart/2005/8/quickstyle/3d6" qsCatId="3D" csTypeId="urn:microsoft.com/office/officeart/2005/8/colors/colorful5" csCatId="colorful" phldr="1"/>
      <dgm:spPr/>
      <dgm:t>
        <a:bodyPr/>
        <a:lstStyle/>
        <a:p>
          <a:endParaRPr lang="en-IN"/>
        </a:p>
      </dgm:t>
    </dgm:pt>
    <dgm:pt modelId="{A553206F-CB69-4EF4-9CB6-8EAA34285BDE}">
      <dgm:prSet phldrT="[Text]" phldr="0"/>
      <dgm:spPr/>
      <dgm:t>
        <a:bodyPr/>
        <a:lstStyle/>
        <a:p>
          <a:r>
            <a:rPr lang="en-US" dirty="0"/>
            <a:t>Post  - 50K</a:t>
          </a:r>
          <a:endParaRPr lang="en-IN" dirty="0"/>
        </a:p>
      </dgm:t>
    </dgm:pt>
    <dgm:pt modelId="{A4FCDEF8-78E9-4807-B51D-463CE89C4790}" type="parTrans" cxnId="{6249BD17-9B4C-45CA-8AD4-8E9A6D1EE96A}">
      <dgm:prSet/>
      <dgm:spPr/>
      <dgm:t>
        <a:bodyPr/>
        <a:lstStyle/>
        <a:p>
          <a:endParaRPr lang="en-IN"/>
        </a:p>
      </dgm:t>
    </dgm:pt>
    <dgm:pt modelId="{6C242F2B-3843-48D1-8ECE-0FD5E2C67D2C}" type="sibTrans" cxnId="{6249BD17-9B4C-45CA-8AD4-8E9A6D1EE96A}">
      <dgm:prSet/>
      <dgm:spPr/>
      <dgm:t>
        <a:bodyPr/>
        <a:lstStyle/>
        <a:p>
          <a:endParaRPr lang="en-IN"/>
        </a:p>
      </dgm:t>
    </dgm:pt>
    <dgm:pt modelId="{7B14E3AE-09B3-48F0-B8C4-A07AD18DC559}">
      <dgm:prSet phldrT="[Text]" phldr="0"/>
      <dgm:spPr/>
      <dgm:t>
        <a:bodyPr/>
        <a:lstStyle/>
        <a:p>
          <a:r>
            <a:rPr lang="en-US" dirty="0"/>
            <a:t>Likes – 148M</a:t>
          </a:r>
          <a:endParaRPr lang="en-IN" dirty="0"/>
        </a:p>
      </dgm:t>
    </dgm:pt>
    <dgm:pt modelId="{94C34C58-7B83-4F2A-ADB9-E1F4845EB173}" type="parTrans" cxnId="{6543D9A0-D54E-4E79-84EF-0E9A4E7190B3}">
      <dgm:prSet/>
      <dgm:spPr/>
      <dgm:t>
        <a:bodyPr/>
        <a:lstStyle/>
        <a:p>
          <a:endParaRPr lang="en-IN"/>
        </a:p>
      </dgm:t>
    </dgm:pt>
    <dgm:pt modelId="{49D06377-EE42-44FA-A02B-9E957DB512E3}" type="sibTrans" cxnId="{6543D9A0-D54E-4E79-84EF-0E9A4E7190B3}">
      <dgm:prSet/>
      <dgm:spPr/>
      <dgm:t>
        <a:bodyPr/>
        <a:lstStyle/>
        <a:p>
          <a:endParaRPr lang="en-IN"/>
        </a:p>
      </dgm:t>
    </dgm:pt>
    <dgm:pt modelId="{EBD35A7D-A9F7-44C7-AAB5-37F3232B6E3B}">
      <dgm:prSet phldrT="[Text]" phldr="0"/>
      <dgm:spPr/>
      <dgm:t>
        <a:bodyPr/>
        <a:lstStyle/>
        <a:p>
          <a:r>
            <a:rPr lang="en-US" dirty="0"/>
            <a:t>Comments – 18M</a:t>
          </a:r>
          <a:endParaRPr lang="en-IN" dirty="0"/>
        </a:p>
      </dgm:t>
    </dgm:pt>
    <dgm:pt modelId="{03593CC8-1272-4131-95DC-575DE49EB01F}" type="parTrans" cxnId="{585180B0-C0F4-4302-BF3F-99A2EF8E6F51}">
      <dgm:prSet/>
      <dgm:spPr/>
      <dgm:t>
        <a:bodyPr/>
        <a:lstStyle/>
        <a:p>
          <a:endParaRPr lang="en-IN"/>
        </a:p>
      </dgm:t>
    </dgm:pt>
    <dgm:pt modelId="{9690DA43-8E37-43BB-99BD-FAE89E4435A7}" type="sibTrans" cxnId="{585180B0-C0F4-4302-BF3F-99A2EF8E6F51}">
      <dgm:prSet/>
      <dgm:spPr/>
      <dgm:t>
        <a:bodyPr/>
        <a:lstStyle/>
        <a:p>
          <a:endParaRPr lang="en-IN"/>
        </a:p>
      </dgm:t>
    </dgm:pt>
    <dgm:pt modelId="{3BE5CD8E-7475-4FD1-AA5A-2DC8E38C5758}">
      <dgm:prSet phldrT="[Text]" phldr="0"/>
      <dgm:spPr/>
      <dgm:t>
        <a:bodyPr/>
        <a:lstStyle/>
        <a:p>
          <a:r>
            <a:rPr lang="en-US" dirty="0"/>
            <a:t>Total Shares – 8M</a:t>
          </a:r>
          <a:endParaRPr lang="en-IN" dirty="0"/>
        </a:p>
      </dgm:t>
    </dgm:pt>
    <dgm:pt modelId="{2497E64C-2005-45AE-97FD-3F2EEA822D18}" type="parTrans" cxnId="{B7E45CA8-D06D-433B-8119-4AB85A20BA9D}">
      <dgm:prSet/>
      <dgm:spPr/>
      <dgm:t>
        <a:bodyPr/>
        <a:lstStyle/>
        <a:p>
          <a:endParaRPr lang="en-IN"/>
        </a:p>
      </dgm:t>
    </dgm:pt>
    <dgm:pt modelId="{220781F0-9C3A-4EC2-AE28-73CF424AC317}" type="sibTrans" cxnId="{B7E45CA8-D06D-433B-8119-4AB85A20BA9D}">
      <dgm:prSet/>
      <dgm:spPr/>
      <dgm:t>
        <a:bodyPr/>
        <a:lstStyle/>
        <a:p>
          <a:endParaRPr lang="en-IN"/>
        </a:p>
      </dgm:t>
    </dgm:pt>
    <dgm:pt modelId="{ECBF023B-D1EF-4EC5-9207-26001FF43EC0}">
      <dgm:prSet phldrT="[Text]" phldr="0"/>
      <dgm:spPr/>
      <dgm:t>
        <a:bodyPr/>
        <a:lstStyle/>
        <a:p>
          <a:r>
            <a:rPr lang="en-US" dirty="0"/>
            <a:t>Average Engagement Rate – 17.64%</a:t>
          </a:r>
          <a:endParaRPr lang="en-IN" dirty="0"/>
        </a:p>
      </dgm:t>
    </dgm:pt>
    <dgm:pt modelId="{B9F046EC-8967-49C9-90E0-F2C5CA133B0E}" type="parTrans" cxnId="{C9DD5ED0-B03E-4E99-BCEB-E226B157A890}">
      <dgm:prSet/>
      <dgm:spPr/>
      <dgm:t>
        <a:bodyPr/>
        <a:lstStyle/>
        <a:p>
          <a:endParaRPr lang="en-IN"/>
        </a:p>
      </dgm:t>
    </dgm:pt>
    <dgm:pt modelId="{D595A127-3E01-4276-B541-8AB8B471979F}" type="sibTrans" cxnId="{C9DD5ED0-B03E-4E99-BCEB-E226B157A890}">
      <dgm:prSet/>
      <dgm:spPr/>
      <dgm:t>
        <a:bodyPr/>
        <a:lstStyle/>
        <a:p>
          <a:endParaRPr lang="en-IN"/>
        </a:p>
      </dgm:t>
    </dgm:pt>
    <dgm:pt modelId="{DD62CECF-F6A5-4ED6-88DA-1EF1C5DBAC52}" type="pres">
      <dgm:prSet presAssocID="{B9F7BC9F-02BE-49E9-8AD4-B62E685891C8}" presName="linearFlow" presStyleCnt="0">
        <dgm:presLayoutVars>
          <dgm:dir/>
          <dgm:resizeHandles val="exact"/>
        </dgm:presLayoutVars>
      </dgm:prSet>
      <dgm:spPr/>
    </dgm:pt>
    <dgm:pt modelId="{15BC7AA2-DA04-4901-B57C-62B7BF9D8AA9}" type="pres">
      <dgm:prSet presAssocID="{A553206F-CB69-4EF4-9CB6-8EAA34285BDE}" presName="composite" presStyleCnt="0"/>
      <dgm:spPr/>
    </dgm:pt>
    <dgm:pt modelId="{52E48414-A61D-4215-8380-35192A79B3BB}" type="pres">
      <dgm:prSet presAssocID="{A553206F-CB69-4EF4-9CB6-8EAA34285BDE}" presName="imgShp" presStyleLbl="fgImgPlace1" presStyleIdx="0" presStyleCnt="5" custScaleY="101271"/>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dgm:spPr>
      <dgm:extLst>
        <a:ext uri="{E40237B7-FDA0-4F09-8148-C483321AD2D9}">
          <dgm14:cNvPr xmlns:dgm14="http://schemas.microsoft.com/office/drawing/2010/diagram" id="0" name="" descr="Envelope with solid fill"/>
        </a:ext>
      </dgm:extLst>
    </dgm:pt>
    <dgm:pt modelId="{FBBB0674-A760-4012-A641-DD080E15FDB6}" type="pres">
      <dgm:prSet presAssocID="{A553206F-CB69-4EF4-9CB6-8EAA34285BDE}" presName="txShp" presStyleLbl="node1" presStyleIdx="0" presStyleCnt="5">
        <dgm:presLayoutVars>
          <dgm:bulletEnabled val="1"/>
        </dgm:presLayoutVars>
      </dgm:prSet>
      <dgm:spPr/>
    </dgm:pt>
    <dgm:pt modelId="{EF751102-55B9-4645-B2F1-16AB0B88D031}" type="pres">
      <dgm:prSet presAssocID="{6C242F2B-3843-48D1-8ECE-0FD5E2C67D2C}" presName="spacing" presStyleCnt="0"/>
      <dgm:spPr/>
    </dgm:pt>
    <dgm:pt modelId="{0B70A9CF-3602-410E-80BA-366F545F0D73}" type="pres">
      <dgm:prSet presAssocID="{7B14E3AE-09B3-48F0-B8C4-A07AD18DC559}" presName="composite" presStyleCnt="0"/>
      <dgm:spPr/>
    </dgm:pt>
    <dgm:pt modelId="{A81B10AF-7CBB-4A34-BA7C-756AD122E650}" type="pres">
      <dgm:prSet presAssocID="{7B14E3AE-09B3-48F0-B8C4-A07AD18DC559}" presName="imgShp" presStyleLbl="f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humbs up sign with solid fill"/>
        </a:ext>
      </dgm:extLst>
    </dgm:pt>
    <dgm:pt modelId="{9331A2C2-F113-405F-8B61-4A1D34878BB9}" type="pres">
      <dgm:prSet presAssocID="{7B14E3AE-09B3-48F0-B8C4-A07AD18DC559}" presName="txShp" presStyleLbl="node1" presStyleIdx="1" presStyleCnt="5">
        <dgm:presLayoutVars>
          <dgm:bulletEnabled val="1"/>
        </dgm:presLayoutVars>
      </dgm:prSet>
      <dgm:spPr/>
    </dgm:pt>
    <dgm:pt modelId="{03CF37E0-DCA9-495A-8079-31E34E22421C}" type="pres">
      <dgm:prSet presAssocID="{49D06377-EE42-44FA-A02B-9E957DB512E3}" presName="spacing" presStyleCnt="0"/>
      <dgm:spPr/>
    </dgm:pt>
    <dgm:pt modelId="{F6F7E727-E26A-4DCD-8333-77F97B693748}" type="pres">
      <dgm:prSet presAssocID="{EBD35A7D-A9F7-44C7-AAB5-37F3232B6E3B}" presName="composite" presStyleCnt="0"/>
      <dgm:spPr/>
    </dgm:pt>
    <dgm:pt modelId="{E406FE99-28FC-46F0-ADF2-A1CF1402134E}" type="pres">
      <dgm:prSet presAssocID="{EBD35A7D-A9F7-44C7-AAB5-37F3232B6E3B}" presName="imgShp" presStyleLbl="f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Speech with solid fill"/>
        </a:ext>
      </dgm:extLst>
    </dgm:pt>
    <dgm:pt modelId="{437389B9-8F17-437C-B18C-001E98509462}" type="pres">
      <dgm:prSet presAssocID="{EBD35A7D-A9F7-44C7-AAB5-37F3232B6E3B}" presName="txShp" presStyleLbl="node1" presStyleIdx="2" presStyleCnt="5">
        <dgm:presLayoutVars>
          <dgm:bulletEnabled val="1"/>
        </dgm:presLayoutVars>
      </dgm:prSet>
      <dgm:spPr/>
    </dgm:pt>
    <dgm:pt modelId="{50350A2C-480C-421F-921B-75583989E15E}" type="pres">
      <dgm:prSet presAssocID="{9690DA43-8E37-43BB-99BD-FAE89E4435A7}" presName="spacing" presStyleCnt="0"/>
      <dgm:spPr/>
    </dgm:pt>
    <dgm:pt modelId="{5AA57F40-3BE9-4629-8ED5-F0DD90634D45}" type="pres">
      <dgm:prSet presAssocID="{3BE5CD8E-7475-4FD1-AA5A-2DC8E38C5758}" presName="composite" presStyleCnt="0"/>
      <dgm:spPr/>
    </dgm:pt>
    <dgm:pt modelId="{D8C249B2-CC54-4C35-947F-F0022EADDE64}" type="pres">
      <dgm:prSet presAssocID="{3BE5CD8E-7475-4FD1-AA5A-2DC8E38C5758}" presName="imgShp" presStyleLbl="f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Send with solid fill"/>
        </a:ext>
      </dgm:extLst>
    </dgm:pt>
    <dgm:pt modelId="{351EB693-4AF7-4098-93CB-9D1F381DB90F}" type="pres">
      <dgm:prSet presAssocID="{3BE5CD8E-7475-4FD1-AA5A-2DC8E38C5758}" presName="txShp" presStyleLbl="node1" presStyleIdx="3" presStyleCnt="5">
        <dgm:presLayoutVars>
          <dgm:bulletEnabled val="1"/>
        </dgm:presLayoutVars>
      </dgm:prSet>
      <dgm:spPr/>
    </dgm:pt>
    <dgm:pt modelId="{D053DD1C-ACF0-4296-A4F8-569DC2F5C62A}" type="pres">
      <dgm:prSet presAssocID="{220781F0-9C3A-4EC2-AE28-73CF424AC317}" presName="spacing" presStyleCnt="0"/>
      <dgm:spPr/>
    </dgm:pt>
    <dgm:pt modelId="{C3AB4286-EC1A-49A4-83C5-4EAEE6C6E827}" type="pres">
      <dgm:prSet presAssocID="{ECBF023B-D1EF-4EC5-9207-26001FF43EC0}" presName="composite" presStyleCnt="0"/>
      <dgm:spPr/>
    </dgm:pt>
    <dgm:pt modelId="{E197E998-F61E-4C29-9D61-9797A41F0C9F}" type="pres">
      <dgm:prSet presAssocID="{ECBF023B-D1EF-4EC5-9207-26001FF43EC0}" presName="imgShp" presStyleLbl="f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Social network with solid fill"/>
        </a:ext>
      </dgm:extLst>
    </dgm:pt>
    <dgm:pt modelId="{D9FE2BEF-8C01-4D75-947A-92C912803363}" type="pres">
      <dgm:prSet presAssocID="{ECBF023B-D1EF-4EC5-9207-26001FF43EC0}" presName="txShp" presStyleLbl="node1" presStyleIdx="4" presStyleCnt="5">
        <dgm:presLayoutVars>
          <dgm:bulletEnabled val="1"/>
        </dgm:presLayoutVars>
      </dgm:prSet>
      <dgm:spPr/>
    </dgm:pt>
  </dgm:ptLst>
  <dgm:cxnLst>
    <dgm:cxn modelId="{6249BD17-9B4C-45CA-8AD4-8E9A6D1EE96A}" srcId="{B9F7BC9F-02BE-49E9-8AD4-B62E685891C8}" destId="{A553206F-CB69-4EF4-9CB6-8EAA34285BDE}" srcOrd="0" destOrd="0" parTransId="{A4FCDEF8-78E9-4807-B51D-463CE89C4790}" sibTransId="{6C242F2B-3843-48D1-8ECE-0FD5E2C67D2C}"/>
    <dgm:cxn modelId="{2DC07918-0BA9-4532-935A-23FD14BD3C1D}" type="presOf" srcId="{7B14E3AE-09B3-48F0-B8C4-A07AD18DC559}" destId="{9331A2C2-F113-405F-8B61-4A1D34878BB9}" srcOrd="0" destOrd="0" presId="urn:microsoft.com/office/officeart/2005/8/layout/vList3"/>
    <dgm:cxn modelId="{4C1EDC68-80FD-46EF-8841-8738E99B1E25}" type="presOf" srcId="{EBD35A7D-A9F7-44C7-AAB5-37F3232B6E3B}" destId="{437389B9-8F17-437C-B18C-001E98509462}" srcOrd="0" destOrd="0" presId="urn:microsoft.com/office/officeart/2005/8/layout/vList3"/>
    <dgm:cxn modelId="{362BE14D-6EE7-47CA-A2FE-E10B8A0A7DD3}" type="presOf" srcId="{B9F7BC9F-02BE-49E9-8AD4-B62E685891C8}" destId="{DD62CECF-F6A5-4ED6-88DA-1EF1C5DBAC52}" srcOrd="0" destOrd="0" presId="urn:microsoft.com/office/officeart/2005/8/layout/vList3"/>
    <dgm:cxn modelId="{7AF3CC7F-8EEA-490A-9969-E7D4A14F37BF}" type="presOf" srcId="{A553206F-CB69-4EF4-9CB6-8EAA34285BDE}" destId="{FBBB0674-A760-4012-A641-DD080E15FDB6}" srcOrd="0" destOrd="0" presId="urn:microsoft.com/office/officeart/2005/8/layout/vList3"/>
    <dgm:cxn modelId="{6543D9A0-D54E-4E79-84EF-0E9A4E7190B3}" srcId="{B9F7BC9F-02BE-49E9-8AD4-B62E685891C8}" destId="{7B14E3AE-09B3-48F0-B8C4-A07AD18DC559}" srcOrd="1" destOrd="0" parTransId="{94C34C58-7B83-4F2A-ADB9-E1F4845EB173}" sibTransId="{49D06377-EE42-44FA-A02B-9E957DB512E3}"/>
    <dgm:cxn modelId="{B7E45CA8-D06D-433B-8119-4AB85A20BA9D}" srcId="{B9F7BC9F-02BE-49E9-8AD4-B62E685891C8}" destId="{3BE5CD8E-7475-4FD1-AA5A-2DC8E38C5758}" srcOrd="3" destOrd="0" parTransId="{2497E64C-2005-45AE-97FD-3F2EEA822D18}" sibTransId="{220781F0-9C3A-4EC2-AE28-73CF424AC317}"/>
    <dgm:cxn modelId="{585180B0-C0F4-4302-BF3F-99A2EF8E6F51}" srcId="{B9F7BC9F-02BE-49E9-8AD4-B62E685891C8}" destId="{EBD35A7D-A9F7-44C7-AAB5-37F3232B6E3B}" srcOrd="2" destOrd="0" parTransId="{03593CC8-1272-4131-95DC-575DE49EB01F}" sibTransId="{9690DA43-8E37-43BB-99BD-FAE89E4435A7}"/>
    <dgm:cxn modelId="{4BB8FEC2-496A-4702-B2FE-4F9311BCFA02}" type="presOf" srcId="{3BE5CD8E-7475-4FD1-AA5A-2DC8E38C5758}" destId="{351EB693-4AF7-4098-93CB-9D1F381DB90F}" srcOrd="0" destOrd="0" presId="urn:microsoft.com/office/officeart/2005/8/layout/vList3"/>
    <dgm:cxn modelId="{C9DD5ED0-B03E-4E99-BCEB-E226B157A890}" srcId="{B9F7BC9F-02BE-49E9-8AD4-B62E685891C8}" destId="{ECBF023B-D1EF-4EC5-9207-26001FF43EC0}" srcOrd="4" destOrd="0" parTransId="{B9F046EC-8967-49C9-90E0-F2C5CA133B0E}" sibTransId="{D595A127-3E01-4276-B541-8AB8B471979F}"/>
    <dgm:cxn modelId="{FF532FF6-3948-481E-A09C-AA2EBD7090CB}" type="presOf" srcId="{ECBF023B-D1EF-4EC5-9207-26001FF43EC0}" destId="{D9FE2BEF-8C01-4D75-947A-92C912803363}" srcOrd="0" destOrd="0" presId="urn:microsoft.com/office/officeart/2005/8/layout/vList3"/>
    <dgm:cxn modelId="{CEF7EA2F-9766-46F9-8045-40D61C6E2F71}" type="presParOf" srcId="{DD62CECF-F6A5-4ED6-88DA-1EF1C5DBAC52}" destId="{15BC7AA2-DA04-4901-B57C-62B7BF9D8AA9}" srcOrd="0" destOrd="0" presId="urn:microsoft.com/office/officeart/2005/8/layout/vList3"/>
    <dgm:cxn modelId="{2A5E0899-519D-443A-9860-3F18F5D9958E}" type="presParOf" srcId="{15BC7AA2-DA04-4901-B57C-62B7BF9D8AA9}" destId="{52E48414-A61D-4215-8380-35192A79B3BB}" srcOrd="0" destOrd="0" presId="urn:microsoft.com/office/officeart/2005/8/layout/vList3"/>
    <dgm:cxn modelId="{169040EA-09F2-4455-9BA7-11EE10457824}" type="presParOf" srcId="{15BC7AA2-DA04-4901-B57C-62B7BF9D8AA9}" destId="{FBBB0674-A760-4012-A641-DD080E15FDB6}" srcOrd="1" destOrd="0" presId="urn:microsoft.com/office/officeart/2005/8/layout/vList3"/>
    <dgm:cxn modelId="{772DEDF4-44BD-46B9-8B81-A99C01D28065}" type="presParOf" srcId="{DD62CECF-F6A5-4ED6-88DA-1EF1C5DBAC52}" destId="{EF751102-55B9-4645-B2F1-16AB0B88D031}" srcOrd="1" destOrd="0" presId="urn:microsoft.com/office/officeart/2005/8/layout/vList3"/>
    <dgm:cxn modelId="{3A801D89-FF9D-4ECC-9226-C7157E7A7C3D}" type="presParOf" srcId="{DD62CECF-F6A5-4ED6-88DA-1EF1C5DBAC52}" destId="{0B70A9CF-3602-410E-80BA-366F545F0D73}" srcOrd="2" destOrd="0" presId="urn:microsoft.com/office/officeart/2005/8/layout/vList3"/>
    <dgm:cxn modelId="{4D2A2FCF-DE64-4F84-A75C-7399ABC59E2E}" type="presParOf" srcId="{0B70A9CF-3602-410E-80BA-366F545F0D73}" destId="{A81B10AF-7CBB-4A34-BA7C-756AD122E650}" srcOrd="0" destOrd="0" presId="urn:microsoft.com/office/officeart/2005/8/layout/vList3"/>
    <dgm:cxn modelId="{B31BF908-7A99-4AD5-9018-14F44567198B}" type="presParOf" srcId="{0B70A9CF-3602-410E-80BA-366F545F0D73}" destId="{9331A2C2-F113-405F-8B61-4A1D34878BB9}" srcOrd="1" destOrd="0" presId="urn:microsoft.com/office/officeart/2005/8/layout/vList3"/>
    <dgm:cxn modelId="{32A47D61-6A95-4372-9FCB-EAB2F1425F09}" type="presParOf" srcId="{DD62CECF-F6A5-4ED6-88DA-1EF1C5DBAC52}" destId="{03CF37E0-DCA9-495A-8079-31E34E22421C}" srcOrd="3" destOrd="0" presId="urn:microsoft.com/office/officeart/2005/8/layout/vList3"/>
    <dgm:cxn modelId="{2BAFD60C-83EB-4794-A151-B954DB7AF7BE}" type="presParOf" srcId="{DD62CECF-F6A5-4ED6-88DA-1EF1C5DBAC52}" destId="{F6F7E727-E26A-4DCD-8333-77F97B693748}" srcOrd="4" destOrd="0" presId="urn:microsoft.com/office/officeart/2005/8/layout/vList3"/>
    <dgm:cxn modelId="{FA6D9C64-A823-4227-B7E8-659871F565F2}" type="presParOf" srcId="{F6F7E727-E26A-4DCD-8333-77F97B693748}" destId="{E406FE99-28FC-46F0-ADF2-A1CF1402134E}" srcOrd="0" destOrd="0" presId="urn:microsoft.com/office/officeart/2005/8/layout/vList3"/>
    <dgm:cxn modelId="{CDA49027-8F76-46EB-9A10-64D0E5A79228}" type="presParOf" srcId="{F6F7E727-E26A-4DCD-8333-77F97B693748}" destId="{437389B9-8F17-437C-B18C-001E98509462}" srcOrd="1" destOrd="0" presId="urn:microsoft.com/office/officeart/2005/8/layout/vList3"/>
    <dgm:cxn modelId="{119AF47A-40E8-46D8-B048-2DD041C6A59B}" type="presParOf" srcId="{DD62CECF-F6A5-4ED6-88DA-1EF1C5DBAC52}" destId="{50350A2C-480C-421F-921B-75583989E15E}" srcOrd="5" destOrd="0" presId="urn:microsoft.com/office/officeart/2005/8/layout/vList3"/>
    <dgm:cxn modelId="{7120388B-785B-4431-BF93-A3B0F1D2D786}" type="presParOf" srcId="{DD62CECF-F6A5-4ED6-88DA-1EF1C5DBAC52}" destId="{5AA57F40-3BE9-4629-8ED5-F0DD90634D45}" srcOrd="6" destOrd="0" presId="urn:microsoft.com/office/officeart/2005/8/layout/vList3"/>
    <dgm:cxn modelId="{86A0153F-B430-4800-A344-369FFCC185B3}" type="presParOf" srcId="{5AA57F40-3BE9-4629-8ED5-F0DD90634D45}" destId="{D8C249B2-CC54-4C35-947F-F0022EADDE64}" srcOrd="0" destOrd="0" presId="urn:microsoft.com/office/officeart/2005/8/layout/vList3"/>
    <dgm:cxn modelId="{FCFC5F76-E74E-4CFD-BE66-113B909ACE8E}" type="presParOf" srcId="{5AA57F40-3BE9-4629-8ED5-F0DD90634D45}" destId="{351EB693-4AF7-4098-93CB-9D1F381DB90F}" srcOrd="1" destOrd="0" presId="urn:microsoft.com/office/officeart/2005/8/layout/vList3"/>
    <dgm:cxn modelId="{F9D9D627-2659-4561-A8A8-FFDED2106995}" type="presParOf" srcId="{DD62CECF-F6A5-4ED6-88DA-1EF1C5DBAC52}" destId="{D053DD1C-ACF0-4296-A4F8-569DC2F5C62A}" srcOrd="7" destOrd="0" presId="urn:microsoft.com/office/officeart/2005/8/layout/vList3"/>
    <dgm:cxn modelId="{3885F9E8-3298-4205-B171-BC287E81B7AF}" type="presParOf" srcId="{DD62CECF-F6A5-4ED6-88DA-1EF1C5DBAC52}" destId="{C3AB4286-EC1A-49A4-83C5-4EAEE6C6E827}" srcOrd="8" destOrd="0" presId="urn:microsoft.com/office/officeart/2005/8/layout/vList3"/>
    <dgm:cxn modelId="{5FB4A9A4-F888-4CD1-A2DE-4B410208FB40}" type="presParOf" srcId="{C3AB4286-EC1A-49A4-83C5-4EAEE6C6E827}" destId="{E197E998-F61E-4C29-9D61-9797A41F0C9F}" srcOrd="0" destOrd="0" presId="urn:microsoft.com/office/officeart/2005/8/layout/vList3"/>
    <dgm:cxn modelId="{5B70D9EC-77DF-4179-9314-F24BDA7271BA}" type="presParOf" srcId="{C3AB4286-EC1A-49A4-83C5-4EAEE6C6E827}" destId="{D9FE2BEF-8C01-4D75-947A-92C91280336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8BE00C-705D-4790-ABC2-9C5659E8D397}" type="doc">
      <dgm:prSet loTypeId="urn:microsoft.com/office/officeart/2011/layout/TabList" loCatId="list" qsTypeId="urn:microsoft.com/office/officeart/2005/8/quickstyle/3d6" qsCatId="3D" csTypeId="urn:microsoft.com/office/officeart/2005/8/colors/accent1_2" csCatId="accent1" phldr="1"/>
      <dgm:spPr/>
      <dgm:t>
        <a:bodyPr/>
        <a:lstStyle/>
        <a:p>
          <a:endParaRPr lang="en-IN"/>
        </a:p>
      </dgm:t>
    </dgm:pt>
    <dgm:pt modelId="{1B5E7525-9C95-40B9-A49B-D65434781ED5}">
      <dgm:prSet phldrT="[Text]" phldr="0"/>
      <dgm:spPr/>
      <dgm:t>
        <a:bodyPr/>
        <a:lstStyle/>
        <a:p>
          <a:r>
            <a:rPr lang="en-US" dirty="0"/>
            <a:t>Best Day to Post</a:t>
          </a:r>
          <a:endParaRPr lang="en-IN" dirty="0"/>
        </a:p>
      </dgm:t>
    </dgm:pt>
    <dgm:pt modelId="{367A20FD-8B8B-4972-BA03-4B3EB8E84B41}" type="parTrans" cxnId="{9EF42CBC-91E2-40AD-A214-23E769D59D2F}">
      <dgm:prSet/>
      <dgm:spPr/>
      <dgm:t>
        <a:bodyPr/>
        <a:lstStyle/>
        <a:p>
          <a:endParaRPr lang="en-IN"/>
        </a:p>
      </dgm:t>
    </dgm:pt>
    <dgm:pt modelId="{72FA4240-0F96-43C9-9AF9-82C51D9C3CA5}" type="sibTrans" cxnId="{9EF42CBC-91E2-40AD-A214-23E769D59D2F}">
      <dgm:prSet/>
      <dgm:spPr/>
      <dgm:t>
        <a:bodyPr/>
        <a:lstStyle/>
        <a:p>
          <a:endParaRPr lang="en-IN"/>
        </a:p>
      </dgm:t>
    </dgm:pt>
    <dgm:pt modelId="{C131F2A3-C34B-48DA-9980-AF6AE4311FF7}">
      <dgm:prSet phldrT="[Text]" phldr="0"/>
      <dgm:spPr/>
      <dgm:t>
        <a:bodyPr/>
        <a:lstStyle/>
        <a:p>
          <a:r>
            <a:rPr lang="en-US" dirty="0"/>
            <a:t>Wednesday – highest engagement rate and posting frequency, meaning the audience is most active midweek.</a:t>
          </a:r>
          <a:endParaRPr lang="en-IN" dirty="0"/>
        </a:p>
      </dgm:t>
    </dgm:pt>
    <dgm:pt modelId="{2DD726F5-F1F3-4946-B675-EB8C21EDF145}" type="parTrans" cxnId="{9B22A777-C989-47C4-89B3-C075C5C6D33A}">
      <dgm:prSet/>
      <dgm:spPr/>
      <dgm:t>
        <a:bodyPr/>
        <a:lstStyle/>
        <a:p>
          <a:endParaRPr lang="en-IN"/>
        </a:p>
      </dgm:t>
    </dgm:pt>
    <dgm:pt modelId="{071DDD2A-24FD-489C-9735-611FECE34E78}" type="sibTrans" cxnId="{9B22A777-C989-47C4-89B3-C075C5C6D33A}">
      <dgm:prSet/>
      <dgm:spPr/>
      <dgm:t>
        <a:bodyPr/>
        <a:lstStyle/>
        <a:p>
          <a:endParaRPr lang="en-IN"/>
        </a:p>
      </dgm:t>
    </dgm:pt>
    <dgm:pt modelId="{B483F16D-7E89-4A22-BDE8-CFDE65A9BD88}">
      <dgm:prSet phldrT="[Text]" phldr="0"/>
      <dgm:spPr/>
      <dgm:t>
        <a:bodyPr/>
        <a:lstStyle/>
        <a:p>
          <a:r>
            <a:rPr lang="en-US" dirty="0"/>
            <a:t>Second Best Day</a:t>
          </a:r>
          <a:endParaRPr lang="en-IN" dirty="0"/>
        </a:p>
      </dgm:t>
    </dgm:pt>
    <dgm:pt modelId="{885030F1-02C0-4BB8-9403-83D9642DD50F}" type="parTrans" cxnId="{9CD87E52-94C3-45A6-9D4D-011079C69B9F}">
      <dgm:prSet/>
      <dgm:spPr/>
      <dgm:t>
        <a:bodyPr/>
        <a:lstStyle/>
        <a:p>
          <a:endParaRPr lang="en-IN"/>
        </a:p>
      </dgm:t>
    </dgm:pt>
    <dgm:pt modelId="{E295C98B-4680-4F80-87FC-C8275A8A874D}" type="sibTrans" cxnId="{9CD87E52-94C3-45A6-9D4D-011079C69B9F}">
      <dgm:prSet/>
      <dgm:spPr/>
      <dgm:t>
        <a:bodyPr/>
        <a:lstStyle/>
        <a:p>
          <a:endParaRPr lang="en-IN"/>
        </a:p>
      </dgm:t>
    </dgm:pt>
    <dgm:pt modelId="{E775D776-3972-434B-B55E-078C1AA7FCEE}">
      <dgm:prSet phldrT="[Text]" phldr="0"/>
      <dgm:spPr/>
      <dgm:t>
        <a:bodyPr/>
        <a:lstStyle/>
        <a:p>
          <a:r>
            <a:rPr lang="en-US" dirty="0"/>
            <a:t>Friday – good engagement with nearly top posting volume, great for pre weekend promotions or new launches.</a:t>
          </a:r>
          <a:endParaRPr lang="en-IN" dirty="0"/>
        </a:p>
      </dgm:t>
    </dgm:pt>
    <dgm:pt modelId="{F073D9DD-8AB9-4A62-8433-FBC25EA0AE0D}" type="parTrans" cxnId="{3510EF44-4924-46D6-978C-FCF72FE57D74}">
      <dgm:prSet/>
      <dgm:spPr/>
      <dgm:t>
        <a:bodyPr/>
        <a:lstStyle/>
        <a:p>
          <a:endParaRPr lang="en-IN"/>
        </a:p>
      </dgm:t>
    </dgm:pt>
    <dgm:pt modelId="{48219B56-38CA-48D6-8416-780C41C16BC7}" type="sibTrans" cxnId="{3510EF44-4924-46D6-978C-FCF72FE57D74}">
      <dgm:prSet/>
      <dgm:spPr/>
      <dgm:t>
        <a:bodyPr/>
        <a:lstStyle/>
        <a:p>
          <a:endParaRPr lang="en-IN"/>
        </a:p>
      </dgm:t>
    </dgm:pt>
    <dgm:pt modelId="{14884008-1CDF-44E1-A59B-DBB1DF5E8AC0}">
      <dgm:prSet phldrT="[Text]" phldr="0"/>
      <dgm:spPr/>
      <dgm:t>
        <a:bodyPr/>
        <a:lstStyle/>
        <a:p>
          <a:r>
            <a:rPr lang="en-US"/>
            <a:t>Lowest Performing Day</a:t>
          </a:r>
          <a:endParaRPr lang="en-IN" dirty="0"/>
        </a:p>
      </dgm:t>
    </dgm:pt>
    <dgm:pt modelId="{96A22DD2-7B84-442D-A04D-472CC07C1F97}" type="parTrans" cxnId="{F66257EA-E132-48EA-AC39-B7A53C8FE714}">
      <dgm:prSet/>
      <dgm:spPr/>
      <dgm:t>
        <a:bodyPr/>
        <a:lstStyle/>
        <a:p>
          <a:endParaRPr lang="en-IN"/>
        </a:p>
      </dgm:t>
    </dgm:pt>
    <dgm:pt modelId="{3D77F7C9-C919-40D6-A24C-8B04BF6651C0}" type="sibTrans" cxnId="{F66257EA-E132-48EA-AC39-B7A53C8FE714}">
      <dgm:prSet/>
      <dgm:spPr/>
      <dgm:t>
        <a:bodyPr/>
        <a:lstStyle/>
        <a:p>
          <a:endParaRPr lang="en-IN"/>
        </a:p>
      </dgm:t>
    </dgm:pt>
    <dgm:pt modelId="{CC4BD1E7-A9CD-46D5-853E-48B3CD9A860C}">
      <dgm:prSet phldrT="[Text]" phldr="0"/>
      <dgm:spPr/>
      <dgm:t>
        <a:bodyPr/>
        <a:lstStyle/>
        <a:p>
          <a:r>
            <a:rPr lang="en-US" dirty="0"/>
            <a:t>Sunday – Both engagement and posts are at their lowest, audience likely less responsive.</a:t>
          </a:r>
          <a:endParaRPr lang="en-IN" dirty="0"/>
        </a:p>
      </dgm:t>
    </dgm:pt>
    <dgm:pt modelId="{7272670E-6997-4A9A-AF0E-2A34E286B240}" type="parTrans" cxnId="{720A9C14-0EDE-43AD-8CF1-FA771EC22449}">
      <dgm:prSet/>
      <dgm:spPr/>
      <dgm:t>
        <a:bodyPr/>
        <a:lstStyle/>
        <a:p>
          <a:endParaRPr lang="en-IN"/>
        </a:p>
      </dgm:t>
    </dgm:pt>
    <dgm:pt modelId="{7CED0B43-A8E6-4A8E-9367-EDFC30A1DAD9}" type="sibTrans" cxnId="{720A9C14-0EDE-43AD-8CF1-FA771EC22449}">
      <dgm:prSet/>
      <dgm:spPr/>
      <dgm:t>
        <a:bodyPr/>
        <a:lstStyle/>
        <a:p>
          <a:endParaRPr lang="en-IN"/>
        </a:p>
      </dgm:t>
    </dgm:pt>
    <dgm:pt modelId="{20D4D9B5-760B-4520-9E4C-0192330341C4}">
      <dgm:prSet phldrT="[Text]" phldr="0"/>
      <dgm:spPr/>
      <dgm:t>
        <a:bodyPr/>
        <a:lstStyle/>
        <a:p>
          <a:r>
            <a:rPr lang="en-US"/>
            <a:t>Midweek Momentum</a:t>
          </a:r>
          <a:endParaRPr lang="en-IN" dirty="0"/>
        </a:p>
      </dgm:t>
    </dgm:pt>
    <dgm:pt modelId="{747233E9-2959-4D45-9BC9-61DDCDA17618}" type="parTrans" cxnId="{5F908605-6856-49A6-8F04-1A0C34EAD92C}">
      <dgm:prSet/>
      <dgm:spPr/>
      <dgm:t>
        <a:bodyPr/>
        <a:lstStyle/>
        <a:p>
          <a:endParaRPr lang="en-IN"/>
        </a:p>
      </dgm:t>
    </dgm:pt>
    <dgm:pt modelId="{A2D199DA-D805-4593-A012-E2CD25302268}" type="sibTrans" cxnId="{5F908605-6856-49A6-8F04-1A0C34EAD92C}">
      <dgm:prSet/>
      <dgm:spPr/>
      <dgm:t>
        <a:bodyPr/>
        <a:lstStyle/>
        <a:p>
          <a:endParaRPr lang="en-IN"/>
        </a:p>
      </dgm:t>
    </dgm:pt>
    <dgm:pt modelId="{9CD065B1-F295-43E7-A691-DBA8E130096F}">
      <dgm:prSet phldrT="[Text]" phldr="0"/>
      <dgm:spPr/>
      <dgm:t>
        <a:bodyPr/>
        <a:lstStyle/>
        <a:p>
          <a:r>
            <a:rPr lang="en-US"/>
            <a:t>Engagement grows steadily from Monday to Wednesday, dips Thursday, and rebounds on Friday- suggesting users are most active during workweek.</a:t>
          </a:r>
          <a:endParaRPr lang="en-IN" dirty="0"/>
        </a:p>
      </dgm:t>
    </dgm:pt>
    <dgm:pt modelId="{93F63129-FFA4-45DE-9376-FED9724DA000}" type="parTrans" cxnId="{544D79F8-C1F4-406C-8491-418B11A81A3F}">
      <dgm:prSet/>
      <dgm:spPr/>
      <dgm:t>
        <a:bodyPr/>
        <a:lstStyle/>
        <a:p>
          <a:endParaRPr lang="en-IN"/>
        </a:p>
      </dgm:t>
    </dgm:pt>
    <dgm:pt modelId="{CB7BAF44-5134-48EC-A905-893E0B452981}" type="sibTrans" cxnId="{544D79F8-C1F4-406C-8491-418B11A81A3F}">
      <dgm:prSet/>
      <dgm:spPr/>
      <dgm:t>
        <a:bodyPr/>
        <a:lstStyle/>
        <a:p>
          <a:endParaRPr lang="en-IN"/>
        </a:p>
      </dgm:t>
    </dgm:pt>
    <dgm:pt modelId="{87E3CE71-06EC-47A3-81A0-4DB892083C6A}" type="pres">
      <dgm:prSet presAssocID="{2D8BE00C-705D-4790-ABC2-9C5659E8D397}" presName="Name0" presStyleCnt="0">
        <dgm:presLayoutVars>
          <dgm:chMax/>
          <dgm:chPref val="3"/>
          <dgm:dir/>
          <dgm:animOne val="branch"/>
          <dgm:animLvl val="lvl"/>
        </dgm:presLayoutVars>
      </dgm:prSet>
      <dgm:spPr/>
    </dgm:pt>
    <dgm:pt modelId="{CAF5A09D-8089-4DE3-86D2-DE0A269D7CAB}" type="pres">
      <dgm:prSet presAssocID="{1B5E7525-9C95-40B9-A49B-D65434781ED5}" presName="composite" presStyleCnt="0"/>
      <dgm:spPr/>
    </dgm:pt>
    <dgm:pt modelId="{BE82F9D1-6E22-430A-B41F-924F1A15CE0D}" type="pres">
      <dgm:prSet presAssocID="{1B5E7525-9C95-40B9-A49B-D65434781ED5}" presName="FirstChild" presStyleLbl="revTx" presStyleIdx="0" presStyleCnt="4">
        <dgm:presLayoutVars>
          <dgm:chMax val="0"/>
          <dgm:chPref val="0"/>
          <dgm:bulletEnabled val="1"/>
        </dgm:presLayoutVars>
      </dgm:prSet>
      <dgm:spPr/>
    </dgm:pt>
    <dgm:pt modelId="{2362C8FF-6914-4E99-A652-BEAA33501967}" type="pres">
      <dgm:prSet presAssocID="{1B5E7525-9C95-40B9-A49B-D65434781ED5}" presName="Parent" presStyleLbl="alignNode1" presStyleIdx="0" presStyleCnt="4">
        <dgm:presLayoutVars>
          <dgm:chMax val="3"/>
          <dgm:chPref val="3"/>
          <dgm:bulletEnabled val="1"/>
        </dgm:presLayoutVars>
      </dgm:prSet>
      <dgm:spPr/>
    </dgm:pt>
    <dgm:pt modelId="{3C106158-8874-4FC7-AC98-A4AEBE436D22}" type="pres">
      <dgm:prSet presAssocID="{1B5E7525-9C95-40B9-A49B-D65434781ED5}" presName="Accent" presStyleLbl="parChTrans1D1" presStyleIdx="0" presStyleCnt="4"/>
      <dgm:spPr/>
    </dgm:pt>
    <dgm:pt modelId="{51E66B94-CB72-4478-BE6B-004B13B25539}" type="pres">
      <dgm:prSet presAssocID="{72FA4240-0F96-43C9-9AF9-82C51D9C3CA5}" presName="sibTrans" presStyleCnt="0"/>
      <dgm:spPr/>
    </dgm:pt>
    <dgm:pt modelId="{47B5B52B-235C-44B2-A0A2-5CC98E1CF019}" type="pres">
      <dgm:prSet presAssocID="{B483F16D-7E89-4A22-BDE8-CFDE65A9BD88}" presName="composite" presStyleCnt="0"/>
      <dgm:spPr/>
    </dgm:pt>
    <dgm:pt modelId="{C37C64C1-FB61-45C8-A81E-248A295FB946}" type="pres">
      <dgm:prSet presAssocID="{B483F16D-7E89-4A22-BDE8-CFDE65A9BD88}" presName="FirstChild" presStyleLbl="revTx" presStyleIdx="1" presStyleCnt="4">
        <dgm:presLayoutVars>
          <dgm:chMax val="0"/>
          <dgm:chPref val="0"/>
          <dgm:bulletEnabled val="1"/>
        </dgm:presLayoutVars>
      </dgm:prSet>
      <dgm:spPr/>
    </dgm:pt>
    <dgm:pt modelId="{9C00C022-AF22-4520-A6CB-C2FC4035C707}" type="pres">
      <dgm:prSet presAssocID="{B483F16D-7E89-4A22-BDE8-CFDE65A9BD88}" presName="Parent" presStyleLbl="alignNode1" presStyleIdx="1" presStyleCnt="4">
        <dgm:presLayoutVars>
          <dgm:chMax val="3"/>
          <dgm:chPref val="3"/>
          <dgm:bulletEnabled val="1"/>
        </dgm:presLayoutVars>
      </dgm:prSet>
      <dgm:spPr/>
    </dgm:pt>
    <dgm:pt modelId="{D6DC9B21-E00C-48AD-B4B4-18EFA4491041}" type="pres">
      <dgm:prSet presAssocID="{B483F16D-7E89-4A22-BDE8-CFDE65A9BD88}" presName="Accent" presStyleLbl="parChTrans1D1" presStyleIdx="1" presStyleCnt="4"/>
      <dgm:spPr/>
    </dgm:pt>
    <dgm:pt modelId="{9259D209-87F6-49DB-B419-7AB392458F1E}" type="pres">
      <dgm:prSet presAssocID="{E295C98B-4680-4F80-87FC-C8275A8A874D}" presName="sibTrans" presStyleCnt="0"/>
      <dgm:spPr/>
    </dgm:pt>
    <dgm:pt modelId="{E3B9CCD7-5721-4980-97E3-862048FDB3BC}" type="pres">
      <dgm:prSet presAssocID="{14884008-1CDF-44E1-A59B-DBB1DF5E8AC0}" presName="composite" presStyleCnt="0"/>
      <dgm:spPr/>
    </dgm:pt>
    <dgm:pt modelId="{75A564BC-E4B6-4899-BE65-603AE85B7CA1}" type="pres">
      <dgm:prSet presAssocID="{14884008-1CDF-44E1-A59B-DBB1DF5E8AC0}" presName="FirstChild" presStyleLbl="revTx" presStyleIdx="2" presStyleCnt="4">
        <dgm:presLayoutVars>
          <dgm:chMax val="0"/>
          <dgm:chPref val="0"/>
          <dgm:bulletEnabled val="1"/>
        </dgm:presLayoutVars>
      </dgm:prSet>
      <dgm:spPr/>
    </dgm:pt>
    <dgm:pt modelId="{41CDB7D1-C566-440A-B76C-2B5DD67C5665}" type="pres">
      <dgm:prSet presAssocID="{14884008-1CDF-44E1-A59B-DBB1DF5E8AC0}" presName="Parent" presStyleLbl="alignNode1" presStyleIdx="2" presStyleCnt="4">
        <dgm:presLayoutVars>
          <dgm:chMax val="3"/>
          <dgm:chPref val="3"/>
          <dgm:bulletEnabled val="1"/>
        </dgm:presLayoutVars>
      </dgm:prSet>
      <dgm:spPr/>
    </dgm:pt>
    <dgm:pt modelId="{400C5F29-31AE-42F6-89CD-157AE6BEF123}" type="pres">
      <dgm:prSet presAssocID="{14884008-1CDF-44E1-A59B-DBB1DF5E8AC0}" presName="Accent" presStyleLbl="parChTrans1D1" presStyleIdx="2" presStyleCnt="4"/>
      <dgm:spPr/>
    </dgm:pt>
    <dgm:pt modelId="{607FFE0C-A79A-44F1-9CDC-93B20C01A3D8}" type="pres">
      <dgm:prSet presAssocID="{3D77F7C9-C919-40D6-A24C-8B04BF6651C0}" presName="sibTrans" presStyleCnt="0"/>
      <dgm:spPr/>
    </dgm:pt>
    <dgm:pt modelId="{6B6C0643-7D48-425D-8947-BEE307881062}" type="pres">
      <dgm:prSet presAssocID="{20D4D9B5-760B-4520-9E4C-0192330341C4}" presName="composite" presStyleCnt="0"/>
      <dgm:spPr/>
    </dgm:pt>
    <dgm:pt modelId="{9E21B8F8-FEC1-4DEE-868D-7C01F244A551}" type="pres">
      <dgm:prSet presAssocID="{20D4D9B5-760B-4520-9E4C-0192330341C4}" presName="FirstChild" presStyleLbl="revTx" presStyleIdx="3" presStyleCnt="4">
        <dgm:presLayoutVars>
          <dgm:chMax val="0"/>
          <dgm:chPref val="0"/>
          <dgm:bulletEnabled val="1"/>
        </dgm:presLayoutVars>
      </dgm:prSet>
      <dgm:spPr/>
    </dgm:pt>
    <dgm:pt modelId="{8ECAB65F-95E9-4398-8044-D7EDA7026C46}" type="pres">
      <dgm:prSet presAssocID="{20D4D9B5-760B-4520-9E4C-0192330341C4}" presName="Parent" presStyleLbl="alignNode1" presStyleIdx="3" presStyleCnt="4">
        <dgm:presLayoutVars>
          <dgm:chMax val="3"/>
          <dgm:chPref val="3"/>
          <dgm:bulletEnabled val="1"/>
        </dgm:presLayoutVars>
      </dgm:prSet>
      <dgm:spPr/>
    </dgm:pt>
    <dgm:pt modelId="{2CD8BF13-8FB9-4618-B1CA-F92548D3DDF8}" type="pres">
      <dgm:prSet presAssocID="{20D4D9B5-760B-4520-9E4C-0192330341C4}" presName="Accent" presStyleLbl="parChTrans1D1" presStyleIdx="3" presStyleCnt="4"/>
      <dgm:spPr/>
    </dgm:pt>
  </dgm:ptLst>
  <dgm:cxnLst>
    <dgm:cxn modelId="{5F908605-6856-49A6-8F04-1A0C34EAD92C}" srcId="{2D8BE00C-705D-4790-ABC2-9C5659E8D397}" destId="{20D4D9B5-760B-4520-9E4C-0192330341C4}" srcOrd="3" destOrd="0" parTransId="{747233E9-2959-4D45-9BC9-61DDCDA17618}" sibTransId="{A2D199DA-D805-4593-A012-E2CD25302268}"/>
    <dgm:cxn modelId="{6BFA2D06-2877-4665-9521-A87C49C4A4D3}" type="presOf" srcId="{1B5E7525-9C95-40B9-A49B-D65434781ED5}" destId="{2362C8FF-6914-4E99-A652-BEAA33501967}" srcOrd="0" destOrd="0" presId="urn:microsoft.com/office/officeart/2011/layout/TabList"/>
    <dgm:cxn modelId="{8B67680D-4969-453A-BF36-E5C85A2FAE0B}" type="presOf" srcId="{B483F16D-7E89-4A22-BDE8-CFDE65A9BD88}" destId="{9C00C022-AF22-4520-A6CB-C2FC4035C707}" srcOrd="0" destOrd="0" presId="urn:microsoft.com/office/officeart/2011/layout/TabList"/>
    <dgm:cxn modelId="{720A9C14-0EDE-43AD-8CF1-FA771EC22449}" srcId="{14884008-1CDF-44E1-A59B-DBB1DF5E8AC0}" destId="{CC4BD1E7-A9CD-46D5-853E-48B3CD9A860C}" srcOrd="0" destOrd="0" parTransId="{7272670E-6997-4A9A-AF0E-2A34E286B240}" sibTransId="{7CED0B43-A8E6-4A8E-9367-EDFC30A1DAD9}"/>
    <dgm:cxn modelId="{5E75FD20-8455-4B90-BF6A-068C56655A92}" type="presOf" srcId="{2D8BE00C-705D-4790-ABC2-9C5659E8D397}" destId="{87E3CE71-06EC-47A3-81A0-4DB892083C6A}" srcOrd="0" destOrd="0" presId="urn:microsoft.com/office/officeart/2011/layout/TabList"/>
    <dgm:cxn modelId="{50F28629-7D6B-440A-8FE2-AABDA96D34C8}" type="presOf" srcId="{9CD065B1-F295-43E7-A691-DBA8E130096F}" destId="{9E21B8F8-FEC1-4DEE-868D-7C01F244A551}" srcOrd="0" destOrd="0" presId="urn:microsoft.com/office/officeart/2011/layout/TabList"/>
    <dgm:cxn modelId="{3510EF44-4924-46D6-978C-FCF72FE57D74}" srcId="{B483F16D-7E89-4A22-BDE8-CFDE65A9BD88}" destId="{E775D776-3972-434B-B55E-078C1AA7FCEE}" srcOrd="0" destOrd="0" parTransId="{F073D9DD-8AB9-4A62-8433-FBC25EA0AE0D}" sibTransId="{48219B56-38CA-48D6-8416-780C41C16BC7}"/>
    <dgm:cxn modelId="{8D55736A-9063-4D77-9906-0968BB318387}" type="presOf" srcId="{CC4BD1E7-A9CD-46D5-853E-48B3CD9A860C}" destId="{75A564BC-E4B6-4899-BE65-603AE85B7CA1}" srcOrd="0" destOrd="0" presId="urn:microsoft.com/office/officeart/2011/layout/TabList"/>
    <dgm:cxn modelId="{A1E7066D-E7D8-4354-BFF1-90245A91A150}" type="presOf" srcId="{C131F2A3-C34B-48DA-9980-AF6AE4311FF7}" destId="{BE82F9D1-6E22-430A-B41F-924F1A15CE0D}" srcOrd="0" destOrd="0" presId="urn:microsoft.com/office/officeart/2011/layout/TabList"/>
    <dgm:cxn modelId="{9CD87E52-94C3-45A6-9D4D-011079C69B9F}" srcId="{2D8BE00C-705D-4790-ABC2-9C5659E8D397}" destId="{B483F16D-7E89-4A22-BDE8-CFDE65A9BD88}" srcOrd="1" destOrd="0" parTransId="{885030F1-02C0-4BB8-9403-83D9642DD50F}" sibTransId="{E295C98B-4680-4F80-87FC-C8275A8A874D}"/>
    <dgm:cxn modelId="{9B22A777-C989-47C4-89B3-C075C5C6D33A}" srcId="{1B5E7525-9C95-40B9-A49B-D65434781ED5}" destId="{C131F2A3-C34B-48DA-9980-AF6AE4311FF7}" srcOrd="0" destOrd="0" parTransId="{2DD726F5-F1F3-4946-B675-EB8C21EDF145}" sibTransId="{071DDD2A-24FD-489C-9735-611FECE34E78}"/>
    <dgm:cxn modelId="{10D3C98B-73BC-4A33-9B99-FED06D9124C0}" type="presOf" srcId="{20D4D9B5-760B-4520-9E4C-0192330341C4}" destId="{8ECAB65F-95E9-4398-8044-D7EDA7026C46}" srcOrd="0" destOrd="0" presId="urn:microsoft.com/office/officeart/2011/layout/TabList"/>
    <dgm:cxn modelId="{9EF42CBC-91E2-40AD-A214-23E769D59D2F}" srcId="{2D8BE00C-705D-4790-ABC2-9C5659E8D397}" destId="{1B5E7525-9C95-40B9-A49B-D65434781ED5}" srcOrd="0" destOrd="0" parTransId="{367A20FD-8B8B-4972-BA03-4B3EB8E84B41}" sibTransId="{72FA4240-0F96-43C9-9AF9-82C51D9C3CA5}"/>
    <dgm:cxn modelId="{F66257EA-E132-48EA-AC39-B7A53C8FE714}" srcId="{2D8BE00C-705D-4790-ABC2-9C5659E8D397}" destId="{14884008-1CDF-44E1-A59B-DBB1DF5E8AC0}" srcOrd="2" destOrd="0" parTransId="{96A22DD2-7B84-442D-A04D-472CC07C1F97}" sibTransId="{3D77F7C9-C919-40D6-A24C-8B04BF6651C0}"/>
    <dgm:cxn modelId="{40DCE0F6-5ED2-4894-B67B-11D482316BB7}" type="presOf" srcId="{E775D776-3972-434B-B55E-078C1AA7FCEE}" destId="{C37C64C1-FB61-45C8-A81E-248A295FB946}" srcOrd="0" destOrd="0" presId="urn:microsoft.com/office/officeart/2011/layout/TabList"/>
    <dgm:cxn modelId="{544D79F8-C1F4-406C-8491-418B11A81A3F}" srcId="{20D4D9B5-760B-4520-9E4C-0192330341C4}" destId="{9CD065B1-F295-43E7-A691-DBA8E130096F}" srcOrd="0" destOrd="0" parTransId="{93F63129-FFA4-45DE-9376-FED9724DA000}" sibTransId="{CB7BAF44-5134-48EC-A905-893E0B452981}"/>
    <dgm:cxn modelId="{5D6490FD-FA3A-4BBB-A5EB-7587B2CAA746}" type="presOf" srcId="{14884008-1CDF-44E1-A59B-DBB1DF5E8AC0}" destId="{41CDB7D1-C566-440A-B76C-2B5DD67C5665}" srcOrd="0" destOrd="0" presId="urn:microsoft.com/office/officeart/2011/layout/TabList"/>
    <dgm:cxn modelId="{7825AA6E-9632-4DF5-A109-DA26EEE193A3}" type="presParOf" srcId="{87E3CE71-06EC-47A3-81A0-4DB892083C6A}" destId="{CAF5A09D-8089-4DE3-86D2-DE0A269D7CAB}" srcOrd="0" destOrd="0" presId="urn:microsoft.com/office/officeart/2011/layout/TabList"/>
    <dgm:cxn modelId="{08FFDC9A-01D8-48CC-A42B-C374C03E2A2F}" type="presParOf" srcId="{CAF5A09D-8089-4DE3-86D2-DE0A269D7CAB}" destId="{BE82F9D1-6E22-430A-B41F-924F1A15CE0D}" srcOrd="0" destOrd="0" presId="urn:microsoft.com/office/officeart/2011/layout/TabList"/>
    <dgm:cxn modelId="{F0EF3C07-08E2-4488-968A-CE3D28BC8E9B}" type="presParOf" srcId="{CAF5A09D-8089-4DE3-86D2-DE0A269D7CAB}" destId="{2362C8FF-6914-4E99-A652-BEAA33501967}" srcOrd="1" destOrd="0" presId="urn:microsoft.com/office/officeart/2011/layout/TabList"/>
    <dgm:cxn modelId="{13C1D066-D34D-4097-964C-A46A77D72A5D}" type="presParOf" srcId="{CAF5A09D-8089-4DE3-86D2-DE0A269D7CAB}" destId="{3C106158-8874-4FC7-AC98-A4AEBE436D22}" srcOrd="2" destOrd="0" presId="urn:microsoft.com/office/officeart/2011/layout/TabList"/>
    <dgm:cxn modelId="{91244289-5FA3-4904-A08E-847287CDF540}" type="presParOf" srcId="{87E3CE71-06EC-47A3-81A0-4DB892083C6A}" destId="{51E66B94-CB72-4478-BE6B-004B13B25539}" srcOrd="1" destOrd="0" presId="urn:microsoft.com/office/officeart/2011/layout/TabList"/>
    <dgm:cxn modelId="{6CB2FE18-3590-452B-B3D9-027BB414E724}" type="presParOf" srcId="{87E3CE71-06EC-47A3-81A0-4DB892083C6A}" destId="{47B5B52B-235C-44B2-A0A2-5CC98E1CF019}" srcOrd="2" destOrd="0" presId="urn:microsoft.com/office/officeart/2011/layout/TabList"/>
    <dgm:cxn modelId="{D02CD056-ADD1-4C21-A527-E75AA05B534B}" type="presParOf" srcId="{47B5B52B-235C-44B2-A0A2-5CC98E1CF019}" destId="{C37C64C1-FB61-45C8-A81E-248A295FB946}" srcOrd="0" destOrd="0" presId="urn:microsoft.com/office/officeart/2011/layout/TabList"/>
    <dgm:cxn modelId="{75AA2652-99E4-41DC-BC74-8C175BF18F0E}" type="presParOf" srcId="{47B5B52B-235C-44B2-A0A2-5CC98E1CF019}" destId="{9C00C022-AF22-4520-A6CB-C2FC4035C707}" srcOrd="1" destOrd="0" presId="urn:microsoft.com/office/officeart/2011/layout/TabList"/>
    <dgm:cxn modelId="{8691809D-600F-4523-AAED-A8DB59644F00}" type="presParOf" srcId="{47B5B52B-235C-44B2-A0A2-5CC98E1CF019}" destId="{D6DC9B21-E00C-48AD-B4B4-18EFA4491041}" srcOrd="2" destOrd="0" presId="urn:microsoft.com/office/officeart/2011/layout/TabList"/>
    <dgm:cxn modelId="{C3D9E14C-1E7E-4B67-AB30-FAD12B61752B}" type="presParOf" srcId="{87E3CE71-06EC-47A3-81A0-4DB892083C6A}" destId="{9259D209-87F6-49DB-B419-7AB392458F1E}" srcOrd="3" destOrd="0" presId="urn:microsoft.com/office/officeart/2011/layout/TabList"/>
    <dgm:cxn modelId="{B2F91145-29D0-46A9-9FB4-77AA81FDB86A}" type="presParOf" srcId="{87E3CE71-06EC-47A3-81A0-4DB892083C6A}" destId="{E3B9CCD7-5721-4980-97E3-862048FDB3BC}" srcOrd="4" destOrd="0" presId="urn:microsoft.com/office/officeart/2011/layout/TabList"/>
    <dgm:cxn modelId="{449B7373-A2B8-4147-99F2-5D5B37948C9F}" type="presParOf" srcId="{E3B9CCD7-5721-4980-97E3-862048FDB3BC}" destId="{75A564BC-E4B6-4899-BE65-603AE85B7CA1}" srcOrd="0" destOrd="0" presId="urn:microsoft.com/office/officeart/2011/layout/TabList"/>
    <dgm:cxn modelId="{E610BC42-2F34-48D0-996E-B96D92B9B5FD}" type="presParOf" srcId="{E3B9CCD7-5721-4980-97E3-862048FDB3BC}" destId="{41CDB7D1-C566-440A-B76C-2B5DD67C5665}" srcOrd="1" destOrd="0" presId="urn:microsoft.com/office/officeart/2011/layout/TabList"/>
    <dgm:cxn modelId="{C50483DD-C674-4CA6-A849-A9C7D8F7BABA}" type="presParOf" srcId="{E3B9CCD7-5721-4980-97E3-862048FDB3BC}" destId="{400C5F29-31AE-42F6-89CD-157AE6BEF123}" srcOrd="2" destOrd="0" presId="urn:microsoft.com/office/officeart/2011/layout/TabList"/>
    <dgm:cxn modelId="{1A3425B4-40DF-45E4-AC24-F0BBB6D4A92C}" type="presParOf" srcId="{87E3CE71-06EC-47A3-81A0-4DB892083C6A}" destId="{607FFE0C-A79A-44F1-9CDC-93B20C01A3D8}" srcOrd="5" destOrd="0" presId="urn:microsoft.com/office/officeart/2011/layout/TabList"/>
    <dgm:cxn modelId="{D90B825E-078B-499D-927C-CBECE0F11037}" type="presParOf" srcId="{87E3CE71-06EC-47A3-81A0-4DB892083C6A}" destId="{6B6C0643-7D48-425D-8947-BEE307881062}" srcOrd="6" destOrd="0" presId="urn:microsoft.com/office/officeart/2011/layout/TabList"/>
    <dgm:cxn modelId="{5315CC0D-F548-47FB-966E-0712E36160D4}" type="presParOf" srcId="{6B6C0643-7D48-425D-8947-BEE307881062}" destId="{9E21B8F8-FEC1-4DEE-868D-7C01F244A551}" srcOrd="0" destOrd="0" presId="urn:microsoft.com/office/officeart/2011/layout/TabList"/>
    <dgm:cxn modelId="{34B427C3-031C-4615-A53E-840AD6E171B5}" type="presParOf" srcId="{6B6C0643-7D48-425D-8947-BEE307881062}" destId="{8ECAB65F-95E9-4398-8044-D7EDA7026C46}" srcOrd="1" destOrd="0" presId="urn:microsoft.com/office/officeart/2011/layout/TabList"/>
    <dgm:cxn modelId="{848B6A92-59B3-482C-B91D-A62F8444B98B}" type="presParOf" srcId="{6B6C0643-7D48-425D-8947-BEE307881062}" destId="{2CD8BF13-8FB9-4618-B1CA-F92548D3DDF8}" srcOrd="2"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A507F2-FF63-4F59-9002-495EB642507B}" type="doc">
      <dgm:prSet loTypeId="urn:microsoft.com/office/officeart/2005/8/layout/vList5" loCatId="list" qsTypeId="urn:microsoft.com/office/officeart/2005/8/quickstyle/3d6" qsCatId="3D" csTypeId="urn:microsoft.com/office/officeart/2005/8/colors/colorful4" csCatId="colorful" phldr="1"/>
      <dgm:spPr/>
      <dgm:t>
        <a:bodyPr/>
        <a:lstStyle/>
        <a:p>
          <a:endParaRPr lang="en-IN"/>
        </a:p>
      </dgm:t>
    </dgm:pt>
    <dgm:pt modelId="{737E3B91-960F-44D4-A598-63505AADFCF7}">
      <dgm:prSet phldrT="[Text]" phldr="0"/>
      <dgm:spPr/>
      <dgm:t>
        <a:bodyPr/>
        <a:lstStyle/>
        <a:p>
          <a:r>
            <a:rPr lang="en-IN" dirty="0"/>
            <a:t>High &amp; Stable Engagement</a:t>
          </a:r>
        </a:p>
      </dgm:t>
    </dgm:pt>
    <dgm:pt modelId="{D2123554-82CA-40EE-AA0C-27C1759E507B}" type="parTrans" cxnId="{656770DC-240C-4C47-99DF-8C5EEBD18B56}">
      <dgm:prSet/>
      <dgm:spPr/>
      <dgm:t>
        <a:bodyPr/>
        <a:lstStyle/>
        <a:p>
          <a:endParaRPr lang="en-IN"/>
        </a:p>
      </dgm:t>
    </dgm:pt>
    <dgm:pt modelId="{F9529DF9-5766-4212-B86C-CC09FCC4EC00}" type="sibTrans" cxnId="{656770DC-240C-4C47-99DF-8C5EEBD18B56}">
      <dgm:prSet/>
      <dgm:spPr/>
      <dgm:t>
        <a:bodyPr/>
        <a:lstStyle/>
        <a:p>
          <a:endParaRPr lang="en-IN"/>
        </a:p>
      </dgm:t>
    </dgm:pt>
    <dgm:pt modelId="{4ABDEB89-4BBE-4AC5-8848-69CDED92CB4F}">
      <dgm:prSet phldrT="[Text]" phldr="0"/>
      <dgm:spPr/>
      <dgm:t>
        <a:bodyPr/>
        <a:lstStyle/>
        <a:p>
          <a:r>
            <a:rPr lang="en-IN" dirty="0"/>
            <a:t>Performance is robust and consistent over the last year. Also confirming potential Stagnation.</a:t>
          </a:r>
        </a:p>
      </dgm:t>
    </dgm:pt>
    <dgm:pt modelId="{90A5B9BC-0F19-406B-B7D9-5ED3DC40CF05}" type="parTrans" cxnId="{6F8281A2-666F-4669-8BA1-3B26823CD061}">
      <dgm:prSet/>
      <dgm:spPr/>
      <dgm:t>
        <a:bodyPr/>
        <a:lstStyle/>
        <a:p>
          <a:endParaRPr lang="en-IN"/>
        </a:p>
      </dgm:t>
    </dgm:pt>
    <dgm:pt modelId="{D50312A5-9515-4C95-B539-B54F7795313F}" type="sibTrans" cxnId="{6F8281A2-666F-4669-8BA1-3B26823CD061}">
      <dgm:prSet/>
      <dgm:spPr/>
      <dgm:t>
        <a:bodyPr/>
        <a:lstStyle/>
        <a:p>
          <a:endParaRPr lang="en-IN"/>
        </a:p>
      </dgm:t>
    </dgm:pt>
    <dgm:pt modelId="{E9464E28-84D9-4738-A355-82A5903E368A}">
      <dgm:prSet phldrT="[Text]" phldr="0"/>
      <dgm:spPr/>
      <dgm:t>
        <a:bodyPr/>
        <a:lstStyle/>
        <a:p>
          <a:r>
            <a:rPr lang="en-IN" dirty="0"/>
            <a:t>Tutorials of the king of value</a:t>
          </a:r>
        </a:p>
      </dgm:t>
    </dgm:pt>
    <dgm:pt modelId="{1E262FF3-F206-4F69-A600-FA3A7C61CC37}" type="parTrans" cxnId="{FFF71D6B-43D5-4FFC-AD84-A1DB3EE10124}">
      <dgm:prSet/>
      <dgm:spPr/>
      <dgm:t>
        <a:bodyPr/>
        <a:lstStyle/>
        <a:p>
          <a:endParaRPr lang="en-IN"/>
        </a:p>
      </dgm:t>
    </dgm:pt>
    <dgm:pt modelId="{AD2ADBCD-D0E9-4532-A145-CAA7C8A02410}" type="sibTrans" cxnId="{FFF71D6B-43D5-4FFC-AD84-A1DB3EE10124}">
      <dgm:prSet/>
      <dgm:spPr/>
      <dgm:t>
        <a:bodyPr/>
        <a:lstStyle/>
        <a:p>
          <a:endParaRPr lang="en-IN"/>
        </a:p>
      </dgm:t>
    </dgm:pt>
    <dgm:pt modelId="{960BDCB6-50EB-43A1-B17F-7FC56BCAEA6F}">
      <dgm:prSet phldrT="[Text]" phldr="0"/>
      <dgm:spPr/>
      <dgm:t>
        <a:bodyPr/>
        <a:lstStyle/>
        <a:p>
          <a:r>
            <a:rPr lang="en-IN" dirty="0"/>
            <a:t>Highest reach and interactions, confirming this content provides the most product education and utility.</a:t>
          </a:r>
        </a:p>
      </dgm:t>
    </dgm:pt>
    <dgm:pt modelId="{E1F84C4B-50FF-4DB2-8481-669A8C72C1CF}" type="parTrans" cxnId="{0AD6DD16-EA60-405A-8543-90F2926FB3CD}">
      <dgm:prSet/>
      <dgm:spPr/>
      <dgm:t>
        <a:bodyPr/>
        <a:lstStyle/>
        <a:p>
          <a:endParaRPr lang="en-IN"/>
        </a:p>
      </dgm:t>
    </dgm:pt>
    <dgm:pt modelId="{DCB9C849-DF8C-4F28-A905-512459BD7393}" type="sibTrans" cxnId="{0AD6DD16-EA60-405A-8543-90F2926FB3CD}">
      <dgm:prSet/>
      <dgm:spPr/>
      <dgm:t>
        <a:bodyPr/>
        <a:lstStyle/>
        <a:p>
          <a:endParaRPr lang="en-IN"/>
        </a:p>
      </dgm:t>
    </dgm:pt>
    <dgm:pt modelId="{4267B8D6-1943-4F27-BC3E-C2EB91110580}">
      <dgm:prSet phldrT="[Text]" phldr="0"/>
      <dgm:spPr/>
      <dgm:t>
        <a:bodyPr/>
        <a:lstStyle/>
        <a:p>
          <a:r>
            <a:rPr lang="en-IN" dirty="0"/>
            <a:t>Reels/Stories are the best format</a:t>
          </a:r>
        </a:p>
      </dgm:t>
    </dgm:pt>
    <dgm:pt modelId="{CC07C697-3ECC-48C8-ABFA-33A1C4773D4C}" type="parTrans" cxnId="{8249BA8F-43D5-47DC-9C4B-4AB259279A1B}">
      <dgm:prSet/>
      <dgm:spPr/>
      <dgm:t>
        <a:bodyPr/>
        <a:lstStyle/>
        <a:p>
          <a:endParaRPr lang="en-IN"/>
        </a:p>
      </dgm:t>
    </dgm:pt>
    <dgm:pt modelId="{EA838878-856C-4388-B940-276CCB132EE2}" type="sibTrans" cxnId="{8249BA8F-43D5-47DC-9C4B-4AB259279A1B}">
      <dgm:prSet/>
      <dgm:spPr/>
      <dgm:t>
        <a:bodyPr/>
        <a:lstStyle/>
        <a:p>
          <a:endParaRPr lang="en-IN"/>
        </a:p>
      </dgm:t>
    </dgm:pt>
    <dgm:pt modelId="{D3432DFD-CB2D-4A71-A724-BB8FE4510FFD}">
      <dgm:prSet phldrT="[Text]" phldr="0"/>
      <dgm:spPr/>
      <dgm:t>
        <a:bodyPr/>
        <a:lstStyle/>
        <a:p>
          <a:r>
            <a:rPr lang="en-IN" dirty="0"/>
            <a:t>Short form video has the highest engagement rate, outperforming all other formats.</a:t>
          </a:r>
        </a:p>
      </dgm:t>
    </dgm:pt>
    <dgm:pt modelId="{FA5D86E5-0088-42FC-803A-F0657D309927}" type="parTrans" cxnId="{457C9ABA-1623-4450-B6EB-4A3808880CD5}">
      <dgm:prSet/>
      <dgm:spPr/>
      <dgm:t>
        <a:bodyPr/>
        <a:lstStyle/>
        <a:p>
          <a:endParaRPr lang="en-IN"/>
        </a:p>
      </dgm:t>
    </dgm:pt>
    <dgm:pt modelId="{10FB380A-026F-4C48-94AB-618F6177512F}" type="sibTrans" cxnId="{457C9ABA-1623-4450-B6EB-4A3808880CD5}">
      <dgm:prSet/>
      <dgm:spPr/>
      <dgm:t>
        <a:bodyPr/>
        <a:lstStyle/>
        <a:p>
          <a:endParaRPr lang="en-IN"/>
        </a:p>
      </dgm:t>
    </dgm:pt>
    <dgm:pt modelId="{FC8E47FC-67A6-4B1D-A1DA-14DB8E763AC6}">
      <dgm:prSet phldrT="[Text]" phldr="0"/>
      <dgm:spPr/>
      <dgm:t>
        <a:bodyPr/>
        <a:lstStyle/>
        <a:p>
          <a:r>
            <a:rPr lang="en-IN" dirty="0"/>
            <a:t>Audience Seeks Inspiration</a:t>
          </a:r>
        </a:p>
      </dgm:t>
    </dgm:pt>
    <dgm:pt modelId="{C2263DAB-AEAC-4168-A64B-315CFE11A026}" type="parTrans" cxnId="{FF0CFA7B-3A84-4CF0-A10D-4F875B59C7E4}">
      <dgm:prSet/>
      <dgm:spPr/>
      <dgm:t>
        <a:bodyPr/>
        <a:lstStyle/>
        <a:p>
          <a:endParaRPr lang="en-IN"/>
        </a:p>
      </dgm:t>
    </dgm:pt>
    <dgm:pt modelId="{5848FF8D-3C1F-4BBF-986A-5CCE134DDBF2}" type="sibTrans" cxnId="{FF0CFA7B-3A84-4CF0-A10D-4F875B59C7E4}">
      <dgm:prSet/>
      <dgm:spPr/>
      <dgm:t>
        <a:bodyPr/>
        <a:lstStyle/>
        <a:p>
          <a:endParaRPr lang="en-IN"/>
        </a:p>
      </dgm:t>
    </dgm:pt>
    <dgm:pt modelId="{148FBBB0-B26F-4D04-A5BB-C0ECB13C8D44}">
      <dgm:prSet phldrT="[Text]" phldr="0"/>
      <dgm:spPr/>
      <dgm:t>
        <a:bodyPr/>
        <a:lstStyle/>
        <a:p>
          <a:r>
            <a:rPr lang="en-IN" dirty="0"/>
            <a:t>Top correlated emotions are Inspired, Excited and Curious, indicating a preference for aspirational and educational content.</a:t>
          </a:r>
        </a:p>
      </dgm:t>
    </dgm:pt>
    <dgm:pt modelId="{661458E8-4040-4169-8A26-395E1135CAE9}" type="parTrans" cxnId="{848C7717-B66A-4DD9-AE34-A08E7FC99E95}">
      <dgm:prSet/>
      <dgm:spPr/>
      <dgm:t>
        <a:bodyPr/>
        <a:lstStyle/>
        <a:p>
          <a:endParaRPr lang="en-IN"/>
        </a:p>
      </dgm:t>
    </dgm:pt>
    <dgm:pt modelId="{E8781D4F-87D2-4F6F-86FF-86DA4AE6B13C}" type="sibTrans" cxnId="{848C7717-B66A-4DD9-AE34-A08E7FC99E95}">
      <dgm:prSet/>
      <dgm:spPr/>
      <dgm:t>
        <a:bodyPr/>
        <a:lstStyle/>
        <a:p>
          <a:endParaRPr lang="en-IN"/>
        </a:p>
      </dgm:t>
    </dgm:pt>
    <dgm:pt modelId="{A8B8E00D-373A-4502-B2CA-E3D7C0F54338}" type="pres">
      <dgm:prSet presAssocID="{1AA507F2-FF63-4F59-9002-495EB642507B}" presName="Name0" presStyleCnt="0">
        <dgm:presLayoutVars>
          <dgm:dir/>
          <dgm:animLvl val="lvl"/>
          <dgm:resizeHandles val="exact"/>
        </dgm:presLayoutVars>
      </dgm:prSet>
      <dgm:spPr/>
    </dgm:pt>
    <dgm:pt modelId="{24A8ED3F-D858-4AB1-886E-6AC6C8B6AACB}" type="pres">
      <dgm:prSet presAssocID="{737E3B91-960F-44D4-A598-63505AADFCF7}" presName="linNode" presStyleCnt="0"/>
      <dgm:spPr/>
    </dgm:pt>
    <dgm:pt modelId="{7378055D-FC30-4B5D-8EBF-770B157CB111}" type="pres">
      <dgm:prSet presAssocID="{737E3B91-960F-44D4-A598-63505AADFCF7}" presName="parentText" presStyleLbl="node1" presStyleIdx="0" presStyleCnt="4">
        <dgm:presLayoutVars>
          <dgm:chMax val="1"/>
          <dgm:bulletEnabled val="1"/>
        </dgm:presLayoutVars>
      </dgm:prSet>
      <dgm:spPr/>
    </dgm:pt>
    <dgm:pt modelId="{BE4A5903-4DD0-4462-9E41-5049F421D609}" type="pres">
      <dgm:prSet presAssocID="{737E3B91-960F-44D4-A598-63505AADFCF7}" presName="descendantText" presStyleLbl="alignAccFollowNode1" presStyleIdx="0" presStyleCnt="4">
        <dgm:presLayoutVars>
          <dgm:bulletEnabled val="1"/>
        </dgm:presLayoutVars>
      </dgm:prSet>
      <dgm:spPr/>
    </dgm:pt>
    <dgm:pt modelId="{D1AD817C-6B98-440B-A04C-0E22B0B135D7}" type="pres">
      <dgm:prSet presAssocID="{F9529DF9-5766-4212-B86C-CC09FCC4EC00}" presName="sp" presStyleCnt="0"/>
      <dgm:spPr/>
    </dgm:pt>
    <dgm:pt modelId="{6CD37D11-3A1D-4EA9-9902-B32B3ADEE69B}" type="pres">
      <dgm:prSet presAssocID="{E9464E28-84D9-4738-A355-82A5903E368A}" presName="linNode" presStyleCnt="0"/>
      <dgm:spPr/>
    </dgm:pt>
    <dgm:pt modelId="{4D661B62-5A82-40C9-84DB-815A2F28AE92}" type="pres">
      <dgm:prSet presAssocID="{E9464E28-84D9-4738-A355-82A5903E368A}" presName="parentText" presStyleLbl="node1" presStyleIdx="1" presStyleCnt="4">
        <dgm:presLayoutVars>
          <dgm:chMax val="1"/>
          <dgm:bulletEnabled val="1"/>
        </dgm:presLayoutVars>
      </dgm:prSet>
      <dgm:spPr/>
    </dgm:pt>
    <dgm:pt modelId="{433617A8-0824-4301-BB8E-1854A5F729E1}" type="pres">
      <dgm:prSet presAssocID="{E9464E28-84D9-4738-A355-82A5903E368A}" presName="descendantText" presStyleLbl="alignAccFollowNode1" presStyleIdx="1" presStyleCnt="4">
        <dgm:presLayoutVars>
          <dgm:bulletEnabled val="1"/>
        </dgm:presLayoutVars>
      </dgm:prSet>
      <dgm:spPr/>
    </dgm:pt>
    <dgm:pt modelId="{44747837-0D47-4620-8D5D-9B883D995B11}" type="pres">
      <dgm:prSet presAssocID="{AD2ADBCD-D0E9-4532-A145-CAA7C8A02410}" presName="sp" presStyleCnt="0"/>
      <dgm:spPr/>
    </dgm:pt>
    <dgm:pt modelId="{B787E44C-F355-4D0A-BDE8-2F3A6059B892}" type="pres">
      <dgm:prSet presAssocID="{4267B8D6-1943-4F27-BC3E-C2EB91110580}" presName="linNode" presStyleCnt="0"/>
      <dgm:spPr/>
    </dgm:pt>
    <dgm:pt modelId="{AD13B442-B8CA-46ED-95EF-9BD7F28F8BC5}" type="pres">
      <dgm:prSet presAssocID="{4267B8D6-1943-4F27-BC3E-C2EB91110580}" presName="parentText" presStyleLbl="node1" presStyleIdx="2" presStyleCnt="4">
        <dgm:presLayoutVars>
          <dgm:chMax val="1"/>
          <dgm:bulletEnabled val="1"/>
        </dgm:presLayoutVars>
      </dgm:prSet>
      <dgm:spPr/>
    </dgm:pt>
    <dgm:pt modelId="{ECAB71CD-BACE-48EB-8556-A75B455EA5E1}" type="pres">
      <dgm:prSet presAssocID="{4267B8D6-1943-4F27-BC3E-C2EB91110580}" presName="descendantText" presStyleLbl="alignAccFollowNode1" presStyleIdx="2" presStyleCnt="4">
        <dgm:presLayoutVars>
          <dgm:bulletEnabled val="1"/>
        </dgm:presLayoutVars>
      </dgm:prSet>
      <dgm:spPr/>
    </dgm:pt>
    <dgm:pt modelId="{D5DA4E51-2C75-4177-8915-6FBA0C2A3BF5}" type="pres">
      <dgm:prSet presAssocID="{EA838878-856C-4388-B940-276CCB132EE2}" presName="sp" presStyleCnt="0"/>
      <dgm:spPr/>
    </dgm:pt>
    <dgm:pt modelId="{59154FAF-BD94-46A2-A928-169A1463C7A6}" type="pres">
      <dgm:prSet presAssocID="{FC8E47FC-67A6-4B1D-A1DA-14DB8E763AC6}" presName="linNode" presStyleCnt="0"/>
      <dgm:spPr/>
    </dgm:pt>
    <dgm:pt modelId="{5CC266D9-1AC7-4CC7-B85A-C0A8AD77B6EA}" type="pres">
      <dgm:prSet presAssocID="{FC8E47FC-67A6-4B1D-A1DA-14DB8E763AC6}" presName="parentText" presStyleLbl="node1" presStyleIdx="3" presStyleCnt="4">
        <dgm:presLayoutVars>
          <dgm:chMax val="1"/>
          <dgm:bulletEnabled val="1"/>
        </dgm:presLayoutVars>
      </dgm:prSet>
      <dgm:spPr/>
    </dgm:pt>
    <dgm:pt modelId="{AAF95031-380B-4A7B-9908-EDC90CA48EE5}" type="pres">
      <dgm:prSet presAssocID="{FC8E47FC-67A6-4B1D-A1DA-14DB8E763AC6}" presName="descendantText" presStyleLbl="alignAccFollowNode1" presStyleIdx="3" presStyleCnt="4">
        <dgm:presLayoutVars>
          <dgm:bulletEnabled val="1"/>
        </dgm:presLayoutVars>
      </dgm:prSet>
      <dgm:spPr/>
    </dgm:pt>
  </dgm:ptLst>
  <dgm:cxnLst>
    <dgm:cxn modelId="{0AD6DD16-EA60-405A-8543-90F2926FB3CD}" srcId="{E9464E28-84D9-4738-A355-82A5903E368A}" destId="{960BDCB6-50EB-43A1-B17F-7FC56BCAEA6F}" srcOrd="0" destOrd="0" parTransId="{E1F84C4B-50FF-4DB2-8481-669A8C72C1CF}" sibTransId="{DCB9C849-DF8C-4F28-A905-512459BD7393}"/>
    <dgm:cxn modelId="{848C7717-B66A-4DD9-AE34-A08E7FC99E95}" srcId="{FC8E47FC-67A6-4B1D-A1DA-14DB8E763AC6}" destId="{148FBBB0-B26F-4D04-A5BB-C0ECB13C8D44}" srcOrd="0" destOrd="0" parTransId="{661458E8-4040-4169-8A26-395E1135CAE9}" sibTransId="{E8781D4F-87D2-4F6F-86FF-86DA4AE6B13C}"/>
    <dgm:cxn modelId="{2E3DD823-2215-443D-8729-179D2948A3A6}" type="presOf" srcId="{4267B8D6-1943-4F27-BC3E-C2EB91110580}" destId="{AD13B442-B8CA-46ED-95EF-9BD7F28F8BC5}" srcOrd="0" destOrd="0" presId="urn:microsoft.com/office/officeart/2005/8/layout/vList5"/>
    <dgm:cxn modelId="{FFF71D6B-43D5-4FFC-AD84-A1DB3EE10124}" srcId="{1AA507F2-FF63-4F59-9002-495EB642507B}" destId="{E9464E28-84D9-4738-A355-82A5903E368A}" srcOrd="1" destOrd="0" parTransId="{1E262FF3-F206-4F69-A600-FA3A7C61CC37}" sibTransId="{AD2ADBCD-D0E9-4532-A145-CAA7C8A02410}"/>
    <dgm:cxn modelId="{7665074D-5F51-4A3A-85A6-A67EB29E92A5}" type="presOf" srcId="{D3432DFD-CB2D-4A71-A724-BB8FE4510FFD}" destId="{ECAB71CD-BACE-48EB-8556-A75B455EA5E1}" srcOrd="0" destOrd="0" presId="urn:microsoft.com/office/officeart/2005/8/layout/vList5"/>
    <dgm:cxn modelId="{44865277-A3E7-4CF2-9ABB-2244B56A8EC7}" type="presOf" srcId="{737E3B91-960F-44D4-A598-63505AADFCF7}" destId="{7378055D-FC30-4B5D-8EBF-770B157CB111}" srcOrd="0" destOrd="0" presId="urn:microsoft.com/office/officeart/2005/8/layout/vList5"/>
    <dgm:cxn modelId="{FF0CFA7B-3A84-4CF0-A10D-4F875B59C7E4}" srcId="{1AA507F2-FF63-4F59-9002-495EB642507B}" destId="{FC8E47FC-67A6-4B1D-A1DA-14DB8E763AC6}" srcOrd="3" destOrd="0" parTransId="{C2263DAB-AEAC-4168-A64B-315CFE11A026}" sibTransId="{5848FF8D-3C1F-4BBF-986A-5CCE134DDBF2}"/>
    <dgm:cxn modelId="{8249BA8F-43D5-47DC-9C4B-4AB259279A1B}" srcId="{1AA507F2-FF63-4F59-9002-495EB642507B}" destId="{4267B8D6-1943-4F27-BC3E-C2EB91110580}" srcOrd="2" destOrd="0" parTransId="{CC07C697-3ECC-48C8-ABFA-33A1C4773D4C}" sibTransId="{EA838878-856C-4388-B940-276CCB132EE2}"/>
    <dgm:cxn modelId="{6F8281A2-666F-4669-8BA1-3B26823CD061}" srcId="{737E3B91-960F-44D4-A598-63505AADFCF7}" destId="{4ABDEB89-4BBE-4AC5-8848-69CDED92CB4F}" srcOrd="0" destOrd="0" parTransId="{90A5B9BC-0F19-406B-B7D9-5ED3DC40CF05}" sibTransId="{D50312A5-9515-4C95-B539-B54F7795313F}"/>
    <dgm:cxn modelId="{2A5910AC-A007-4249-94AB-F0384388F18C}" type="presOf" srcId="{4ABDEB89-4BBE-4AC5-8848-69CDED92CB4F}" destId="{BE4A5903-4DD0-4462-9E41-5049F421D609}" srcOrd="0" destOrd="0" presId="urn:microsoft.com/office/officeart/2005/8/layout/vList5"/>
    <dgm:cxn modelId="{457C9ABA-1623-4450-B6EB-4A3808880CD5}" srcId="{4267B8D6-1943-4F27-BC3E-C2EB91110580}" destId="{D3432DFD-CB2D-4A71-A724-BB8FE4510FFD}" srcOrd="0" destOrd="0" parTransId="{FA5D86E5-0088-42FC-803A-F0657D309927}" sibTransId="{10FB380A-026F-4C48-94AB-618F6177512F}"/>
    <dgm:cxn modelId="{C3700FBB-D26F-4220-9451-CF05028B564E}" type="presOf" srcId="{FC8E47FC-67A6-4B1D-A1DA-14DB8E763AC6}" destId="{5CC266D9-1AC7-4CC7-B85A-C0A8AD77B6EA}" srcOrd="0" destOrd="0" presId="urn:microsoft.com/office/officeart/2005/8/layout/vList5"/>
    <dgm:cxn modelId="{69BC5CC7-805B-4400-959C-6846AD36CCFA}" type="presOf" srcId="{E9464E28-84D9-4738-A355-82A5903E368A}" destId="{4D661B62-5A82-40C9-84DB-815A2F28AE92}" srcOrd="0" destOrd="0" presId="urn:microsoft.com/office/officeart/2005/8/layout/vList5"/>
    <dgm:cxn modelId="{8E0496C8-5E68-45B7-8AA0-D89BB9AC99FE}" type="presOf" srcId="{960BDCB6-50EB-43A1-B17F-7FC56BCAEA6F}" destId="{433617A8-0824-4301-BB8E-1854A5F729E1}" srcOrd="0" destOrd="0" presId="urn:microsoft.com/office/officeart/2005/8/layout/vList5"/>
    <dgm:cxn modelId="{1FB743D5-14CA-47D2-B3CB-5FA2D588BB62}" type="presOf" srcId="{1AA507F2-FF63-4F59-9002-495EB642507B}" destId="{A8B8E00D-373A-4502-B2CA-E3D7C0F54338}" srcOrd="0" destOrd="0" presId="urn:microsoft.com/office/officeart/2005/8/layout/vList5"/>
    <dgm:cxn modelId="{656770DC-240C-4C47-99DF-8C5EEBD18B56}" srcId="{1AA507F2-FF63-4F59-9002-495EB642507B}" destId="{737E3B91-960F-44D4-A598-63505AADFCF7}" srcOrd="0" destOrd="0" parTransId="{D2123554-82CA-40EE-AA0C-27C1759E507B}" sibTransId="{F9529DF9-5766-4212-B86C-CC09FCC4EC00}"/>
    <dgm:cxn modelId="{3BF09FE4-A861-4F1E-BC7C-31AB1E06FC0A}" type="presOf" srcId="{148FBBB0-B26F-4D04-A5BB-C0ECB13C8D44}" destId="{AAF95031-380B-4A7B-9908-EDC90CA48EE5}" srcOrd="0" destOrd="0" presId="urn:microsoft.com/office/officeart/2005/8/layout/vList5"/>
    <dgm:cxn modelId="{413963C3-EB98-415D-B265-76B597E6370C}" type="presParOf" srcId="{A8B8E00D-373A-4502-B2CA-E3D7C0F54338}" destId="{24A8ED3F-D858-4AB1-886E-6AC6C8B6AACB}" srcOrd="0" destOrd="0" presId="urn:microsoft.com/office/officeart/2005/8/layout/vList5"/>
    <dgm:cxn modelId="{EAE6B250-7BC4-49C8-92C6-A50CEBA80982}" type="presParOf" srcId="{24A8ED3F-D858-4AB1-886E-6AC6C8B6AACB}" destId="{7378055D-FC30-4B5D-8EBF-770B157CB111}" srcOrd="0" destOrd="0" presId="urn:microsoft.com/office/officeart/2005/8/layout/vList5"/>
    <dgm:cxn modelId="{86C1A747-09CB-476A-924A-F6A4231E4408}" type="presParOf" srcId="{24A8ED3F-D858-4AB1-886E-6AC6C8B6AACB}" destId="{BE4A5903-4DD0-4462-9E41-5049F421D609}" srcOrd="1" destOrd="0" presId="urn:microsoft.com/office/officeart/2005/8/layout/vList5"/>
    <dgm:cxn modelId="{1B4A3390-0E40-49E1-8382-AAC52786369F}" type="presParOf" srcId="{A8B8E00D-373A-4502-B2CA-E3D7C0F54338}" destId="{D1AD817C-6B98-440B-A04C-0E22B0B135D7}" srcOrd="1" destOrd="0" presId="urn:microsoft.com/office/officeart/2005/8/layout/vList5"/>
    <dgm:cxn modelId="{F8680EAE-2875-45F0-8FE3-977F7EC457AE}" type="presParOf" srcId="{A8B8E00D-373A-4502-B2CA-E3D7C0F54338}" destId="{6CD37D11-3A1D-4EA9-9902-B32B3ADEE69B}" srcOrd="2" destOrd="0" presId="urn:microsoft.com/office/officeart/2005/8/layout/vList5"/>
    <dgm:cxn modelId="{2DCFEE94-4052-401C-B148-4C9A9B28FDA7}" type="presParOf" srcId="{6CD37D11-3A1D-4EA9-9902-B32B3ADEE69B}" destId="{4D661B62-5A82-40C9-84DB-815A2F28AE92}" srcOrd="0" destOrd="0" presId="urn:microsoft.com/office/officeart/2005/8/layout/vList5"/>
    <dgm:cxn modelId="{19285DB0-FE8A-4778-B974-A84163029E4E}" type="presParOf" srcId="{6CD37D11-3A1D-4EA9-9902-B32B3ADEE69B}" destId="{433617A8-0824-4301-BB8E-1854A5F729E1}" srcOrd="1" destOrd="0" presId="urn:microsoft.com/office/officeart/2005/8/layout/vList5"/>
    <dgm:cxn modelId="{7F5ACE34-FAB0-433A-8CA7-A9C70DBAD74C}" type="presParOf" srcId="{A8B8E00D-373A-4502-B2CA-E3D7C0F54338}" destId="{44747837-0D47-4620-8D5D-9B883D995B11}" srcOrd="3" destOrd="0" presId="urn:microsoft.com/office/officeart/2005/8/layout/vList5"/>
    <dgm:cxn modelId="{D3E78642-3864-4FC6-934C-4E0464E5690A}" type="presParOf" srcId="{A8B8E00D-373A-4502-B2CA-E3D7C0F54338}" destId="{B787E44C-F355-4D0A-BDE8-2F3A6059B892}" srcOrd="4" destOrd="0" presId="urn:microsoft.com/office/officeart/2005/8/layout/vList5"/>
    <dgm:cxn modelId="{967136D0-A166-4AE9-9E62-9DFD537EA5F4}" type="presParOf" srcId="{B787E44C-F355-4D0A-BDE8-2F3A6059B892}" destId="{AD13B442-B8CA-46ED-95EF-9BD7F28F8BC5}" srcOrd="0" destOrd="0" presId="urn:microsoft.com/office/officeart/2005/8/layout/vList5"/>
    <dgm:cxn modelId="{F48BB89F-7954-4FFC-B10A-DD162C60590E}" type="presParOf" srcId="{B787E44C-F355-4D0A-BDE8-2F3A6059B892}" destId="{ECAB71CD-BACE-48EB-8556-A75B455EA5E1}" srcOrd="1" destOrd="0" presId="urn:microsoft.com/office/officeart/2005/8/layout/vList5"/>
    <dgm:cxn modelId="{5A11BE79-3912-40CC-B2CE-995C7F67505A}" type="presParOf" srcId="{A8B8E00D-373A-4502-B2CA-E3D7C0F54338}" destId="{D5DA4E51-2C75-4177-8915-6FBA0C2A3BF5}" srcOrd="5" destOrd="0" presId="urn:microsoft.com/office/officeart/2005/8/layout/vList5"/>
    <dgm:cxn modelId="{E0D5C0C6-9579-454A-A9EB-43446145AF95}" type="presParOf" srcId="{A8B8E00D-373A-4502-B2CA-E3D7C0F54338}" destId="{59154FAF-BD94-46A2-A928-169A1463C7A6}" srcOrd="6" destOrd="0" presId="urn:microsoft.com/office/officeart/2005/8/layout/vList5"/>
    <dgm:cxn modelId="{FFD77390-4006-4CB3-9E0A-E8B1602FA309}" type="presParOf" srcId="{59154FAF-BD94-46A2-A928-169A1463C7A6}" destId="{5CC266D9-1AC7-4CC7-B85A-C0A8AD77B6EA}" srcOrd="0" destOrd="0" presId="urn:microsoft.com/office/officeart/2005/8/layout/vList5"/>
    <dgm:cxn modelId="{2B97FE3A-53B2-474E-8412-0EAEDEE6F1DC}" type="presParOf" srcId="{59154FAF-BD94-46A2-A928-169A1463C7A6}" destId="{AAF95031-380B-4A7B-9908-EDC90CA48EE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FEE99F-C0E8-40B1-A17D-B30866A2B7B0}" type="doc">
      <dgm:prSet loTypeId="urn:microsoft.com/office/officeart/2005/8/layout/pyramid1" loCatId="pyramid" qsTypeId="urn:microsoft.com/office/officeart/2005/8/quickstyle/3d6" qsCatId="3D" csTypeId="urn:microsoft.com/office/officeart/2005/8/colors/colorful4" csCatId="colorful" phldr="1"/>
      <dgm:spPr/>
      <dgm:t>
        <a:bodyPr/>
        <a:lstStyle/>
        <a:p>
          <a:endParaRPr lang="en-IN"/>
        </a:p>
      </dgm:t>
    </dgm:pt>
    <dgm:pt modelId="{EA9A8436-AF0E-4B15-AE65-1FE30B10884F}">
      <dgm:prSet phldrT="[Text]" phldr="0"/>
      <dgm:spPr/>
      <dgm:t>
        <a:bodyPr/>
        <a:lstStyle/>
        <a:p>
          <a:r>
            <a:rPr lang="en-IN" b="1"/>
            <a:t>Achieve Brand Domination in Product education.</a:t>
          </a:r>
          <a:endParaRPr lang="en-IN" b="1" dirty="0"/>
        </a:p>
      </dgm:t>
    </dgm:pt>
    <dgm:pt modelId="{F95FB433-EDDF-4908-9F6C-A5DC0BACB2B8}" type="parTrans" cxnId="{0CB56597-8006-4A68-A6B7-9C890D5441FC}">
      <dgm:prSet/>
      <dgm:spPr/>
      <dgm:t>
        <a:bodyPr/>
        <a:lstStyle/>
        <a:p>
          <a:endParaRPr lang="en-IN"/>
        </a:p>
      </dgm:t>
    </dgm:pt>
    <dgm:pt modelId="{4FB7FE01-25A8-4038-B773-B328091185FD}" type="sibTrans" cxnId="{0CB56597-8006-4A68-A6B7-9C890D5441FC}">
      <dgm:prSet/>
      <dgm:spPr/>
      <dgm:t>
        <a:bodyPr/>
        <a:lstStyle/>
        <a:p>
          <a:endParaRPr lang="en-IN"/>
        </a:p>
      </dgm:t>
    </dgm:pt>
    <dgm:pt modelId="{0AE529D2-7E9D-4EE2-8389-23F76BD26978}">
      <dgm:prSet phldrT="[Text]" phldr="0"/>
      <dgm:spPr/>
      <dgm:t>
        <a:bodyPr/>
        <a:lstStyle/>
        <a:p>
          <a:r>
            <a:rPr lang="en-IN" b="1"/>
            <a:t>Refocus Collabs to ‘How-To’s</a:t>
          </a:r>
          <a:r>
            <a:rPr lang="en-IN"/>
            <a:t>’</a:t>
          </a:r>
          <a:endParaRPr lang="en-IN" dirty="0"/>
        </a:p>
      </dgm:t>
    </dgm:pt>
    <dgm:pt modelId="{85FA239B-4925-4182-BA1F-EDA5235E64BC}" type="parTrans" cxnId="{F68526B9-3F2F-4B7C-AAD7-F7128E9D3166}">
      <dgm:prSet/>
      <dgm:spPr/>
      <dgm:t>
        <a:bodyPr/>
        <a:lstStyle/>
        <a:p>
          <a:endParaRPr lang="en-IN"/>
        </a:p>
      </dgm:t>
    </dgm:pt>
    <dgm:pt modelId="{83309AEA-137C-4C85-B673-C7CEA5455E8C}" type="sibTrans" cxnId="{F68526B9-3F2F-4B7C-AAD7-F7128E9D3166}">
      <dgm:prSet/>
      <dgm:spPr/>
      <dgm:t>
        <a:bodyPr/>
        <a:lstStyle/>
        <a:p>
          <a:endParaRPr lang="en-IN"/>
        </a:p>
      </dgm:t>
    </dgm:pt>
    <dgm:pt modelId="{4C83D47F-F6D1-458A-B586-F9006531E3D7}">
      <dgm:prSet phldrT="[Text]" phldr="0"/>
      <dgm:spPr/>
      <dgm:t>
        <a:bodyPr/>
        <a:lstStyle/>
        <a:p>
          <a:r>
            <a:rPr lang="en-IN" b="1" dirty="0"/>
            <a:t>Optimize Posting for Wednesdays.</a:t>
          </a:r>
        </a:p>
      </dgm:t>
    </dgm:pt>
    <dgm:pt modelId="{77E09509-BFF5-4971-AEDD-4A35CB839D64}" type="parTrans" cxnId="{C1E0143A-5F7B-4374-A0A0-6D651681DC73}">
      <dgm:prSet/>
      <dgm:spPr/>
      <dgm:t>
        <a:bodyPr/>
        <a:lstStyle/>
        <a:p>
          <a:endParaRPr lang="en-IN"/>
        </a:p>
      </dgm:t>
    </dgm:pt>
    <dgm:pt modelId="{C367A2A5-DB9F-4AAC-A2AB-4AAAA1E296DF}" type="sibTrans" cxnId="{C1E0143A-5F7B-4374-A0A0-6D651681DC73}">
      <dgm:prSet/>
      <dgm:spPr/>
      <dgm:t>
        <a:bodyPr/>
        <a:lstStyle/>
        <a:p>
          <a:endParaRPr lang="en-IN"/>
        </a:p>
      </dgm:t>
    </dgm:pt>
    <dgm:pt modelId="{4731655F-0A09-4BD2-9E33-62B2FB31F85A}">
      <dgm:prSet phldrT="[Text]" phldr="0"/>
      <dgm:spPr/>
      <dgm:t>
        <a:bodyPr/>
        <a:lstStyle/>
        <a:p>
          <a:r>
            <a:rPr lang="en-IN" b="1" dirty="0"/>
            <a:t>Allocate 70% Budget to ‘Inspiring Tutorials reels’.</a:t>
          </a:r>
        </a:p>
      </dgm:t>
    </dgm:pt>
    <dgm:pt modelId="{F5EFA889-AF0B-46A1-82F5-5B66BF372F2B}" type="parTrans" cxnId="{5C0721A2-7F39-492D-AFA6-B0D0DFD7D1CF}">
      <dgm:prSet/>
      <dgm:spPr/>
      <dgm:t>
        <a:bodyPr/>
        <a:lstStyle/>
        <a:p>
          <a:endParaRPr lang="en-IN"/>
        </a:p>
      </dgm:t>
    </dgm:pt>
    <dgm:pt modelId="{15EC5C38-42B7-49A3-996F-8CE1466C0909}" type="sibTrans" cxnId="{5C0721A2-7F39-492D-AFA6-B0D0DFD7D1CF}">
      <dgm:prSet/>
      <dgm:spPr/>
      <dgm:t>
        <a:bodyPr/>
        <a:lstStyle/>
        <a:p>
          <a:endParaRPr lang="en-IN"/>
        </a:p>
      </dgm:t>
    </dgm:pt>
    <dgm:pt modelId="{33F4CE87-180E-4EE0-BFC1-CE478165CFC9}" type="pres">
      <dgm:prSet presAssocID="{C7FEE99F-C0E8-40B1-A17D-B30866A2B7B0}" presName="Name0" presStyleCnt="0">
        <dgm:presLayoutVars>
          <dgm:dir/>
          <dgm:animLvl val="lvl"/>
          <dgm:resizeHandles val="exact"/>
        </dgm:presLayoutVars>
      </dgm:prSet>
      <dgm:spPr/>
    </dgm:pt>
    <dgm:pt modelId="{F91E9A05-6B6B-4042-BFCA-62D7C39AD1A7}" type="pres">
      <dgm:prSet presAssocID="{EA9A8436-AF0E-4B15-AE65-1FE30B10884F}" presName="Name8" presStyleCnt="0"/>
      <dgm:spPr/>
    </dgm:pt>
    <dgm:pt modelId="{7A3EF820-1112-4CEE-8A94-A05A8A9ED587}" type="pres">
      <dgm:prSet presAssocID="{EA9A8436-AF0E-4B15-AE65-1FE30B10884F}" presName="level" presStyleLbl="node1" presStyleIdx="0" presStyleCnt="4">
        <dgm:presLayoutVars>
          <dgm:chMax val="1"/>
          <dgm:bulletEnabled val="1"/>
        </dgm:presLayoutVars>
      </dgm:prSet>
      <dgm:spPr/>
    </dgm:pt>
    <dgm:pt modelId="{00523EAF-2B23-412F-B3C6-AB54BF848AAD}" type="pres">
      <dgm:prSet presAssocID="{EA9A8436-AF0E-4B15-AE65-1FE30B10884F}" presName="levelTx" presStyleLbl="revTx" presStyleIdx="0" presStyleCnt="0">
        <dgm:presLayoutVars>
          <dgm:chMax val="1"/>
          <dgm:bulletEnabled val="1"/>
        </dgm:presLayoutVars>
      </dgm:prSet>
      <dgm:spPr/>
    </dgm:pt>
    <dgm:pt modelId="{313E913B-C5C7-4909-AFD3-AFC02F406E97}" type="pres">
      <dgm:prSet presAssocID="{0AE529D2-7E9D-4EE2-8389-23F76BD26978}" presName="Name8" presStyleCnt="0"/>
      <dgm:spPr/>
    </dgm:pt>
    <dgm:pt modelId="{A0E41868-3B5E-478E-AEAD-2BD6F1FE4FE0}" type="pres">
      <dgm:prSet presAssocID="{0AE529D2-7E9D-4EE2-8389-23F76BD26978}" presName="level" presStyleLbl="node1" presStyleIdx="1" presStyleCnt="4" custLinFactNeighborY="7410">
        <dgm:presLayoutVars>
          <dgm:chMax val="1"/>
          <dgm:bulletEnabled val="1"/>
        </dgm:presLayoutVars>
      </dgm:prSet>
      <dgm:spPr/>
    </dgm:pt>
    <dgm:pt modelId="{71FC164B-5BAF-4AC7-8F67-081F156AE433}" type="pres">
      <dgm:prSet presAssocID="{0AE529D2-7E9D-4EE2-8389-23F76BD26978}" presName="levelTx" presStyleLbl="revTx" presStyleIdx="0" presStyleCnt="0">
        <dgm:presLayoutVars>
          <dgm:chMax val="1"/>
          <dgm:bulletEnabled val="1"/>
        </dgm:presLayoutVars>
      </dgm:prSet>
      <dgm:spPr/>
    </dgm:pt>
    <dgm:pt modelId="{F4057220-54CB-4E0E-86B0-C6D5A1B35E7F}" type="pres">
      <dgm:prSet presAssocID="{4C83D47F-F6D1-458A-B586-F9006531E3D7}" presName="Name8" presStyleCnt="0"/>
      <dgm:spPr/>
    </dgm:pt>
    <dgm:pt modelId="{4C2DE579-EB9C-4556-81C7-4256C775BAA3}" type="pres">
      <dgm:prSet presAssocID="{4C83D47F-F6D1-458A-B586-F9006531E3D7}" presName="level" presStyleLbl="node1" presStyleIdx="2" presStyleCnt="4">
        <dgm:presLayoutVars>
          <dgm:chMax val="1"/>
          <dgm:bulletEnabled val="1"/>
        </dgm:presLayoutVars>
      </dgm:prSet>
      <dgm:spPr/>
    </dgm:pt>
    <dgm:pt modelId="{4BE33F6D-DE9D-42FD-AF71-0ABCB50B746E}" type="pres">
      <dgm:prSet presAssocID="{4C83D47F-F6D1-458A-B586-F9006531E3D7}" presName="levelTx" presStyleLbl="revTx" presStyleIdx="0" presStyleCnt="0">
        <dgm:presLayoutVars>
          <dgm:chMax val="1"/>
          <dgm:bulletEnabled val="1"/>
        </dgm:presLayoutVars>
      </dgm:prSet>
      <dgm:spPr/>
    </dgm:pt>
    <dgm:pt modelId="{87244ED2-B1F6-4FBF-A4FC-74F983DF9AF5}" type="pres">
      <dgm:prSet presAssocID="{4731655F-0A09-4BD2-9E33-62B2FB31F85A}" presName="Name8" presStyleCnt="0"/>
      <dgm:spPr/>
    </dgm:pt>
    <dgm:pt modelId="{12285438-6FE8-4AC9-8A69-D1903590EFFA}" type="pres">
      <dgm:prSet presAssocID="{4731655F-0A09-4BD2-9E33-62B2FB31F85A}" presName="level" presStyleLbl="node1" presStyleIdx="3" presStyleCnt="4">
        <dgm:presLayoutVars>
          <dgm:chMax val="1"/>
          <dgm:bulletEnabled val="1"/>
        </dgm:presLayoutVars>
      </dgm:prSet>
      <dgm:spPr/>
    </dgm:pt>
    <dgm:pt modelId="{E2AF7969-BB56-4992-99E1-8F449F6906AC}" type="pres">
      <dgm:prSet presAssocID="{4731655F-0A09-4BD2-9E33-62B2FB31F85A}" presName="levelTx" presStyleLbl="revTx" presStyleIdx="0" presStyleCnt="0">
        <dgm:presLayoutVars>
          <dgm:chMax val="1"/>
          <dgm:bulletEnabled val="1"/>
        </dgm:presLayoutVars>
      </dgm:prSet>
      <dgm:spPr/>
    </dgm:pt>
  </dgm:ptLst>
  <dgm:cxnLst>
    <dgm:cxn modelId="{81AE7104-EEAE-421A-89B2-A15B4964AFD9}" type="presOf" srcId="{EA9A8436-AF0E-4B15-AE65-1FE30B10884F}" destId="{00523EAF-2B23-412F-B3C6-AB54BF848AAD}" srcOrd="1" destOrd="0" presId="urn:microsoft.com/office/officeart/2005/8/layout/pyramid1"/>
    <dgm:cxn modelId="{C7FCB729-D48F-4A83-B993-9A2F3DFED4BB}" type="presOf" srcId="{4C83D47F-F6D1-458A-B586-F9006531E3D7}" destId="{4BE33F6D-DE9D-42FD-AF71-0ABCB50B746E}" srcOrd="1" destOrd="0" presId="urn:microsoft.com/office/officeart/2005/8/layout/pyramid1"/>
    <dgm:cxn modelId="{4D51C82E-6BB9-45E3-A0A8-647A2DDED5D3}" type="presOf" srcId="{EA9A8436-AF0E-4B15-AE65-1FE30B10884F}" destId="{7A3EF820-1112-4CEE-8A94-A05A8A9ED587}" srcOrd="0" destOrd="0" presId="urn:microsoft.com/office/officeart/2005/8/layout/pyramid1"/>
    <dgm:cxn modelId="{C1E0143A-5F7B-4374-A0A0-6D651681DC73}" srcId="{C7FEE99F-C0E8-40B1-A17D-B30866A2B7B0}" destId="{4C83D47F-F6D1-458A-B586-F9006531E3D7}" srcOrd="2" destOrd="0" parTransId="{77E09509-BFF5-4971-AEDD-4A35CB839D64}" sibTransId="{C367A2A5-DB9F-4AAC-A2AB-4AAAA1E296DF}"/>
    <dgm:cxn modelId="{5814DF5D-46F3-4238-91A0-FE5BED9067B9}" type="presOf" srcId="{4731655F-0A09-4BD2-9E33-62B2FB31F85A}" destId="{12285438-6FE8-4AC9-8A69-D1903590EFFA}" srcOrd="0" destOrd="0" presId="urn:microsoft.com/office/officeart/2005/8/layout/pyramid1"/>
    <dgm:cxn modelId="{633B8B48-8744-40A3-AA91-EBEDD588B484}" type="presOf" srcId="{0AE529D2-7E9D-4EE2-8389-23F76BD26978}" destId="{71FC164B-5BAF-4AC7-8F67-081F156AE433}" srcOrd="1" destOrd="0" presId="urn:microsoft.com/office/officeart/2005/8/layout/pyramid1"/>
    <dgm:cxn modelId="{C2217351-E740-48E0-953D-21F80F6DCA8C}" type="presOf" srcId="{4C83D47F-F6D1-458A-B586-F9006531E3D7}" destId="{4C2DE579-EB9C-4556-81C7-4256C775BAA3}" srcOrd="0" destOrd="0" presId="urn:microsoft.com/office/officeart/2005/8/layout/pyramid1"/>
    <dgm:cxn modelId="{0CB56597-8006-4A68-A6B7-9C890D5441FC}" srcId="{C7FEE99F-C0E8-40B1-A17D-B30866A2B7B0}" destId="{EA9A8436-AF0E-4B15-AE65-1FE30B10884F}" srcOrd="0" destOrd="0" parTransId="{F95FB433-EDDF-4908-9F6C-A5DC0BACB2B8}" sibTransId="{4FB7FE01-25A8-4038-B773-B328091185FD}"/>
    <dgm:cxn modelId="{1660F59D-6AF4-4E51-9051-5A7B3A889565}" type="presOf" srcId="{0AE529D2-7E9D-4EE2-8389-23F76BD26978}" destId="{A0E41868-3B5E-478E-AEAD-2BD6F1FE4FE0}" srcOrd="0" destOrd="0" presId="urn:microsoft.com/office/officeart/2005/8/layout/pyramid1"/>
    <dgm:cxn modelId="{5C0721A2-7F39-492D-AFA6-B0D0DFD7D1CF}" srcId="{C7FEE99F-C0E8-40B1-A17D-B30866A2B7B0}" destId="{4731655F-0A09-4BD2-9E33-62B2FB31F85A}" srcOrd="3" destOrd="0" parTransId="{F5EFA889-AF0B-46A1-82F5-5B66BF372F2B}" sibTransId="{15EC5C38-42B7-49A3-996F-8CE1466C0909}"/>
    <dgm:cxn modelId="{E592B2B8-7F98-4A0D-8654-3AE6B7B59EEB}" type="presOf" srcId="{4731655F-0A09-4BD2-9E33-62B2FB31F85A}" destId="{E2AF7969-BB56-4992-99E1-8F449F6906AC}" srcOrd="1" destOrd="0" presId="urn:microsoft.com/office/officeart/2005/8/layout/pyramid1"/>
    <dgm:cxn modelId="{F68526B9-3F2F-4B7C-AAD7-F7128E9D3166}" srcId="{C7FEE99F-C0E8-40B1-A17D-B30866A2B7B0}" destId="{0AE529D2-7E9D-4EE2-8389-23F76BD26978}" srcOrd="1" destOrd="0" parTransId="{85FA239B-4925-4182-BA1F-EDA5235E64BC}" sibTransId="{83309AEA-137C-4C85-B673-C7CEA5455E8C}"/>
    <dgm:cxn modelId="{CD2846E7-62C7-492D-88CB-557EE3EBB7E4}" type="presOf" srcId="{C7FEE99F-C0E8-40B1-A17D-B30866A2B7B0}" destId="{33F4CE87-180E-4EE0-BFC1-CE478165CFC9}" srcOrd="0" destOrd="0" presId="urn:microsoft.com/office/officeart/2005/8/layout/pyramid1"/>
    <dgm:cxn modelId="{1DFC63DB-EF96-46A3-B3B9-E6CA649318AA}" type="presParOf" srcId="{33F4CE87-180E-4EE0-BFC1-CE478165CFC9}" destId="{F91E9A05-6B6B-4042-BFCA-62D7C39AD1A7}" srcOrd="0" destOrd="0" presId="urn:microsoft.com/office/officeart/2005/8/layout/pyramid1"/>
    <dgm:cxn modelId="{88C15307-2CFF-403F-9BC0-5E58B98508E9}" type="presParOf" srcId="{F91E9A05-6B6B-4042-BFCA-62D7C39AD1A7}" destId="{7A3EF820-1112-4CEE-8A94-A05A8A9ED587}" srcOrd="0" destOrd="0" presId="urn:microsoft.com/office/officeart/2005/8/layout/pyramid1"/>
    <dgm:cxn modelId="{02FE8DE4-3623-46CA-86CD-CDA49EEF81C7}" type="presParOf" srcId="{F91E9A05-6B6B-4042-BFCA-62D7C39AD1A7}" destId="{00523EAF-2B23-412F-B3C6-AB54BF848AAD}" srcOrd="1" destOrd="0" presId="urn:microsoft.com/office/officeart/2005/8/layout/pyramid1"/>
    <dgm:cxn modelId="{72F7F579-7D11-43FF-838F-FA57577E9A15}" type="presParOf" srcId="{33F4CE87-180E-4EE0-BFC1-CE478165CFC9}" destId="{313E913B-C5C7-4909-AFD3-AFC02F406E97}" srcOrd="1" destOrd="0" presId="urn:microsoft.com/office/officeart/2005/8/layout/pyramid1"/>
    <dgm:cxn modelId="{7C6A38D4-719C-45B2-BBAD-2CC72D4E95B4}" type="presParOf" srcId="{313E913B-C5C7-4909-AFD3-AFC02F406E97}" destId="{A0E41868-3B5E-478E-AEAD-2BD6F1FE4FE0}" srcOrd="0" destOrd="0" presId="urn:microsoft.com/office/officeart/2005/8/layout/pyramid1"/>
    <dgm:cxn modelId="{A697B634-D33B-42B8-BA46-F2C32C6BE395}" type="presParOf" srcId="{313E913B-C5C7-4909-AFD3-AFC02F406E97}" destId="{71FC164B-5BAF-4AC7-8F67-081F156AE433}" srcOrd="1" destOrd="0" presId="urn:microsoft.com/office/officeart/2005/8/layout/pyramid1"/>
    <dgm:cxn modelId="{010E5593-0C26-43F8-A89B-0F60493223F1}" type="presParOf" srcId="{33F4CE87-180E-4EE0-BFC1-CE478165CFC9}" destId="{F4057220-54CB-4E0E-86B0-C6D5A1B35E7F}" srcOrd="2" destOrd="0" presId="urn:microsoft.com/office/officeart/2005/8/layout/pyramid1"/>
    <dgm:cxn modelId="{5D5BE54A-246B-4B11-BDC8-527AC995045E}" type="presParOf" srcId="{F4057220-54CB-4E0E-86B0-C6D5A1B35E7F}" destId="{4C2DE579-EB9C-4556-81C7-4256C775BAA3}" srcOrd="0" destOrd="0" presId="urn:microsoft.com/office/officeart/2005/8/layout/pyramid1"/>
    <dgm:cxn modelId="{5AE42865-751F-4ADF-B42E-DA9444B92704}" type="presParOf" srcId="{F4057220-54CB-4E0E-86B0-C6D5A1B35E7F}" destId="{4BE33F6D-DE9D-42FD-AF71-0ABCB50B746E}" srcOrd="1" destOrd="0" presId="urn:microsoft.com/office/officeart/2005/8/layout/pyramid1"/>
    <dgm:cxn modelId="{680C1AFB-FE2E-4AD0-9D89-1C6F6FEBC765}" type="presParOf" srcId="{33F4CE87-180E-4EE0-BFC1-CE478165CFC9}" destId="{87244ED2-B1F6-4FBF-A4FC-74F983DF9AF5}" srcOrd="3" destOrd="0" presId="urn:microsoft.com/office/officeart/2005/8/layout/pyramid1"/>
    <dgm:cxn modelId="{1AD54ABD-B6DF-44D8-B131-F9BAC2FAF9C9}" type="presParOf" srcId="{87244ED2-B1F6-4FBF-A4FC-74F983DF9AF5}" destId="{12285438-6FE8-4AC9-8A69-D1903590EFFA}" srcOrd="0" destOrd="0" presId="urn:microsoft.com/office/officeart/2005/8/layout/pyramid1"/>
    <dgm:cxn modelId="{A55F417C-5667-465A-85B9-E8576BA2B310}" type="presParOf" srcId="{87244ED2-B1F6-4FBF-A4FC-74F983DF9AF5}" destId="{E2AF7969-BB56-4992-99E1-8F449F6906A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B0674-A760-4012-A641-DD080E15FDB6}">
      <dsp:nvSpPr>
        <dsp:cNvPr id="0" name=""/>
        <dsp:cNvSpPr/>
      </dsp:nvSpPr>
      <dsp:spPr>
        <a:xfrm rot="10800000">
          <a:off x="1667501" y="6107"/>
          <a:ext cx="5949854" cy="675415"/>
        </a:xfrm>
        <a:prstGeom prst="homePlate">
          <a:avLst/>
        </a:prstGeom>
        <a:solidFill>
          <a:schemeClr val="accent5">
            <a:hueOff val="0"/>
            <a:satOff val="0"/>
            <a:lumOff val="0"/>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97840" tIns="87630" rIns="163576" bIns="87630" numCol="1" spcCol="1270" anchor="ctr" anchorCtr="0">
          <a:noAutofit/>
        </a:bodyPr>
        <a:lstStyle/>
        <a:p>
          <a:pPr marL="0" lvl="0" indent="0" algn="ctr" defTabSz="1022350">
            <a:lnSpc>
              <a:spcPct val="90000"/>
            </a:lnSpc>
            <a:spcBef>
              <a:spcPct val="0"/>
            </a:spcBef>
            <a:spcAft>
              <a:spcPct val="35000"/>
            </a:spcAft>
            <a:buNone/>
          </a:pPr>
          <a:r>
            <a:rPr lang="en-US" sz="2300" kern="1200" dirty="0"/>
            <a:t>Post  - 50K</a:t>
          </a:r>
          <a:endParaRPr lang="en-IN" sz="2300" kern="1200" dirty="0"/>
        </a:p>
      </dsp:txBody>
      <dsp:txXfrm rot="10800000">
        <a:off x="1836355" y="6107"/>
        <a:ext cx="5781000" cy="675415"/>
      </dsp:txXfrm>
    </dsp:sp>
    <dsp:sp modelId="{52E48414-A61D-4215-8380-35192A79B3BB}">
      <dsp:nvSpPr>
        <dsp:cNvPr id="0" name=""/>
        <dsp:cNvSpPr/>
      </dsp:nvSpPr>
      <dsp:spPr>
        <a:xfrm>
          <a:off x="1329793" y="1815"/>
          <a:ext cx="675415" cy="684000"/>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a:ln>
          <a:noFill/>
        </a:ln>
        <a:effectLst>
          <a:outerShdw blurRad="38100" dist="25400" dir="5400000" rotWithShape="0">
            <a:srgbClr val="000000">
              <a:alpha val="45000"/>
            </a:srgbClr>
          </a:outerShdw>
        </a:effectLst>
        <a:sp3d z="50080" prstMaterial="plastic">
          <a:bevelT w="50800" h="50800"/>
          <a:bevelB w="50800" h="50800"/>
        </a:sp3d>
      </dsp:spPr>
      <dsp:style>
        <a:lnRef idx="0">
          <a:scrgbClr r="0" g="0" b="0"/>
        </a:lnRef>
        <a:fillRef idx="1">
          <a:scrgbClr r="0" g="0" b="0"/>
        </a:fillRef>
        <a:effectRef idx="2">
          <a:scrgbClr r="0" g="0" b="0"/>
        </a:effectRef>
        <a:fontRef idx="minor"/>
      </dsp:style>
    </dsp:sp>
    <dsp:sp modelId="{9331A2C2-F113-405F-8B61-4A1D34878BB9}">
      <dsp:nvSpPr>
        <dsp:cNvPr id="0" name=""/>
        <dsp:cNvSpPr/>
      </dsp:nvSpPr>
      <dsp:spPr>
        <a:xfrm rot="10800000">
          <a:off x="1667501" y="887432"/>
          <a:ext cx="5949854" cy="675415"/>
        </a:xfrm>
        <a:prstGeom prst="homePlate">
          <a:avLst/>
        </a:prstGeom>
        <a:solidFill>
          <a:schemeClr val="accent5">
            <a:hueOff val="1559309"/>
            <a:satOff val="-1003"/>
            <a:lumOff val="686"/>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97840" tIns="87630" rIns="163576" bIns="87630" numCol="1" spcCol="1270" anchor="ctr" anchorCtr="0">
          <a:noAutofit/>
        </a:bodyPr>
        <a:lstStyle/>
        <a:p>
          <a:pPr marL="0" lvl="0" indent="0" algn="ctr" defTabSz="1022350">
            <a:lnSpc>
              <a:spcPct val="90000"/>
            </a:lnSpc>
            <a:spcBef>
              <a:spcPct val="0"/>
            </a:spcBef>
            <a:spcAft>
              <a:spcPct val="35000"/>
            </a:spcAft>
            <a:buNone/>
          </a:pPr>
          <a:r>
            <a:rPr lang="en-US" sz="2300" kern="1200" dirty="0"/>
            <a:t>Likes – 148M</a:t>
          </a:r>
          <a:endParaRPr lang="en-IN" sz="2300" kern="1200" dirty="0"/>
        </a:p>
      </dsp:txBody>
      <dsp:txXfrm rot="10800000">
        <a:off x="1836355" y="887432"/>
        <a:ext cx="5781000" cy="675415"/>
      </dsp:txXfrm>
    </dsp:sp>
    <dsp:sp modelId="{A81B10AF-7CBB-4A34-BA7C-756AD122E650}">
      <dsp:nvSpPr>
        <dsp:cNvPr id="0" name=""/>
        <dsp:cNvSpPr/>
      </dsp:nvSpPr>
      <dsp:spPr>
        <a:xfrm>
          <a:off x="1329793" y="887432"/>
          <a:ext cx="675415" cy="675415"/>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a:outerShdw blurRad="38100" dist="25400" dir="5400000" rotWithShape="0">
            <a:srgbClr val="000000">
              <a:alpha val="45000"/>
            </a:srgbClr>
          </a:outerShdw>
        </a:effectLst>
        <a:sp3d z="50080" prstMaterial="plastic">
          <a:bevelT w="50800" h="50800"/>
          <a:bevelB w="50800" h="50800"/>
        </a:sp3d>
      </dsp:spPr>
      <dsp:style>
        <a:lnRef idx="0">
          <a:scrgbClr r="0" g="0" b="0"/>
        </a:lnRef>
        <a:fillRef idx="1">
          <a:scrgbClr r="0" g="0" b="0"/>
        </a:fillRef>
        <a:effectRef idx="2">
          <a:scrgbClr r="0" g="0" b="0"/>
        </a:effectRef>
        <a:fontRef idx="minor"/>
      </dsp:style>
    </dsp:sp>
    <dsp:sp modelId="{437389B9-8F17-437C-B18C-001E98509462}">
      <dsp:nvSpPr>
        <dsp:cNvPr id="0" name=""/>
        <dsp:cNvSpPr/>
      </dsp:nvSpPr>
      <dsp:spPr>
        <a:xfrm rot="10800000">
          <a:off x="1667501" y="1764465"/>
          <a:ext cx="5949854" cy="675415"/>
        </a:xfrm>
        <a:prstGeom prst="homePlate">
          <a:avLst/>
        </a:prstGeom>
        <a:solidFill>
          <a:schemeClr val="accent5">
            <a:hueOff val="3118619"/>
            <a:satOff val="-2006"/>
            <a:lumOff val="1372"/>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97840" tIns="87630" rIns="163576" bIns="87630" numCol="1" spcCol="1270" anchor="ctr" anchorCtr="0">
          <a:noAutofit/>
        </a:bodyPr>
        <a:lstStyle/>
        <a:p>
          <a:pPr marL="0" lvl="0" indent="0" algn="ctr" defTabSz="1022350">
            <a:lnSpc>
              <a:spcPct val="90000"/>
            </a:lnSpc>
            <a:spcBef>
              <a:spcPct val="0"/>
            </a:spcBef>
            <a:spcAft>
              <a:spcPct val="35000"/>
            </a:spcAft>
            <a:buNone/>
          </a:pPr>
          <a:r>
            <a:rPr lang="en-US" sz="2300" kern="1200" dirty="0"/>
            <a:t>Comments – 18M</a:t>
          </a:r>
          <a:endParaRPr lang="en-IN" sz="2300" kern="1200" dirty="0"/>
        </a:p>
      </dsp:txBody>
      <dsp:txXfrm rot="10800000">
        <a:off x="1836355" y="1764465"/>
        <a:ext cx="5781000" cy="675415"/>
      </dsp:txXfrm>
    </dsp:sp>
    <dsp:sp modelId="{E406FE99-28FC-46F0-ADF2-A1CF1402134E}">
      <dsp:nvSpPr>
        <dsp:cNvPr id="0" name=""/>
        <dsp:cNvSpPr/>
      </dsp:nvSpPr>
      <dsp:spPr>
        <a:xfrm>
          <a:off x="1329793" y="1764465"/>
          <a:ext cx="675415" cy="675415"/>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a:outerShdw blurRad="38100" dist="25400" dir="5400000" rotWithShape="0">
            <a:srgbClr val="000000">
              <a:alpha val="45000"/>
            </a:srgbClr>
          </a:outerShdw>
        </a:effectLst>
        <a:sp3d z="50080" prstMaterial="plastic">
          <a:bevelT w="50800" h="50800"/>
          <a:bevelB w="50800" h="50800"/>
        </a:sp3d>
      </dsp:spPr>
      <dsp:style>
        <a:lnRef idx="0">
          <a:scrgbClr r="0" g="0" b="0"/>
        </a:lnRef>
        <a:fillRef idx="1">
          <a:scrgbClr r="0" g="0" b="0"/>
        </a:fillRef>
        <a:effectRef idx="2">
          <a:scrgbClr r="0" g="0" b="0"/>
        </a:effectRef>
        <a:fontRef idx="minor"/>
      </dsp:style>
    </dsp:sp>
    <dsp:sp modelId="{351EB693-4AF7-4098-93CB-9D1F381DB90F}">
      <dsp:nvSpPr>
        <dsp:cNvPr id="0" name=""/>
        <dsp:cNvSpPr/>
      </dsp:nvSpPr>
      <dsp:spPr>
        <a:xfrm rot="10800000">
          <a:off x="1667501" y="2641497"/>
          <a:ext cx="5949854" cy="675415"/>
        </a:xfrm>
        <a:prstGeom prst="homePlate">
          <a:avLst/>
        </a:prstGeom>
        <a:solidFill>
          <a:schemeClr val="accent5">
            <a:hueOff val="4677928"/>
            <a:satOff val="-3010"/>
            <a:lumOff val="2058"/>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97840" tIns="87630" rIns="163576"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Total Shares – 8M</a:t>
          </a:r>
          <a:endParaRPr lang="en-IN" sz="2300" kern="1200" dirty="0"/>
        </a:p>
      </dsp:txBody>
      <dsp:txXfrm rot="10800000">
        <a:off x="1836355" y="2641497"/>
        <a:ext cx="5781000" cy="675415"/>
      </dsp:txXfrm>
    </dsp:sp>
    <dsp:sp modelId="{D8C249B2-CC54-4C35-947F-F0022EADDE64}">
      <dsp:nvSpPr>
        <dsp:cNvPr id="0" name=""/>
        <dsp:cNvSpPr/>
      </dsp:nvSpPr>
      <dsp:spPr>
        <a:xfrm>
          <a:off x="1329793" y="2641497"/>
          <a:ext cx="675415" cy="675415"/>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a:outerShdw blurRad="38100" dist="25400" dir="5400000" rotWithShape="0">
            <a:srgbClr val="000000">
              <a:alpha val="45000"/>
            </a:srgbClr>
          </a:outerShdw>
        </a:effectLst>
        <a:sp3d z="50080" prstMaterial="plastic">
          <a:bevelT w="50800" h="50800"/>
          <a:bevelB w="50800" h="50800"/>
        </a:sp3d>
      </dsp:spPr>
      <dsp:style>
        <a:lnRef idx="0">
          <a:scrgbClr r="0" g="0" b="0"/>
        </a:lnRef>
        <a:fillRef idx="1">
          <a:scrgbClr r="0" g="0" b="0"/>
        </a:fillRef>
        <a:effectRef idx="2">
          <a:scrgbClr r="0" g="0" b="0"/>
        </a:effectRef>
        <a:fontRef idx="minor"/>
      </dsp:style>
    </dsp:sp>
    <dsp:sp modelId="{D9FE2BEF-8C01-4D75-947A-92C912803363}">
      <dsp:nvSpPr>
        <dsp:cNvPr id="0" name=""/>
        <dsp:cNvSpPr/>
      </dsp:nvSpPr>
      <dsp:spPr>
        <a:xfrm rot="10800000">
          <a:off x="1667501" y="3518530"/>
          <a:ext cx="5949854" cy="675415"/>
        </a:xfrm>
        <a:prstGeom prst="homePlate">
          <a:avLst/>
        </a:prstGeom>
        <a:solidFill>
          <a:schemeClr val="accent5">
            <a:hueOff val="6237238"/>
            <a:satOff val="-4013"/>
            <a:lumOff val="2744"/>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97840" tIns="87630" rIns="163576" bIns="87630" numCol="1" spcCol="1270" anchor="ctr" anchorCtr="0">
          <a:noAutofit/>
        </a:bodyPr>
        <a:lstStyle/>
        <a:p>
          <a:pPr marL="0" lvl="0" indent="0" algn="ctr" defTabSz="1022350">
            <a:lnSpc>
              <a:spcPct val="90000"/>
            </a:lnSpc>
            <a:spcBef>
              <a:spcPct val="0"/>
            </a:spcBef>
            <a:spcAft>
              <a:spcPct val="35000"/>
            </a:spcAft>
            <a:buNone/>
          </a:pPr>
          <a:r>
            <a:rPr lang="en-US" sz="2300" kern="1200" dirty="0"/>
            <a:t>Average Engagement Rate – 17.64%</a:t>
          </a:r>
          <a:endParaRPr lang="en-IN" sz="2300" kern="1200" dirty="0"/>
        </a:p>
      </dsp:txBody>
      <dsp:txXfrm rot="10800000">
        <a:off x="1836355" y="3518530"/>
        <a:ext cx="5781000" cy="675415"/>
      </dsp:txXfrm>
    </dsp:sp>
    <dsp:sp modelId="{E197E998-F61E-4C29-9D61-9797A41F0C9F}">
      <dsp:nvSpPr>
        <dsp:cNvPr id="0" name=""/>
        <dsp:cNvSpPr/>
      </dsp:nvSpPr>
      <dsp:spPr>
        <a:xfrm>
          <a:off x="1329793" y="3518530"/>
          <a:ext cx="675415" cy="675415"/>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a:effectLst>
          <a:outerShdw blurRad="38100" dist="25400" dir="5400000" rotWithShape="0">
            <a:srgbClr val="000000">
              <a:alpha val="45000"/>
            </a:srgbClr>
          </a:outerShdw>
        </a:effectLst>
        <a:sp3d z="50080" prstMaterial="plastic">
          <a:bevelT w="50800" h="50800"/>
          <a:bevelB w="50800" h="50800"/>
        </a:sp3d>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D8BF13-8FB9-4618-B1CA-F92548D3DDF8}">
      <dsp:nvSpPr>
        <dsp:cNvPr id="0" name=""/>
        <dsp:cNvSpPr/>
      </dsp:nvSpPr>
      <dsp:spPr>
        <a:xfrm>
          <a:off x="0" y="5495061"/>
          <a:ext cx="6212860" cy="0"/>
        </a:xfrm>
        <a:prstGeom prst="line">
          <a:avLst/>
        </a:prstGeom>
        <a:noFill/>
        <a:ln w="19050" cap="rnd" cmpd="sng" algn="ctr">
          <a:solidFill>
            <a:schemeClr val="accent1">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400C5F29-31AE-42F6-89CD-157AE6BEF123}">
      <dsp:nvSpPr>
        <dsp:cNvPr id="0" name=""/>
        <dsp:cNvSpPr/>
      </dsp:nvSpPr>
      <dsp:spPr>
        <a:xfrm>
          <a:off x="0" y="4105040"/>
          <a:ext cx="6212860" cy="0"/>
        </a:xfrm>
        <a:prstGeom prst="line">
          <a:avLst/>
        </a:prstGeom>
        <a:noFill/>
        <a:ln w="19050" cap="rnd" cmpd="sng" algn="ctr">
          <a:solidFill>
            <a:schemeClr val="accent1">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D6DC9B21-E00C-48AD-B4B4-18EFA4491041}">
      <dsp:nvSpPr>
        <dsp:cNvPr id="0" name=""/>
        <dsp:cNvSpPr/>
      </dsp:nvSpPr>
      <dsp:spPr>
        <a:xfrm>
          <a:off x="0" y="2715019"/>
          <a:ext cx="6212860" cy="0"/>
        </a:xfrm>
        <a:prstGeom prst="line">
          <a:avLst/>
        </a:prstGeom>
        <a:noFill/>
        <a:ln w="19050" cap="rnd" cmpd="sng" algn="ctr">
          <a:solidFill>
            <a:schemeClr val="accent1">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3C106158-8874-4FC7-AC98-A4AEBE436D22}">
      <dsp:nvSpPr>
        <dsp:cNvPr id="0" name=""/>
        <dsp:cNvSpPr/>
      </dsp:nvSpPr>
      <dsp:spPr>
        <a:xfrm>
          <a:off x="0" y="1324998"/>
          <a:ext cx="6212860" cy="0"/>
        </a:xfrm>
        <a:prstGeom prst="line">
          <a:avLst/>
        </a:prstGeom>
        <a:noFill/>
        <a:ln w="19050" cap="rnd" cmpd="sng" algn="ctr">
          <a:solidFill>
            <a:schemeClr val="accent1">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BE82F9D1-6E22-430A-B41F-924F1A15CE0D}">
      <dsp:nvSpPr>
        <dsp:cNvPr id="0" name=""/>
        <dsp:cNvSpPr/>
      </dsp:nvSpPr>
      <dsp:spPr>
        <a:xfrm>
          <a:off x="1615343" y="1169"/>
          <a:ext cx="4597516" cy="1323829"/>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kern="1200" dirty="0"/>
            <a:t>Wednesday – highest engagement rate and posting frequency, meaning the audience is most active midweek.</a:t>
          </a:r>
          <a:endParaRPr lang="en-IN" sz="1800" kern="1200" dirty="0"/>
        </a:p>
      </dsp:txBody>
      <dsp:txXfrm>
        <a:off x="1615343" y="1169"/>
        <a:ext cx="4597516" cy="1323829"/>
      </dsp:txXfrm>
    </dsp:sp>
    <dsp:sp modelId="{2362C8FF-6914-4E99-A652-BEAA33501967}">
      <dsp:nvSpPr>
        <dsp:cNvPr id="0" name=""/>
        <dsp:cNvSpPr/>
      </dsp:nvSpPr>
      <dsp:spPr>
        <a:xfrm>
          <a:off x="0" y="1169"/>
          <a:ext cx="1615343" cy="1323829"/>
        </a:xfrm>
        <a:prstGeom prst="round2SameRect">
          <a:avLst>
            <a:gd name="adj1" fmla="val 16670"/>
            <a:gd name="adj2" fmla="val 0"/>
          </a:avLst>
        </a:prstGeom>
        <a:solidFill>
          <a:schemeClr val="accent1">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45000"/>
            </a:srgbClr>
          </a:outerShdw>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36195" tIns="36195" rIns="36195" bIns="36195" numCol="1" spcCol="1270" anchor="ctr" anchorCtr="0">
          <a:noAutofit/>
        </a:bodyPr>
        <a:lstStyle/>
        <a:p>
          <a:pPr marL="0" lvl="0" indent="0" algn="ctr" defTabSz="844550">
            <a:lnSpc>
              <a:spcPct val="90000"/>
            </a:lnSpc>
            <a:spcBef>
              <a:spcPct val="0"/>
            </a:spcBef>
            <a:spcAft>
              <a:spcPct val="35000"/>
            </a:spcAft>
            <a:buNone/>
          </a:pPr>
          <a:r>
            <a:rPr lang="en-US" sz="1900" kern="1200" dirty="0"/>
            <a:t>Best Day to Post</a:t>
          </a:r>
          <a:endParaRPr lang="en-IN" sz="1900" kern="1200" dirty="0"/>
        </a:p>
      </dsp:txBody>
      <dsp:txXfrm>
        <a:off x="64636" y="65805"/>
        <a:ext cx="1486071" cy="1259193"/>
      </dsp:txXfrm>
    </dsp:sp>
    <dsp:sp modelId="{C37C64C1-FB61-45C8-A81E-248A295FB946}">
      <dsp:nvSpPr>
        <dsp:cNvPr id="0" name=""/>
        <dsp:cNvSpPr/>
      </dsp:nvSpPr>
      <dsp:spPr>
        <a:xfrm>
          <a:off x="1615343" y="1391190"/>
          <a:ext cx="4597516" cy="1323829"/>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kern="1200" dirty="0"/>
            <a:t>Friday – good engagement with nearly top posting volume, great for pre weekend promotions or new launches.</a:t>
          </a:r>
          <a:endParaRPr lang="en-IN" sz="1800" kern="1200" dirty="0"/>
        </a:p>
      </dsp:txBody>
      <dsp:txXfrm>
        <a:off x="1615343" y="1391190"/>
        <a:ext cx="4597516" cy="1323829"/>
      </dsp:txXfrm>
    </dsp:sp>
    <dsp:sp modelId="{9C00C022-AF22-4520-A6CB-C2FC4035C707}">
      <dsp:nvSpPr>
        <dsp:cNvPr id="0" name=""/>
        <dsp:cNvSpPr/>
      </dsp:nvSpPr>
      <dsp:spPr>
        <a:xfrm>
          <a:off x="0" y="1391190"/>
          <a:ext cx="1615343" cy="1323829"/>
        </a:xfrm>
        <a:prstGeom prst="round2SameRect">
          <a:avLst>
            <a:gd name="adj1" fmla="val 16670"/>
            <a:gd name="adj2" fmla="val 0"/>
          </a:avLst>
        </a:prstGeom>
        <a:solidFill>
          <a:schemeClr val="accent1">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45000"/>
            </a:srgbClr>
          </a:outerShdw>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36195" tIns="36195" rIns="36195" bIns="36195" numCol="1" spcCol="1270" anchor="ctr" anchorCtr="0">
          <a:noAutofit/>
        </a:bodyPr>
        <a:lstStyle/>
        <a:p>
          <a:pPr marL="0" lvl="0" indent="0" algn="ctr" defTabSz="844550">
            <a:lnSpc>
              <a:spcPct val="90000"/>
            </a:lnSpc>
            <a:spcBef>
              <a:spcPct val="0"/>
            </a:spcBef>
            <a:spcAft>
              <a:spcPct val="35000"/>
            </a:spcAft>
            <a:buNone/>
          </a:pPr>
          <a:r>
            <a:rPr lang="en-US" sz="1900" kern="1200" dirty="0"/>
            <a:t>Second Best Day</a:t>
          </a:r>
          <a:endParaRPr lang="en-IN" sz="1900" kern="1200" dirty="0"/>
        </a:p>
      </dsp:txBody>
      <dsp:txXfrm>
        <a:off x="64636" y="1455826"/>
        <a:ext cx="1486071" cy="1259193"/>
      </dsp:txXfrm>
    </dsp:sp>
    <dsp:sp modelId="{75A564BC-E4B6-4899-BE65-603AE85B7CA1}">
      <dsp:nvSpPr>
        <dsp:cNvPr id="0" name=""/>
        <dsp:cNvSpPr/>
      </dsp:nvSpPr>
      <dsp:spPr>
        <a:xfrm>
          <a:off x="1615343" y="2781211"/>
          <a:ext cx="4597516" cy="1323829"/>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kern="1200" dirty="0"/>
            <a:t>Sunday – Both engagement and posts are at their lowest, audience likely less responsive.</a:t>
          </a:r>
          <a:endParaRPr lang="en-IN" sz="1800" kern="1200" dirty="0"/>
        </a:p>
      </dsp:txBody>
      <dsp:txXfrm>
        <a:off x="1615343" y="2781211"/>
        <a:ext cx="4597516" cy="1323829"/>
      </dsp:txXfrm>
    </dsp:sp>
    <dsp:sp modelId="{41CDB7D1-C566-440A-B76C-2B5DD67C5665}">
      <dsp:nvSpPr>
        <dsp:cNvPr id="0" name=""/>
        <dsp:cNvSpPr/>
      </dsp:nvSpPr>
      <dsp:spPr>
        <a:xfrm>
          <a:off x="0" y="2781211"/>
          <a:ext cx="1615343" cy="1323829"/>
        </a:xfrm>
        <a:prstGeom prst="round2SameRect">
          <a:avLst>
            <a:gd name="adj1" fmla="val 16670"/>
            <a:gd name="adj2" fmla="val 0"/>
          </a:avLst>
        </a:prstGeom>
        <a:solidFill>
          <a:schemeClr val="accent1">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45000"/>
            </a:srgbClr>
          </a:outerShdw>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36195" tIns="36195" rIns="36195" bIns="36195" numCol="1" spcCol="1270" anchor="ctr" anchorCtr="0">
          <a:noAutofit/>
        </a:bodyPr>
        <a:lstStyle/>
        <a:p>
          <a:pPr marL="0" lvl="0" indent="0" algn="ctr" defTabSz="844550">
            <a:lnSpc>
              <a:spcPct val="90000"/>
            </a:lnSpc>
            <a:spcBef>
              <a:spcPct val="0"/>
            </a:spcBef>
            <a:spcAft>
              <a:spcPct val="35000"/>
            </a:spcAft>
            <a:buNone/>
          </a:pPr>
          <a:r>
            <a:rPr lang="en-US" sz="1900" kern="1200"/>
            <a:t>Lowest Performing Day</a:t>
          </a:r>
          <a:endParaRPr lang="en-IN" sz="1900" kern="1200" dirty="0"/>
        </a:p>
      </dsp:txBody>
      <dsp:txXfrm>
        <a:off x="64636" y="2845847"/>
        <a:ext cx="1486071" cy="1259193"/>
      </dsp:txXfrm>
    </dsp:sp>
    <dsp:sp modelId="{9E21B8F8-FEC1-4DEE-868D-7C01F244A551}">
      <dsp:nvSpPr>
        <dsp:cNvPr id="0" name=""/>
        <dsp:cNvSpPr/>
      </dsp:nvSpPr>
      <dsp:spPr>
        <a:xfrm>
          <a:off x="1615343" y="4171232"/>
          <a:ext cx="4597516" cy="1323829"/>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kern="1200"/>
            <a:t>Engagement grows steadily from Monday to Wednesday, dips Thursday, and rebounds on Friday- suggesting users are most active during workweek.</a:t>
          </a:r>
          <a:endParaRPr lang="en-IN" sz="1800" kern="1200" dirty="0"/>
        </a:p>
      </dsp:txBody>
      <dsp:txXfrm>
        <a:off x="1615343" y="4171232"/>
        <a:ext cx="4597516" cy="1323829"/>
      </dsp:txXfrm>
    </dsp:sp>
    <dsp:sp modelId="{8ECAB65F-95E9-4398-8044-D7EDA7026C46}">
      <dsp:nvSpPr>
        <dsp:cNvPr id="0" name=""/>
        <dsp:cNvSpPr/>
      </dsp:nvSpPr>
      <dsp:spPr>
        <a:xfrm>
          <a:off x="0" y="4171232"/>
          <a:ext cx="1615343" cy="1323829"/>
        </a:xfrm>
        <a:prstGeom prst="round2SameRect">
          <a:avLst>
            <a:gd name="adj1" fmla="val 16670"/>
            <a:gd name="adj2" fmla="val 0"/>
          </a:avLst>
        </a:prstGeom>
        <a:solidFill>
          <a:schemeClr val="accent1">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45000"/>
            </a:srgbClr>
          </a:outerShdw>
        </a:effectLst>
        <a:sp3d prstMaterial="plastic">
          <a:bevelT w="50800" h="50800"/>
          <a:bevelB w="50800" h="50800"/>
        </a:sp3d>
      </dsp:spPr>
      <dsp:style>
        <a:lnRef idx="1">
          <a:scrgbClr r="0" g="0" b="0"/>
        </a:lnRef>
        <a:fillRef idx="1">
          <a:scrgbClr r="0" g="0" b="0"/>
        </a:fillRef>
        <a:effectRef idx="2">
          <a:scrgbClr r="0" g="0" b="0"/>
        </a:effectRef>
        <a:fontRef idx="minor">
          <a:schemeClr val="lt1"/>
        </a:fontRef>
      </dsp:style>
      <dsp:txBody>
        <a:bodyPr spcFirstLastPara="0" vert="horz" wrap="square" lIns="36195" tIns="36195" rIns="36195" bIns="36195" numCol="1" spcCol="1270" anchor="ctr" anchorCtr="0">
          <a:noAutofit/>
        </a:bodyPr>
        <a:lstStyle/>
        <a:p>
          <a:pPr marL="0" lvl="0" indent="0" algn="ctr" defTabSz="844550">
            <a:lnSpc>
              <a:spcPct val="90000"/>
            </a:lnSpc>
            <a:spcBef>
              <a:spcPct val="0"/>
            </a:spcBef>
            <a:spcAft>
              <a:spcPct val="35000"/>
            </a:spcAft>
            <a:buNone/>
          </a:pPr>
          <a:r>
            <a:rPr lang="en-US" sz="1900" kern="1200"/>
            <a:t>Midweek Momentum</a:t>
          </a:r>
          <a:endParaRPr lang="en-IN" sz="1900" kern="1200" dirty="0"/>
        </a:p>
      </dsp:txBody>
      <dsp:txXfrm>
        <a:off x="64636" y="4235868"/>
        <a:ext cx="1486071" cy="12591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A5903-4DD0-4462-9E41-5049F421D609}">
      <dsp:nvSpPr>
        <dsp:cNvPr id="0" name=""/>
        <dsp:cNvSpPr/>
      </dsp:nvSpPr>
      <dsp:spPr>
        <a:xfrm rot="5400000">
          <a:off x="5758019" y="-2315589"/>
          <a:ext cx="1004490" cy="5892013"/>
        </a:xfrm>
        <a:prstGeom prst="round2SameRect">
          <a:avLst/>
        </a:prstGeom>
        <a:solidFill>
          <a:schemeClr val="accent4">
            <a:tint val="40000"/>
            <a:alpha val="90000"/>
            <a:hueOff val="0"/>
            <a:satOff val="0"/>
            <a:lumOff val="0"/>
            <a:alphaOff val="0"/>
          </a:schemeClr>
        </a:solidFill>
        <a:ln>
          <a:noFill/>
        </a:ln>
        <a:effectLst>
          <a:outerShdw blurRad="38100" dist="25400" dir="5400000" rotWithShape="0">
            <a:srgbClr val="000000">
              <a:alpha val="45000"/>
            </a:srgbClr>
          </a:outerShdw>
        </a:effectLst>
        <a:sp3d prstMaterial="plastic">
          <a:bevelT w="25400" h="25400"/>
          <a:bevelB w="25400" h="25400"/>
        </a:sp3d>
      </dsp:spPr>
      <dsp:style>
        <a:lnRef idx="0">
          <a:scrgbClr r="0" g="0" b="0"/>
        </a:lnRef>
        <a:fillRef idx="1">
          <a:scrgbClr r="0" g="0" b="0"/>
        </a:fillRef>
        <a:effectRef idx="2">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dirty="0"/>
            <a:t>Performance is robust and consistent over the last year. Also confirming potential Stagnation.</a:t>
          </a:r>
        </a:p>
      </dsp:txBody>
      <dsp:txXfrm rot="-5400000">
        <a:off x="3314258" y="177207"/>
        <a:ext cx="5842978" cy="906420"/>
      </dsp:txXfrm>
    </dsp:sp>
    <dsp:sp modelId="{7378055D-FC30-4B5D-8EBF-770B157CB111}">
      <dsp:nvSpPr>
        <dsp:cNvPr id="0" name=""/>
        <dsp:cNvSpPr/>
      </dsp:nvSpPr>
      <dsp:spPr>
        <a:xfrm>
          <a:off x="0" y="2610"/>
          <a:ext cx="3314257" cy="1255612"/>
        </a:xfrm>
        <a:prstGeom prst="roundRect">
          <a:avLst/>
        </a:prstGeom>
        <a:solidFill>
          <a:schemeClr val="accent4">
            <a:hueOff val="0"/>
            <a:satOff val="0"/>
            <a:lumOff val="0"/>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kern="1200" dirty="0"/>
            <a:t>High &amp; Stable Engagement</a:t>
          </a:r>
        </a:p>
      </dsp:txBody>
      <dsp:txXfrm>
        <a:off x="61294" y="63904"/>
        <a:ext cx="3191669" cy="1133024"/>
      </dsp:txXfrm>
    </dsp:sp>
    <dsp:sp modelId="{433617A8-0824-4301-BB8E-1854A5F729E1}">
      <dsp:nvSpPr>
        <dsp:cNvPr id="0" name=""/>
        <dsp:cNvSpPr/>
      </dsp:nvSpPr>
      <dsp:spPr>
        <a:xfrm rot="5400000">
          <a:off x="5758019" y="-997196"/>
          <a:ext cx="1004490" cy="5892013"/>
        </a:xfrm>
        <a:prstGeom prst="round2SameRect">
          <a:avLst/>
        </a:prstGeom>
        <a:solidFill>
          <a:schemeClr val="accent4">
            <a:tint val="40000"/>
            <a:alpha val="90000"/>
            <a:hueOff val="1045692"/>
            <a:satOff val="-1334"/>
            <a:lumOff val="-520"/>
            <a:alphaOff val="0"/>
          </a:schemeClr>
        </a:solidFill>
        <a:ln>
          <a:noFill/>
        </a:ln>
        <a:effectLst>
          <a:outerShdw blurRad="38100" dist="25400" dir="5400000" rotWithShape="0">
            <a:srgbClr val="000000">
              <a:alpha val="45000"/>
            </a:srgbClr>
          </a:outerShdw>
        </a:effectLst>
        <a:sp3d prstMaterial="plastic">
          <a:bevelT w="25400" h="25400"/>
          <a:bevelB w="25400" h="25400"/>
        </a:sp3d>
      </dsp:spPr>
      <dsp:style>
        <a:lnRef idx="0">
          <a:scrgbClr r="0" g="0" b="0"/>
        </a:lnRef>
        <a:fillRef idx="1">
          <a:scrgbClr r="0" g="0" b="0"/>
        </a:fillRef>
        <a:effectRef idx="2">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dirty="0"/>
            <a:t>Highest reach and interactions, confirming this content provides the most product education and utility.</a:t>
          </a:r>
        </a:p>
      </dsp:txBody>
      <dsp:txXfrm rot="-5400000">
        <a:off x="3314258" y="1495600"/>
        <a:ext cx="5842978" cy="906420"/>
      </dsp:txXfrm>
    </dsp:sp>
    <dsp:sp modelId="{4D661B62-5A82-40C9-84DB-815A2F28AE92}">
      <dsp:nvSpPr>
        <dsp:cNvPr id="0" name=""/>
        <dsp:cNvSpPr/>
      </dsp:nvSpPr>
      <dsp:spPr>
        <a:xfrm>
          <a:off x="0" y="1321003"/>
          <a:ext cx="3314257" cy="1255612"/>
        </a:xfrm>
        <a:prstGeom prst="roundRect">
          <a:avLst/>
        </a:prstGeom>
        <a:solidFill>
          <a:schemeClr val="accent4">
            <a:hueOff val="886254"/>
            <a:satOff val="321"/>
            <a:lumOff val="-2614"/>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kern="1200" dirty="0"/>
            <a:t>Tutorials of the king of value</a:t>
          </a:r>
        </a:p>
      </dsp:txBody>
      <dsp:txXfrm>
        <a:off x="61294" y="1382297"/>
        <a:ext cx="3191669" cy="1133024"/>
      </dsp:txXfrm>
    </dsp:sp>
    <dsp:sp modelId="{ECAB71CD-BACE-48EB-8556-A75B455EA5E1}">
      <dsp:nvSpPr>
        <dsp:cNvPr id="0" name=""/>
        <dsp:cNvSpPr/>
      </dsp:nvSpPr>
      <dsp:spPr>
        <a:xfrm rot="5400000">
          <a:off x="5758019" y="321196"/>
          <a:ext cx="1004490" cy="5892013"/>
        </a:xfrm>
        <a:prstGeom prst="round2SameRect">
          <a:avLst/>
        </a:prstGeom>
        <a:solidFill>
          <a:schemeClr val="accent4">
            <a:tint val="40000"/>
            <a:alpha val="90000"/>
            <a:hueOff val="2091383"/>
            <a:satOff val="-2667"/>
            <a:lumOff val="-1041"/>
            <a:alphaOff val="0"/>
          </a:schemeClr>
        </a:solidFill>
        <a:ln>
          <a:noFill/>
        </a:ln>
        <a:effectLst>
          <a:outerShdw blurRad="38100" dist="25400" dir="5400000" rotWithShape="0">
            <a:srgbClr val="000000">
              <a:alpha val="45000"/>
            </a:srgbClr>
          </a:outerShdw>
        </a:effectLst>
        <a:sp3d prstMaterial="plastic">
          <a:bevelT w="25400" h="25400"/>
          <a:bevelB w="25400" h="25400"/>
        </a:sp3d>
      </dsp:spPr>
      <dsp:style>
        <a:lnRef idx="0">
          <a:scrgbClr r="0" g="0" b="0"/>
        </a:lnRef>
        <a:fillRef idx="1">
          <a:scrgbClr r="0" g="0" b="0"/>
        </a:fillRef>
        <a:effectRef idx="2">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dirty="0"/>
            <a:t>Short form video has the highest engagement rate, outperforming all other formats.</a:t>
          </a:r>
        </a:p>
      </dsp:txBody>
      <dsp:txXfrm rot="-5400000">
        <a:off x="3314258" y="2813993"/>
        <a:ext cx="5842978" cy="906420"/>
      </dsp:txXfrm>
    </dsp:sp>
    <dsp:sp modelId="{AD13B442-B8CA-46ED-95EF-9BD7F28F8BC5}">
      <dsp:nvSpPr>
        <dsp:cNvPr id="0" name=""/>
        <dsp:cNvSpPr/>
      </dsp:nvSpPr>
      <dsp:spPr>
        <a:xfrm>
          <a:off x="0" y="2639397"/>
          <a:ext cx="3314257" cy="1255612"/>
        </a:xfrm>
        <a:prstGeom prst="roundRect">
          <a:avLst/>
        </a:prstGeom>
        <a:solidFill>
          <a:schemeClr val="accent4">
            <a:hueOff val="1772507"/>
            <a:satOff val="641"/>
            <a:lumOff val="-5229"/>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kern="1200" dirty="0"/>
            <a:t>Reels/Stories are the best format</a:t>
          </a:r>
        </a:p>
      </dsp:txBody>
      <dsp:txXfrm>
        <a:off x="61294" y="2700691"/>
        <a:ext cx="3191669" cy="1133024"/>
      </dsp:txXfrm>
    </dsp:sp>
    <dsp:sp modelId="{AAF95031-380B-4A7B-9908-EDC90CA48EE5}">
      <dsp:nvSpPr>
        <dsp:cNvPr id="0" name=""/>
        <dsp:cNvSpPr/>
      </dsp:nvSpPr>
      <dsp:spPr>
        <a:xfrm rot="5400000">
          <a:off x="5758019" y="1639590"/>
          <a:ext cx="1004490" cy="5892013"/>
        </a:xfrm>
        <a:prstGeom prst="round2SameRect">
          <a:avLst/>
        </a:prstGeom>
        <a:solidFill>
          <a:schemeClr val="accent4">
            <a:tint val="40000"/>
            <a:alpha val="90000"/>
            <a:hueOff val="3137075"/>
            <a:satOff val="-4001"/>
            <a:lumOff val="-1561"/>
            <a:alphaOff val="0"/>
          </a:schemeClr>
        </a:solidFill>
        <a:ln>
          <a:noFill/>
        </a:ln>
        <a:effectLst>
          <a:outerShdw blurRad="38100" dist="25400" dir="5400000" rotWithShape="0">
            <a:srgbClr val="000000">
              <a:alpha val="45000"/>
            </a:srgbClr>
          </a:outerShdw>
        </a:effectLst>
        <a:sp3d prstMaterial="plastic">
          <a:bevelT w="25400" h="25400"/>
          <a:bevelB w="25400" h="25400"/>
        </a:sp3d>
      </dsp:spPr>
      <dsp:style>
        <a:lnRef idx="0">
          <a:scrgbClr r="0" g="0" b="0"/>
        </a:lnRef>
        <a:fillRef idx="1">
          <a:scrgbClr r="0" g="0" b="0"/>
        </a:fillRef>
        <a:effectRef idx="2">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IN" sz="1900" kern="1200" dirty="0"/>
            <a:t>Top correlated emotions are Inspired, Excited and Curious, indicating a preference for aspirational and educational content.</a:t>
          </a:r>
        </a:p>
      </dsp:txBody>
      <dsp:txXfrm rot="-5400000">
        <a:off x="3314258" y="4132387"/>
        <a:ext cx="5842978" cy="906420"/>
      </dsp:txXfrm>
    </dsp:sp>
    <dsp:sp modelId="{5CC266D9-1AC7-4CC7-B85A-C0A8AD77B6EA}">
      <dsp:nvSpPr>
        <dsp:cNvPr id="0" name=""/>
        <dsp:cNvSpPr/>
      </dsp:nvSpPr>
      <dsp:spPr>
        <a:xfrm>
          <a:off x="0" y="3957790"/>
          <a:ext cx="3314257" cy="1255612"/>
        </a:xfrm>
        <a:prstGeom prst="roundRect">
          <a:avLst/>
        </a:prstGeom>
        <a:solidFill>
          <a:schemeClr val="accent4">
            <a:hueOff val="2658761"/>
            <a:satOff val="962"/>
            <a:lumOff val="-7843"/>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kern="1200" dirty="0"/>
            <a:t>Audience Seeks Inspiration</a:t>
          </a:r>
        </a:p>
      </dsp:txBody>
      <dsp:txXfrm>
        <a:off x="61294" y="4019084"/>
        <a:ext cx="3191669" cy="11330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EF820-1112-4CEE-8A94-A05A8A9ED587}">
      <dsp:nvSpPr>
        <dsp:cNvPr id="0" name=""/>
        <dsp:cNvSpPr/>
      </dsp:nvSpPr>
      <dsp:spPr>
        <a:xfrm>
          <a:off x="3047999" y="0"/>
          <a:ext cx="2032000" cy="1326910"/>
        </a:xfrm>
        <a:prstGeom prst="trapezoid">
          <a:avLst>
            <a:gd name="adj" fmla="val 76569"/>
          </a:avLst>
        </a:prstGeom>
        <a:solidFill>
          <a:schemeClr val="accent4">
            <a:hueOff val="0"/>
            <a:satOff val="0"/>
            <a:lumOff val="0"/>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a:t>Achieve Brand Domination in Product education.</a:t>
          </a:r>
          <a:endParaRPr lang="en-IN" sz="2100" b="1" kern="1200" dirty="0"/>
        </a:p>
      </dsp:txBody>
      <dsp:txXfrm>
        <a:off x="3047999" y="0"/>
        <a:ext cx="2032000" cy="1326910"/>
      </dsp:txXfrm>
    </dsp:sp>
    <dsp:sp modelId="{A0E41868-3B5E-478E-AEAD-2BD6F1FE4FE0}">
      <dsp:nvSpPr>
        <dsp:cNvPr id="0" name=""/>
        <dsp:cNvSpPr/>
      </dsp:nvSpPr>
      <dsp:spPr>
        <a:xfrm>
          <a:off x="2032000" y="1425234"/>
          <a:ext cx="4064000" cy="1326910"/>
        </a:xfrm>
        <a:prstGeom prst="trapezoid">
          <a:avLst>
            <a:gd name="adj" fmla="val 76569"/>
          </a:avLst>
        </a:prstGeom>
        <a:solidFill>
          <a:schemeClr val="accent4">
            <a:hueOff val="886254"/>
            <a:satOff val="321"/>
            <a:lumOff val="-2614"/>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a:t>Refocus Collabs to ‘How-To’s</a:t>
          </a:r>
          <a:r>
            <a:rPr lang="en-IN" sz="2100" kern="1200"/>
            <a:t>’</a:t>
          </a:r>
          <a:endParaRPr lang="en-IN" sz="2100" kern="1200" dirty="0"/>
        </a:p>
      </dsp:txBody>
      <dsp:txXfrm>
        <a:off x="2743199" y="1425234"/>
        <a:ext cx="2641600" cy="1326910"/>
      </dsp:txXfrm>
    </dsp:sp>
    <dsp:sp modelId="{4C2DE579-EB9C-4556-81C7-4256C775BAA3}">
      <dsp:nvSpPr>
        <dsp:cNvPr id="0" name=""/>
        <dsp:cNvSpPr/>
      </dsp:nvSpPr>
      <dsp:spPr>
        <a:xfrm>
          <a:off x="1016000" y="2653819"/>
          <a:ext cx="6095999" cy="1326910"/>
        </a:xfrm>
        <a:prstGeom prst="trapezoid">
          <a:avLst>
            <a:gd name="adj" fmla="val 76569"/>
          </a:avLst>
        </a:prstGeom>
        <a:solidFill>
          <a:schemeClr val="accent4">
            <a:hueOff val="1772507"/>
            <a:satOff val="641"/>
            <a:lumOff val="-5229"/>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t>Optimize Posting for Wednesdays.</a:t>
          </a:r>
        </a:p>
      </dsp:txBody>
      <dsp:txXfrm>
        <a:off x="2082799" y="2653819"/>
        <a:ext cx="3962400" cy="1326910"/>
      </dsp:txXfrm>
    </dsp:sp>
    <dsp:sp modelId="{12285438-6FE8-4AC9-8A69-D1903590EFFA}">
      <dsp:nvSpPr>
        <dsp:cNvPr id="0" name=""/>
        <dsp:cNvSpPr/>
      </dsp:nvSpPr>
      <dsp:spPr>
        <a:xfrm>
          <a:off x="0" y="3980730"/>
          <a:ext cx="8128000" cy="1326910"/>
        </a:xfrm>
        <a:prstGeom prst="trapezoid">
          <a:avLst>
            <a:gd name="adj" fmla="val 76569"/>
          </a:avLst>
        </a:prstGeom>
        <a:solidFill>
          <a:schemeClr val="accent4">
            <a:hueOff val="2658761"/>
            <a:satOff val="962"/>
            <a:lumOff val="-7843"/>
            <a:alphaOff val="0"/>
          </a:schemeClr>
        </a:solidFill>
        <a:ln>
          <a:noFill/>
        </a:ln>
        <a:effectLst>
          <a:outerShdw blurRad="38100" dist="25400" dir="5400000" rotWithShape="0">
            <a:srgbClr val="000000">
              <a:alpha val="4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t>Allocate 70% Budget to ‘Inspiring Tutorials reels’.</a:t>
          </a:r>
        </a:p>
      </dsp:txBody>
      <dsp:txXfrm>
        <a:off x="1422399" y="3980730"/>
        <a:ext cx="5283200" cy="132691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BE3FA-1093-4836-8ADC-A1B02BF205AE}" type="datetimeFigureOut">
              <a:rPr lang="en-IN" smtClean="0"/>
              <a:t>14-11-2025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B62-7E3E-4EEC-B91F-B097F635E618}" type="slidenum">
              <a:rPr lang="en-IN" smtClean="0"/>
              <a:t>‹#›</a:t>
            </a:fld>
            <a:endParaRPr lang="en-IN"/>
          </a:p>
        </p:txBody>
      </p:sp>
    </p:spTree>
    <p:extLst>
      <p:ext uri="{BB962C8B-B14F-4D97-AF65-F5344CB8AC3E}">
        <p14:creationId xmlns:p14="http://schemas.microsoft.com/office/powerpoint/2010/main" val="736344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5347B62-7E3E-4EEC-B91F-B097F635E618}" type="slidenum">
              <a:rPr lang="en-IN" smtClean="0"/>
              <a:t>4</a:t>
            </a:fld>
            <a:endParaRPr lang="en-IN"/>
          </a:p>
        </p:txBody>
      </p:sp>
    </p:spTree>
    <p:extLst>
      <p:ext uri="{BB962C8B-B14F-4D97-AF65-F5344CB8AC3E}">
        <p14:creationId xmlns:p14="http://schemas.microsoft.com/office/powerpoint/2010/main" val="1198184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173445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996852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3097061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516391-FB57-4AC9-BEFE-F422793B7D75}"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3042958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516391-FB57-4AC9-BEFE-F422793B7D75}" type="datetimeFigureOut">
              <a:rPr lang="en-IN" smtClean="0"/>
              <a:t>14-11-2025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393620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557276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522020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5747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516391-FB57-4AC9-BEFE-F422793B7D75}"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74600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516391-FB57-4AC9-BEFE-F422793B7D75}"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2473038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31160296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14978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3147789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26609780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3001774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1000472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516391-FB57-4AC9-BEFE-F422793B7D75}"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633AB-C22D-424F-A0C1-037CB00111F2}" type="slidenum">
              <a:rPr lang="en-IN" smtClean="0"/>
              <a:t>‹#›</a:t>
            </a:fld>
            <a:endParaRPr lang="en-IN"/>
          </a:p>
        </p:txBody>
      </p:sp>
    </p:spTree>
    <p:extLst>
      <p:ext uri="{BB962C8B-B14F-4D97-AF65-F5344CB8AC3E}">
        <p14:creationId xmlns:p14="http://schemas.microsoft.com/office/powerpoint/2010/main" val="1269192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0516391-FB57-4AC9-BEFE-F422793B7D75}" type="datetimeFigureOut">
              <a:rPr lang="en-IN" smtClean="0"/>
              <a:t>14-11-2025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E0633AB-C22D-424F-A0C1-037CB00111F2}" type="slidenum">
              <a:rPr lang="en-IN" smtClean="0"/>
              <a:t>‹#›</a:t>
            </a:fld>
            <a:endParaRPr lang="en-IN"/>
          </a:p>
        </p:txBody>
      </p:sp>
    </p:spTree>
    <p:extLst>
      <p:ext uri="{BB962C8B-B14F-4D97-AF65-F5344CB8AC3E}">
        <p14:creationId xmlns:p14="http://schemas.microsoft.com/office/powerpoint/2010/main" val="342402753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chart" Target="../charts/chart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70C72-D8B3-49AA-B777-5A7CF5737D2D}"/>
              </a:ext>
            </a:extLst>
          </p:cNvPr>
          <p:cNvSpPr>
            <a:spLocks noGrp="1"/>
          </p:cNvSpPr>
          <p:nvPr>
            <p:ph type="ctrTitle"/>
          </p:nvPr>
        </p:nvSpPr>
        <p:spPr/>
        <p:txBody>
          <a:bodyPr>
            <a:normAutofit fontScale="90000"/>
          </a:bodyPr>
          <a:lstStyle/>
          <a:p>
            <a:r>
              <a:rPr lang="en-US" dirty="0"/>
              <a:t>Instagram Performance Analytics for Sugar Cosmetics</a:t>
            </a:r>
            <a:endParaRPr lang="en-IN" dirty="0"/>
          </a:p>
        </p:txBody>
      </p:sp>
      <p:sp>
        <p:nvSpPr>
          <p:cNvPr id="3" name="Subtitle 2">
            <a:extLst>
              <a:ext uri="{FF2B5EF4-FFF2-40B4-BE49-F238E27FC236}">
                <a16:creationId xmlns:a16="http://schemas.microsoft.com/office/drawing/2014/main" id="{52D51942-A6F5-7B28-39C4-12462E8EBC75}"/>
              </a:ext>
            </a:extLst>
          </p:cNvPr>
          <p:cNvSpPr>
            <a:spLocks noGrp="1"/>
          </p:cNvSpPr>
          <p:nvPr>
            <p:ph type="subTitle" idx="1"/>
          </p:nvPr>
        </p:nvSpPr>
        <p:spPr/>
        <p:txBody>
          <a:bodyPr/>
          <a:lstStyle/>
          <a:p>
            <a:r>
              <a:rPr lang="en-US" dirty="0"/>
              <a:t>Digital Marketing | Social Media Analytics | Business Intelligence</a:t>
            </a:r>
            <a:endParaRPr lang="en-IN" dirty="0"/>
          </a:p>
        </p:txBody>
      </p:sp>
    </p:spTree>
    <p:extLst>
      <p:ext uri="{BB962C8B-B14F-4D97-AF65-F5344CB8AC3E}">
        <p14:creationId xmlns:p14="http://schemas.microsoft.com/office/powerpoint/2010/main" val="31598420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D5813-5907-9A10-02ED-152F76E0FAD5}"/>
              </a:ext>
            </a:extLst>
          </p:cNvPr>
          <p:cNvSpPr>
            <a:spLocks noGrp="1"/>
          </p:cNvSpPr>
          <p:nvPr>
            <p:ph type="title"/>
          </p:nvPr>
        </p:nvSpPr>
        <p:spPr/>
        <p:txBody>
          <a:bodyPr/>
          <a:lstStyle/>
          <a:p>
            <a:r>
              <a:rPr lang="en-US" dirty="0"/>
              <a:t>About Sugar Cosmetics</a:t>
            </a:r>
            <a:endParaRPr lang="en-IN" dirty="0"/>
          </a:p>
        </p:txBody>
      </p:sp>
      <p:sp>
        <p:nvSpPr>
          <p:cNvPr id="3" name="Text Placeholder 2">
            <a:extLst>
              <a:ext uri="{FF2B5EF4-FFF2-40B4-BE49-F238E27FC236}">
                <a16:creationId xmlns:a16="http://schemas.microsoft.com/office/drawing/2014/main" id="{62F03E59-7C88-F1B1-FF84-18FFF56A47D6}"/>
              </a:ext>
            </a:extLst>
          </p:cNvPr>
          <p:cNvSpPr>
            <a:spLocks noGrp="1"/>
          </p:cNvSpPr>
          <p:nvPr>
            <p:ph type="body" sz="half" idx="2"/>
          </p:nvPr>
        </p:nvSpPr>
        <p:spPr/>
        <p:txBody>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Sugar Cosmetics is a popular Indian beauty brand founded in 2015 by Vineeta Singh and Kaushik Mukherjee, known for its cruelty-free makeup and skincare products tailored for Indian skin tones and textures. The brand operates as a direct-to-consumer (D2C) and omnichannel business, selling products through its website, online marketplaces, and a growing number of physical stores. </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a:p>
            <a:endParaRPr lang="en-IN" dirty="0"/>
          </a:p>
        </p:txBody>
      </p:sp>
    </p:spTree>
    <p:extLst>
      <p:ext uri="{BB962C8B-B14F-4D97-AF65-F5344CB8AC3E}">
        <p14:creationId xmlns:p14="http://schemas.microsoft.com/office/powerpoint/2010/main" val="28563919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61204-A3F9-57E4-C0FE-4940E05EDF6D}"/>
              </a:ext>
            </a:extLst>
          </p:cNvPr>
          <p:cNvSpPr>
            <a:spLocks noGrp="1"/>
          </p:cNvSpPr>
          <p:nvPr>
            <p:ph type="title"/>
          </p:nvPr>
        </p:nvSpPr>
        <p:spPr/>
        <p:txBody>
          <a:bodyPr/>
          <a:lstStyle/>
          <a:p>
            <a:r>
              <a:rPr lang="en-US" dirty="0"/>
              <a:t>Brand and Products</a:t>
            </a:r>
            <a:endParaRPr lang="en-IN" dirty="0"/>
          </a:p>
        </p:txBody>
      </p:sp>
      <p:sp>
        <p:nvSpPr>
          <p:cNvPr id="3" name="Content Placeholder 2">
            <a:extLst>
              <a:ext uri="{FF2B5EF4-FFF2-40B4-BE49-F238E27FC236}">
                <a16:creationId xmlns:a16="http://schemas.microsoft.com/office/drawing/2014/main" id="{3D90188F-8A94-F414-393B-258C1D3AE770}"/>
              </a:ext>
            </a:extLst>
          </p:cNvPr>
          <p:cNvSpPr>
            <a:spLocks noGrp="1"/>
          </p:cNvSpPr>
          <p:nvPr>
            <p:ph idx="1"/>
          </p:nvPr>
        </p:nvSpPr>
        <p:spPr/>
        <p:txBody>
          <a:bodyPr/>
          <a:lstStyle/>
          <a:p>
            <a:pPr>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Target audience: The brand is marketed towards bold, independent women and is considered a cult favorite among millennials and Gen Z.</a:t>
            </a:r>
          </a:p>
          <a:p>
            <a:pPr>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Product Range: Its product categories include lips, eyes, face, nails, and skin.</a:t>
            </a:r>
          </a:p>
          <a:p>
            <a:pPr>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Quality: Products are manufactured in facilities across Germany, Italy, India, USA, and Korea. They are high-performance, cruelty-free, and designed to suit a wide range of Indian skin tones.</a:t>
            </a:r>
          </a:p>
          <a:p>
            <a:pPr>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Skincare: Sugar Cosmetics has expanded into skincare with the launch of its brand Quench, which focuses on vegan Korean skincare. </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2276183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236D4-5690-8743-30ED-B80909F6E28C}"/>
              </a:ext>
            </a:extLst>
          </p:cNvPr>
          <p:cNvSpPr>
            <a:spLocks noGrp="1"/>
          </p:cNvSpPr>
          <p:nvPr>
            <p:ph type="title"/>
          </p:nvPr>
        </p:nvSpPr>
        <p:spPr/>
        <p:txBody>
          <a:bodyPr/>
          <a:lstStyle/>
          <a:p>
            <a:r>
              <a:rPr lang="en-US" dirty="0"/>
              <a:t>Business Model and Strategy</a:t>
            </a:r>
            <a:endParaRPr lang="en-IN" dirty="0"/>
          </a:p>
        </p:txBody>
      </p:sp>
      <p:sp>
        <p:nvSpPr>
          <p:cNvPr id="3" name="Content Placeholder 2">
            <a:extLst>
              <a:ext uri="{FF2B5EF4-FFF2-40B4-BE49-F238E27FC236}">
                <a16:creationId xmlns:a16="http://schemas.microsoft.com/office/drawing/2014/main" id="{BB081F43-7D0A-8ADC-96D4-FAFD17AFDDC6}"/>
              </a:ext>
            </a:extLst>
          </p:cNvPr>
          <p:cNvSpPr>
            <a:spLocks noGrp="1"/>
          </p:cNvSpPr>
          <p:nvPr>
            <p:ph idx="1"/>
          </p:nvPr>
        </p:nvSpPr>
        <p:spPr/>
        <p:txBody>
          <a:bodyPr/>
          <a:lstStyle/>
          <a:p>
            <a:pPr>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Omnichannel presence: Sugar Cosmetics uses an omnichannel approach, combining online sales through its own website and marketplaces like </a:t>
            </a:r>
            <a:r>
              <a:rPr lang="en-US" b="1" dirty="0" err="1">
                <a:ln w="10160">
                  <a:solidFill>
                    <a:schemeClr val="accent5"/>
                  </a:solidFill>
                  <a:prstDash val="solid"/>
                </a:ln>
                <a:solidFill>
                  <a:srgbClr val="FFFFFF"/>
                </a:solidFill>
                <a:effectLst>
                  <a:outerShdw blurRad="38100" dist="22860" dir="5400000" algn="tl" rotWithShape="0">
                    <a:srgbClr val="000000">
                      <a:alpha val="30000"/>
                    </a:srgbClr>
                  </a:outerShdw>
                </a:effectLst>
              </a:rPr>
              <a:t>Nykaa</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 with a rapidly expanding offline retail footprint.</a:t>
            </a:r>
          </a:p>
          <a:p>
            <a:pPr>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D2C focus: The brand started as a direct-to-consumer (D2C) business but has expanded its reach through multiple sales channels.</a:t>
            </a:r>
          </a:p>
          <a:p>
            <a:pPr>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Marketing: Influencer marketing and social media have played a significant role in building the brand's popularity. </a:t>
            </a:r>
          </a:p>
        </p:txBody>
      </p:sp>
    </p:spTree>
    <p:extLst>
      <p:ext uri="{BB962C8B-B14F-4D97-AF65-F5344CB8AC3E}">
        <p14:creationId xmlns:p14="http://schemas.microsoft.com/office/powerpoint/2010/main" val="36638008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38E86-1233-8059-A69F-C06CD21F1113}"/>
              </a:ext>
            </a:extLst>
          </p:cNvPr>
          <p:cNvSpPr>
            <a:spLocks noGrp="1"/>
          </p:cNvSpPr>
          <p:nvPr>
            <p:ph type="title"/>
          </p:nvPr>
        </p:nvSpPr>
        <p:spPr/>
        <p:txBody>
          <a:bodyPr/>
          <a:lstStyle/>
          <a:p>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Project Objectives</a:t>
            </a:r>
            <a:endParaRPr lang="en-IN"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Content Placeholder 2">
            <a:extLst>
              <a:ext uri="{FF2B5EF4-FFF2-40B4-BE49-F238E27FC236}">
                <a16:creationId xmlns:a16="http://schemas.microsoft.com/office/drawing/2014/main" id="{AC5B4BEB-F981-E10B-A569-8D9115BE4081}"/>
              </a:ext>
            </a:extLst>
          </p:cNvPr>
          <p:cNvSpPr>
            <a:spLocks noGrp="1"/>
          </p:cNvSpPr>
          <p:nvPr>
            <p:ph idx="1"/>
          </p:nvPr>
        </p:nvSpPr>
        <p:spPr/>
        <p:txBody>
          <a:bodyPr/>
          <a:lstStyle/>
          <a:p>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Evaluate the performance of Sugar Cosmetics' Instagram account based on engagement and reach. </a:t>
            </a:r>
          </a:p>
          <a:p>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Identify trends in content performance (e.g., posts, reels, stories). ● Determine the best-performing content types, hashtags, and posting times.</a:t>
            </a:r>
          </a:p>
          <a:p>
            <a:r>
              <a:rPr lang="en-IN" b="1" dirty="0" err="1">
                <a:ln w="10160">
                  <a:solidFill>
                    <a:schemeClr val="accent5"/>
                  </a:solidFill>
                  <a:prstDash val="solid"/>
                </a:ln>
                <a:solidFill>
                  <a:srgbClr val="FFFFFF"/>
                </a:solidFill>
                <a:effectLst>
                  <a:outerShdw blurRad="38100" dist="22860" dir="5400000" algn="tl" rotWithShape="0">
                    <a:srgbClr val="000000">
                      <a:alpha val="30000"/>
                    </a:srgbClr>
                  </a:outerShdw>
                </a:effectLst>
              </a:rPr>
              <a:t>Analyze</a:t>
            </a:r>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 audience demographics and growth trends. </a:t>
            </a:r>
          </a:p>
          <a:p>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Provide data-driven insights to refine and support social media strategy. </a:t>
            </a:r>
          </a:p>
        </p:txBody>
      </p:sp>
    </p:spTree>
    <p:extLst>
      <p:ext uri="{BB962C8B-B14F-4D97-AF65-F5344CB8AC3E}">
        <p14:creationId xmlns:p14="http://schemas.microsoft.com/office/powerpoint/2010/main" val="32391721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86879-8350-5A68-2CCB-2D0A96508943}"/>
              </a:ext>
            </a:extLst>
          </p:cNvPr>
          <p:cNvSpPr>
            <a:spLocks noGrp="1"/>
          </p:cNvSpPr>
          <p:nvPr>
            <p:ph type="title"/>
          </p:nvPr>
        </p:nvSpPr>
        <p:spPr/>
        <p:txBody>
          <a:bodyPr/>
          <a:lstStyle/>
          <a:p>
            <a:r>
              <a:rPr lang="en-US" dirty="0"/>
              <a:t>Key Performance Indicators</a:t>
            </a:r>
            <a:endParaRPr lang="en-IN" dirty="0"/>
          </a:p>
        </p:txBody>
      </p:sp>
      <p:graphicFrame>
        <p:nvGraphicFramePr>
          <p:cNvPr id="12" name="Content Placeholder 11">
            <a:extLst>
              <a:ext uri="{FF2B5EF4-FFF2-40B4-BE49-F238E27FC236}">
                <a16:creationId xmlns:a16="http://schemas.microsoft.com/office/drawing/2014/main" id="{2CA4C8D5-BF33-F40E-ACE5-25006C76BF5B}"/>
              </a:ext>
            </a:extLst>
          </p:cNvPr>
          <p:cNvGraphicFramePr>
            <a:graphicFrameLocks noGrp="1"/>
          </p:cNvGraphicFramePr>
          <p:nvPr>
            <p:ph idx="1"/>
            <p:extLst>
              <p:ext uri="{D42A27DB-BD31-4B8C-83A1-F6EECF244321}">
                <p14:modId xmlns:p14="http://schemas.microsoft.com/office/powerpoint/2010/main" val="2002685392"/>
              </p:ext>
            </p:extLst>
          </p:nvPr>
        </p:nvGraphicFramePr>
        <p:xfrm>
          <a:off x="1103313" y="2052638"/>
          <a:ext cx="89471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68285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2">
                                            <p:graphicEl>
                                              <a:dgm id="{52E48414-A61D-4215-8380-35192A79B3BB}"/>
                                            </p:graphicEl>
                                          </p:spTgt>
                                        </p:tgtEl>
                                        <p:attrNameLst>
                                          <p:attrName>style.visibility</p:attrName>
                                        </p:attrNameLst>
                                      </p:cBhvr>
                                      <p:to>
                                        <p:strVal val="visible"/>
                                      </p:to>
                                    </p:set>
                                    <p:anim calcmode="lin" valueType="num">
                                      <p:cBhvr>
                                        <p:cTn id="14" dur="500" fill="hold"/>
                                        <p:tgtEl>
                                          <p:spTgt spid="12">
                                            <p:graphicEl>
                                              <a:dgm id="{52E48414-A61D-4215-8380-35192A79B3BB}"/>
                                            </p:graphicEl>
                                          </p:spTgt>
                                        </p:tgtEl>
                                        <p:attrNameLst>
                                          <p:attrName>ppt_w</p:attrName>
                                        </p:attrNameLst>
                                      </p:cBhvr>
                                      <p:tavLst>
                                        <p:tav tm="0">
                                          <p:val>
                                            <p:fltVal val="0"/>
                                          </p:val>
                                        </p:tav>
                                        <p:tav tm="100000">
                                          <p:val>
                                            <p:strVal val="#ppt_w"/>
                                          </p:val>
                                        </p:tav>
                                      </p:tavLst>
                                    </p:anim>
                                    <p:anim calcmode="lin" valueType="num">
                                      <p:cBhvr>
                                        <p:cTn id="15" dur="500" fill="hold"/>
                                        <p:tgtEl>
                                          <p:spTgt spid="12">
                                            <p:graphicEl>
                                              <a:dgm id="{52E48414-A61D-4215-8380-35192A79B3BB}"/>
                                            </p:graphicEl>
                                          </p:spTgt>
                                        </p:tgtEl>
                                        <p:attrNameLst>
                                          <p:attrName>ppt_h</p:attrName>
                                        </p:attrNameLst>
                                      </p:cBhvr>
                                      <p:tavLst>
                                        <p:tav tm="0">
                                          <p:val>
                                            <p:fltVal val="0"/>
                                          </p:val>
                                        </p:tav>
                                        <p:tav tm="100000">
                                          <p:val>
                                            <p:strVal val="#ppt_h"/>
                                          </p:val>
                                        </p:tav>
                                      </p:tavLst>
                                    </p:anim>
                                    <p:animEffect transition="in" filter="fade">
                                      <p:cBhvr>
                                        <p:cTn id="16" dur="500"/>
                                        <p:tgtEl>
                                          <p:spTgt spid="12">
                                            <p:graphicEl>
                                              <a:dgm id="{52E48414-A61D-4215-8380-35192A79B3BB}"/>
                                            </p:graphic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2">
                                            <p:graphicEl>
                                              <a:dgm id="{FBBB0674-A760-4012-A641-DD080E15FDB6}"/>
                                            </p:graphicEl>
                                          </p:spTgt>
                                        </p:tgtEl>
                                        <p:attrNameLst>
                                          <p:attrName>style.visibility</p:attrName>
                                        </p:attrNameLst>
                                      </p:cBhvr>
                                      <p:to>
                                        <p:strVal val="visible"/>
                                      </p:to>
                                    </p:set>
                                    <p:anim calcmode="lin" valueType="num">
                                      <p:cBhvr>
                                        <p:cTn id="19" dur="500" fill="hold"/>
                                        <p:tgtEl>
                                          <p:spTgt spid="12">
                                            <p:graphicEl>
                                              <a:dgm id="{FBBB0674-A760-4012-A641-DD080E15FDB6}"/>
                                            </p:graphicEl>
                                          </p:spTgt>
                                        </p:tgtEl>
                                        <p:attrNameLst>
                                          <p:attrName>ppt_w</p:attrName>
                                        </p:attrNameLst>
                                      </p:cBhvr>
                                      <p:tavLst>
                                        <p:tav tm="0">
                                          <p:val>
                                            <p:fltVal val="0"/>
                                          </p:val>
                                        </p:tav>
                                        <p:tav tm="100000">
                                          <p:val>
                                            <p:strVal val="#ppt_w"/>
                                          </p:val>
                                        </p:tav>
                                      </p:tavLst>
                                    </p:anim>
                                    <p:anim calcmode="lin" valueType="num">
                                      <p:cBhvr>
                                        <p:cTn id="20" dur="500" fill="hold"/>
                                        <p:tgtEl>
                                          <p:spTgt spid="12">
                                            <p:graphicEl>
                                              <a:dgm id="{FBBB0674-A760-4012-A641-DD080E15FDB6}"/>
                                            </p:graphicEl>
                                          </p:spTgt>
                                        </p:tgtEl>
                                        <p:attrNameLst>
                                          <p:attrName>ppt_h</p:attrName>
                                        </p:attrNameLst>
                                      </p:cBhvr>
                                      <p:tavLst>
                                        <p:tav tm="0">
                                          <p:val>
                                            <p:fltVal val="0"/>
                                          </p:val>
                                        </p:tav>
                                        <p:tav tm="100000">
                                          <p:val>
                                            <p:strVal val="#ppt_h"/>
                                          </p:val>
                                        </p:tav>
                                      </p:tavLst>
                                    </p:anim>
                                    <p:animEffect transition="in" filter="fade">
                                      <p:cBhvr>
                                        <p:cTn id="21" dur="500"/>
                                        <p:tgtEl>
                                          <p:spTgt spid="12">
                                            <p:graphicEl>
                                              <a:dgm id="{FBBB0674-A760-4012-A641-DD080E15FDB6}"/>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2">
                                            <p:graphicEl>
                                              <a:dgm id="{A81B10AF-7CBB-4A34-BA7C-756AD122E650}"/>
                                            </p:graphicEl>
                                          </p:spTgt>
                                        </p:tgtEl>
                                        <p:attrNameLst>
                                          <p:attrName>style.visibility</p:attrName>
                                        </p:attrNameLst>
                                      </p:cBhvr>
                                      <p:to>
                                        <p:strVal val="visible"/>
                                      </p:to>
                                    </p:set>
                                    <p:anim calcmode="lin" valueType="num">
                                      <p:cBhvr>
                                        <p:cTn id="26" dur="500" fill="hold"/>
                                        <p:tgtEl>
                                          <p:spTgt spid="12">
                                            <p:graphicEl>
                                              <a:dgm id="{A81B10AF-7CBB-4A34-BA7C-756AD122E650}"/>
                                            </p:graphicEl>
                                          </p:spTgt>
                                        </p:tgtEl>
                                        <p:attrNameLst>
                                          <p:attrName>ppt_w</p:attrName>
                                        </p:attrNameLst>
                                      </p:cBhvr>
                                      <p:tavLst>
                                        <p:tav tm="0">
                                          <p:val>
                                            <p:fltVal val="0"/>
                                          </p:val>
                                        </p:tav>
                                        <p:tav tm="100000">
                                          <p:val>
                                            <p:strVal val="#ppt_w"/>
                                          </p:val>
                                        </p:tav>
                                      </p:tavLst>
                                    </p:anim>
                                    <p:anim calcmode="lin" valueType="num">
                                      <p:cBhvr>
                                        <p:cTn id="27" dur="500" fill="hold"/>
                                        <p:tgtEl>
                                          <p:spTgt spid="12">
                                            <p:graphicEl>
                                              <a:dgm id="{A81B10AF-7CBB-4A34-BA7C-756AD122E650}"/>
                                            </p:graphicEl>
                                          </p:spTgt>
                                        </p:tgtEl>
                                        <p:attrNameLst>
                                          <p:attrName>ppt_h</p:attrName>
                                        </p:attrNameLst>
                                      </p:cBhvr>
                                      <p:tavLst>
                                        <p:tav tm="0">
                                          <p:val>
                                            <p:fltVal val="0"/>
                                          </p:val>
                                        </p:tav>
                                        <p:tav tm="100000">
                                          <p:val>
                                            <p:strVal val="#ppt_h"/>
                                          </p:val>
                                        </p:tav>
                                      </p:tavLst>
                                    </p:anim>
                                    <p:animEffect transition="in" filter="fade">
                                      <p:cBhvr>
                                        <p:cTn id="28" dur="500"/>
                                        <p:tgtEl>
                                          <p:spTgt spid="12">
                                            <p:graphicEl>
                                              <a:dgm id="{A81B10AF-7CBB-4A34-BA7C-756AD122E650}"/>
                                            </p:graphicEl>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2">
                                            <p:graphicEl>
                                              <a:dgm id="{9331A2C2-F113-405F-8B61-4A1D34878BB9}"/>
                                            </p:graphicEl>
                                          </p:spTgt>
                                        </p:tgtEl>
                                        <p:attrNameLst>
                                          <p:attrName>style.visibility</p:attrName>
                                        </p:attrNameLst>
                                      </p:cBhvr>
                                      <p:to>
                                        <p:strVal val="visible"/>
                                      </p:to>
                                    </p:set>
                                    <p:anim calcmode="lin" valueType="num">
                                      <p:cBhvr>
                                        <p:cTn id="31" dur="500" fill="hold"/>
                                        <p:tgtEl>
                                          <p:spTgt spid="12">
                                            <p:graphicEl>
                                              <a:dgm id="{9331A2C2-F113-405F-8B61-4A1D34878BB9}"/>
                                            </p:graphicEl>
                                          </p:spTgt>
                                        </p:tgtEl>
                                        <p:attrNameLst>
                                          <p:attrName>ppt_w</p:attrName>
                                        </p:attrNameLst>
                                      </p:cBhvr>
                                      <p:tavLst>
                                        <p:tav tm="0">
                                          <p:val>
                                            <p:fltVal val="0"/>
                                          </p:val>
                                        </p:tav>
                                        <p:tav tm="100000">
                                          <p:val>
                                            <p:strVal val="#ppt_w"/>
                                          </p:val>
                                        </p:tav>
                                      </p:tavLst>
                                    </p:anim>
                                    <p:anim calcmode="lin" valueType="num">
                                      <p:cBhvr>
                                        <p:cTn id="32" dur="500" fill="hold"/>
                                        <p:tgtEl>
                                          <p:spTgt spid="12">
                                            <p:graphicEl>
                                              <a:dgm id="{9331A2C2-F113-405F-8B61-4A1D34878BB9}"/>
                                            </p:graphicEl>
                                          </p:spTgt>
                                        </p:tgtEl>
                                        <p:attrNameLst>
                                          <p:attrName>ppt_h</p:attrName>
                                        </p:attrNameLst>
                                      </p:cBhvr>
                                      <p:tavLst>
                                        <p:tav tm="0">
                                          <p:val>
                                            <p:fltVal val="0"/>
                                          </p:val>
                                        </p:tav>
                                        <p:tav tm="100000">
                                          <p:val>
                                            <p:strVal val="#ppt_h"/>
                                          </p:val>
                                        </p:tav>
                                      </p:tavLst>
                                    </p:anim>
                                    <p:animEffect transition="in" filter="fade">
                                      <p:cBhvr>
                                        <p:cTn id="33" dur="500"/>
                                        <p:tgtEl>
                                          <p:spTgt spid="12">
                                            <p:graphicEl>
                                              <a:dgm id="{9331A2C2-F113-405F-8B61-4A1D34878BB9}"/>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2">
                                            <p:graphicEl>
                                              <a:dgm id="{E406FE99-28FC-46F0-ADF2-A1CF1402134E}"/>
                                            </p:graphicEl>
                                          </p:spTgt>
                                        </p:tgtEl>
                                        <p:attrNameLst>
                                          <p:attrName>style.visibility</p:attrName>
                                        </p:attrNameLst>
                                      </p:cBhvr>
                                      <p:to>
                                        <p:strVal val="visible"/>
                                      </p:to>
                                    </p:set>
                                    <p:anim calcmode="lin" valueType="num">
                                      <p:cBhvr>
                                        <p:cTn id="38" dur="500" fill="hold"/>
                                        <p:tgtEl>
                                          <p:spTgt spid="12">
                                            <p:graphicEl>
                                              <a:dgm id="{E406FE99-28FC-46F0-ADF2-A1CF1402134E}"/>
                                            </p:graphicEl>
                                          </p:spTgt>
                                        </p:tgtEl>
                                        <p:attrNameLst>
                                          <p:attrName>ppt_w</p:attrName>
                                        </p:attrNameLst>
                                      </p:cBhvr>
                                      <p:tavLst>
                                        <p:tav tm="0">
                                          <p:val>
                                            <p:fltVal val="0"/>
                                          </p:val>
                                        </p:tav>
                                        <p:tav tm="100000">
                                          <p:val>
                                            <p:strVal val="#ppt_w"/>
                                          </p:val>
                                        </p:tav>
                                      </p:tavLst>
                                    </p:anim>
                                    <p:anim calcmode="lin" valueType="num">
                                      <p:cBhvr>
                                        <p:cTn id="39" dur="500" fill="hold"/>
                                        <p:tgtEl>
                                          <p:spTgt spid="12">
                                            <p:graphicEl>
                                              <a:dgm id="{E406FE99-28FC-46F0-ADF2-A1CF1402134E}"/>
                                            </p:graphicEl>
                                          </p:spTgt>
                                        </p:tgtEl>
                                        <p:attrNameLst>
                                          <p:attrName>ppt_h</p:attrName>
                                        </p:attrNameLst>
                                      </p:cBhvr>
                                      <p:tavLst>
                                        <p:tav tm="0">
                                          <p:val>
                                            <p:fltVal val="0"/>
                                          </p:val>
                                        </p:tav>
                                        <p:tav tm="100000">
                                          <p:val>
                                            <p:strVal val="#ppt_h"/>
                                          </p:val>
                                        </p:tav>
                                      </p:tavLst>
                                    </p:anim>
                                    <p:animEffect transition="in" filter="fade">
                                      <p:cBhvr>
                                        <p:cTn id="40" dur="500"/>
                                        <p:tgtEl>
                                          <p:spTgt spid="12">
                                            <p:graphicEl>
                                              <a:dgm id="{E406FE99-28FC-46F0-ADF2-A1CF1402134E}"/>
                                            </p:graphicEl>
                                          </p:spTgt>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2">
                                            <p:graphicEl>
                                              <a:dgm id="{437389B9-8F17-437C-B18C-001E98509462}"/>
                                            </p:graphicEl>
                                          </p:spTgt>
                                        </p:tgtEl>
                                        <p:attrNameLst>
                                          <p:attrName>style.visibility</p:attrName>
                                        </p:attrNameLst>
                                      </p:cBhvr>
                                      <p:to>
                                        <p:strVal val="visible"/>
                                      </p:to>
                                    </p:set>
                                    <p:anim calcmode="lin" valueType="num">
                                      <p:cBhvr>
                                        <p:cTn id="43" dur="500" fill="hold"/>
                                        <p:tgtEl>
                                          <p:spTgt spid="12">
                                            <p:graphicEl>
                                              <a:dgm id="{437389B9-8F17-437C-B18C-001E98509462}"/>
                                            </p:graphicEl>
                                          </p:spTgt>
                                        </p:tgtEl>
                                        <p:attrNameLst>
                                          <p:attrName>ppt_w</p:attrName>
                                        </p:attrNameLst>
                                      </p:cBhvr>
                                      <p:tavLst>
                                        <p:tav tm="0">
                                          <p:val>
                                            <p:fltVal val="0"/>
                                          </p:val>
                                        </p:tav>
                                        <p:tav tm="100000">
                                          <p:val>
                                            <p:strVal val="#ppt_w"/>
                                          </p:val>
                                        </p:tav>
                                      </p:tavLst>
                                    </p:anim>
                                    <p:anim calcmode="lin" valueType="num">
                                      <p:cBhvr>
                                        <p:cTn id="44" dur="500" fill="hold"/>
                                        <p:tgtEl>
                                          <p:spTgt spid="12">
                                            <p:graphicEl>
                                              <a:dgm id="{437389B9-8F17-437C-B18C-001E98509462}"/>
                                            </p:graphicEl>
                                          </p:spTgt>
                                        </p:tgtEl>
                                        <p:attrNameLst>
                                          <p:attrName>ppt_h</p:attrName>
                                        </p:attrNameLst>
                                      </p:cBhvr>
                                      <p:tavLst>
                                        <p:tav tm="0">
                                          <p:val>
                                            <p:fltVal val="0"/>
                                          </p:val>
                                        </p:tav>
                                        <p:tav tm="100000">
                                          <p:val>
                                            <p:strVal val="#ppt_h"/>
                                          </p:val>
                                        </p:tav>
                                      </p:tavLst>
                                    </p:anim>
                                    <p:animEffect transition="in" filter="fade">
                                      <p:cBhvr>
                                        <p:cTn id="45" dur="500"/>
                                        <p:tgtEl>
                                          <p:spTgt spid="12">
                                            <p:graphicEl>
                                              <a:dgm id="{437389B9-8F17-437C-B18C-001E98509462}"/>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2">
                                            <p:graphicEl>
                                              <a:dgm id="{D8C249B2-CC54-4C35-947F-F0022EADDE64}"/>
                                            </p:graphicEl>
                                          </p:spTgt>
                                        </p:tgtEl>
                                        <p:attrNameLst>
                                          <p:attrName>style.visibility</p:attrName>
                                        </p:attrNameLst>
                                      </p:cBhvr>
                                      <p:to>
                                        <p:strVal val="visible"/>
                                      </p:to>
                                    </p:set>
                                    <p:anim calcmode="lin" valueType="num">
                                      <p:cBhvr>
                                        <p:cTn id="50" dur="500" fill="hold"/>
                                        <p:tgtEl>
                                          <p:spTgt spid="12">
                                            <p:graphicEl>
                                              <a:dgm id="{D8C249B2-CC54-4C35-947F-F0022EADDE64}"/>
                                            </p:graphicEl>
                                          </p:spTgt>
                                        </p:tgtEl>
                                        <p:attrNameLst>
                                          <p:attrName>ppt_w</p:attrName>
                                        </p:attrNameLst>
                                      </p:cBhvr>
                                      <p:tavLst>
                                        <p:tav tm="0">
                                          <p:val>
                                            <p:fltVal val="0"/>
                                          </p:val>
                                        </p:tav>
                                        <p:tav tm="100000">
                                          <p:val>
                                            <p:strVal val="#ppt_w"/>
                                          </p:val>
                                        </p:tav>
                                      </p:tavLst>
                                    </p:anim>
                                    <p:anim calcmode="lin" valueType="num">
                                      <p:cBhvr>
                                        <p:cTn id="51" dur="500" fill="hold"/>
                                        <p:tgtEl>
                                          <p:spTgt spid="12">
                                            <p:graphicEl>
                                              <a:dgm id="{D8C249B2-CC54-4C35-947F-F0022EADDE64}"/>
                                            </p:graphicEl>
                                          </p:spTgt>
                                        </p:tgtEl>
                                        <p:attrNameLst>
                                          <p:attrName>ppt_h</p:attrName>
                                        </p:attrNameLst>
                                      </p:cBhvr>
                                      <p:tavLst>
                                        <p:tav tm="0">
                                          <p:val>
                                            <p:fltVal val="0"/>
                                          </p:val>
                                        </p:tav>
                                        <p:tav tm="100000">
                                          <p:val>
                                            <p:strVal val="#ppt_h"/>
                                          </p:val>
                                        </p:tav>
                                      </p:tavLst>
                                    </p:anim>
                                    <p:animEffect transition="in" filter="fade">
                                      <p:cBhvr>
                                        <p:cTn id="52" dur="500"/>
                                        <p:tgtEl>
                                          <p:spTgt spid="12">
                                            <p:graphicEl>
                                              <a:dgm id="{D8C249B2-CC54-4C35-947F-F0022EADDE64}"/>
                                            </p:graphicEl>
                                          </p:spTgt>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2">
                                            <p:graphicEl>
                                              <a:dgm id="{351EB693-4AF7-4098-93CB-9D1F381DB90F}"/>
                                            </p:graphicEl>
                                          </p:spTgt>
                                        </p:tgtEl>
                                        <p:attrNameLst>
                                          <p:attrName>style.visibility</p:attrName>
                                        </p:attrNameLst>
                                      </p:cBhvr>
                                      <p:to>
                                        <p:strVal val="visible"/>
                                      </p:to>
                                    </p:set>
                                    <p:anim calcmode="lin" valueType="num">
                                      <p:cBhvr>
                                        <p:cTn id="55" dur="500" fill="hold"/>
                                        <p:tgtEl>
                                          <p:spTgt spid="12">
                                            <p:graphicEl>
                                              <a:dgm id="{351EB693-4AF7-4098-93CB-9D1F381DB90F}"/>
                                            </p:graphicEl>
                                          </p:spTgt>
                                        </p:tgtEl>
                                        <p:attrNameLst>
                                          <p:attrName>ppt_w</p:attrName>
                                        </p:attrNameLst>
                                      </p:cBhvr>
                                      <p:tavLst>
                                        <p:tav tm="0">
                                          <p:val>
                                            <p:fltVal val="0"/>
                                          </p:val>
                                        </p:tav>
                                        <p:tav tm="100000">
                                          <p:val>
                                            <p:strVal val="#ppt_w"/>
                                          </p:val>
                                        </p:tav>
                                      </p:tavLst>
                                    </p:anim>
                                    <p:anim calcmode="lin" valueType="num">
                                      <p:cBhvr>
                                        <p:cTn id="56" dur="500" fill="hold"/>
                                        <p:tgtEl>
                                          <p:spTgt spid="12">
                                            <p:graphicEl>
                                              <a:dgm id="{351EB693-4AF7-4098-93CB-9D1F381DB90F}"/>
                                            </p:graphicEl>
                                          </p:spTgt>
                                        </p:tgtEl>
                                        <p:attrNameLst>
                                          <p:attrName>ppt_h</p:attrName>
                                        </p:attrNameLst>
                                      </p:cBhvr>
                                      <p:tavLst>
                                        <p:tav tm="0">
                                          <p:val>
                                            <p:fltVal val="0"/>
                                          </p:val>
                                        </p:tav>
                                        <p:tav tm="100000">
                                          <p:val>
                                            <p:strVal val="#ppt_h"/>
                                          </p:val>
                                        </p:tav>
                                      </p:tavLst>
                                    </p:anim>
                                    <p:animEffect transition="in" filter="fade">
                                      <p:cBhvr>
                                        <p:cTn id="57" dur="500"/>
                                        <p:tgtEl>
                                          <p:spTgt spid="12">
                                            <p:graphicEl>
                                              <a:dgm id="{351EB693-4AF7-4098-93CB-9D1F381DB90F}"/>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12">
                                            <p:graphicEl>
                                              <a:dgm id="{E197E998-F61E-4C29-9D61-9797A41F0C9F}"/>
                                            </p:graphicEl>
                                          </p:spTgt>
                                        </p:tgtEl>
                                        <p:attrNameLst>
                                          <p:attrName>style.visibility</p:attrName>
                                        </p:attrNameLst>
                                      </p:cBhvr>
                                      <p:to>
                                        <p:strVal val="visible"/>
                                      </p:to>
                                    </p:set>
                                    <p:anim calcmode="lin" valueType="num">
                                      <p:cBhvr>
                                        <p:cTn id="62" dur="500" fill="hold"/>
                                        <p:tgtEl>
                                          <p:spTgt spid="12">
                                            <p:graphicEl>
                                              <a:dgm id="{E197E998-F61E-4C29-9D61-9797A41F0C9F}"/>
                                            </p:graphicEl>
                                          </p:spTgt>
                                        </p:tgtEl>
                                        <p:attrNameLst>
                                          <p:attrName>ppt_w</p:attrName>
                                        </p:attrNameLst>
                                      </p:cBhvr>
                                      <p:tavLst>
                                        <p:tav tm="0">
                                          <p:val>
                                            <p:fltVal val="0"/>
                                          </p:val>
                                        </p:tav>
                                        <p:tav tm="100000">
                                          <p:val>
                                            <p:strVal val="#ppt_w"/>
                                          </p:val>
                                        </p:tav>
                                      </p:tavLst>
                                    </p:anim>
                                    <p:anim calcmode="lin" valueType="num">
                                      <p:cBhvr>
                                        <p:cTn id="63" dur="500" fill="hold"/>
                                        <p:tgtEl>
                                          <p:spTgt spid="12">
                                            <p:graphicEl>
                                              <a:dgm id="{E197E998-F61E-4C29-9D61-9797A41F0C9F}"/>
                                            </p:graphicEl>
                                          </p:spTgt>
                                        </p:tgtEl>
                                        <p:attrNameLst>
                                          <p:attrName>ppt_h</p:attrName>
                                        </p:attrNameLst>
                                      </p:cBhvr>
                                      <p:tavLst>
                                        <p:tav tm="0">
                                          <p:val>
                                            <p:fltVal val="0"/>
                                          </p:val>
                                        </p:tav>
                                        <p:tav tm="100000">
                                          <p:val>
                                            <p:strVal val="#ppt_h"/>
                                          </p:val>
                                        </p:tav>
                                      </p:tavLst>
                                    </p:anim>
                                    <p:animEffect transition="in" filter="fade">
                                      <p:cBhvr>
                                        <p:cTn id="64" dur="500"/>
                                        <p:tgtEl>
                                          <p:spTgt spid="12">
                                            <p:graphicEl>
                                              <a:dgm id="{E197E998-F61E-4C29-9D61-9797A41F0C9F}"/>
                                            </p:graphicEl>
                                          </p:spTgt>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2">
                                            <p:graphicEl>
                                              <a:dgm id="{D9FE2BEF-8C01-4D75-947A-92C912803363}"/>
                                            </p:graphicEl>
                                          </p:spTgt>
                                        </p:tgtEl>
                                        <p:attrNameLst>
                                          <p:attrName>style.visibility</p:attrName>
                                        </p:attrNameLst>
                                      </p:cBhvr>
                                      <p:to>
                                        <p:strVal val="visible"/>
                                      </p:to>
                                    </p:set>
                                    <p:anim calcmode="lin" valueType="num">
                                      <p:cBhvr>
                                        <p:cTn id="67" dur="500" fill="hold"/>
                                        <p:tgtEl>
                                          <p:spTgt spid="12">
                                            <p:graphicEl>
                                              <a:dgm id="{D9FE2BEF-8C01-4D75-947A-92C912803363}"/>
                                            </p:graphicEl>
                                          </p:spTgt>
                                        </p:tgtEl>
                                        <p:attrNameLst>
                                          <p:attrName>ppt_w</p:attrName>
                                        </p:attrNameLst>
                                      </p:cBhvr>
                                      <p:tavLst>
                                        <p:tav tm="0">
                                          <p:val>
                                            <p:fltVal val="0"/>
                                          </p:val>
                                        </p:tav>
                                        <p:tav tm="100000">
                                          <p:val>
                                            <p:strVal val="#ppt_w"/>
                                          </p:val>
                                        </p:tav>
                                      </p:tavLst>
                                    </p:anim>
                                    <p:anim calcmode="lin" valueType="num">
                                      <p:cBhvr>
                                        <p:cTn id="68" dur="500" fill="hold"/>
                                        <p:tgtEl>
                                          <p:spTgt spid="12">
                                            <p:graphicEl>
                                              <a:dgm id="{D9FE2BEF-8C01-4D75-947A-92C912803363}"/>
                                            </p:graphicEl>
                                          </p:spTgt>
                                        </p:tgtEl>
                                        <p:attrNameLst>
                                          <p:attrName>ppt_h</p:attrName>
                                        </p:attrNameLst>
                                      </p:cBhvr>
                                      <p:tavLst>
                                        <p:tav tm="0">
                                          <p:val>
                                            <p:fltVal val="0"/>
                                          </p:val>
                                        </p:tav>
                                        <p:tav tm="100000">
                                          <p:val>
                                            <p:strVal val="#ppt_h"/>
                                          </p:val>
                                        </p:tav>
                                      </p:tavLst>
                                    </p:anim>
                                    <p:animEffect transition="in" filter="fade">
                                      <p:cBhvr>
                                        <p:cTn id="69" dur="500"/>
                                        <p:tgtEl>
                                          <p:spTgt spid="12">
                                            <p:graphicEl>
                                              <a:dgm id="{D9FE2BEF-8C01-4D75-947A-92C91280336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2"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D7D2A-DD28-DFD5-C565-4C6BD433C5BE}"/>
              </a:ext>
            </a:extLst>
          </p:cNvPr>
          <p:cNvSpPr>
            <a:spLocks noGrp="1"/>
          </p:cNvSpPr>
          <p:nvPr>
            <p:ph type="title"/>
          </p:nvPr>
        </p:nvSpPr>
        <p:spPr/>
        <p:txBody>
          <a:bodyPr/>
          <a:lstStyle/>
          <a:p>
            <a:r>
              <a:rPr lang="en-US" dirty="0"/>
              <a:t>Post Type Distribution</a:t>
            </a:r>
            <a:endParaRPr lang="en-IN" dirty="0"/>
          </a:p>
        </p:txBody>
      </p:sp>
      <p:graphicFrame>
        <p:nvGraphicFramePr>
          <p:cNvPr id="2592" name="Chart 2591">
            <a:extLst>
              <a:ext uri="{FF2B5EF4-FFF2-40B4-BE49-F238E27FC236}">
                <a16:creationId xmlns:a16="http://schemas.microsoft.com/office/drawing/2014/main" id="{2E2D1993-6476-777D-2D14-BF2E3FE063AA}"/>
              </a:ext>
            </a:extLst>
          </p:cNvPr>
          <p:cNvGraphicFramePr/>
          <p:nvPr>
            <p:extLst>
              <p:ext uri="{D42A27DB-BD31-4B8C-83A1-F6EECF244321}">
                <p14:modId xmlns:p14="http://schemas.microsoft.com/office/powerpoint/2010/main" val="2595304072"/>
              </p:ext>
            </p:extLst>
          </p:nvPr>
        </p:nvGraphicFramePr>
        <p:xfrm>
          <a:off x="3543709" y="1853248"/>
          <a:ext cx="5104581" cy="44835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89999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592">
                                            <p:graphicEl>
                                              <a:chart seriesIdx="-3" categoryIdx="-3" bldStep="gridLegend"/>
                                            </p:graphicEl>
                                          </p:spTgt>
                                        </p:tgtEl>
                                        <p:attrNameLst>
                                          <p:attrName>style.visibility</p:attrName>
                                        </p:attrNameLst>
                                      </p:cBhvr>
                                      <p:to>
                                        <p:strVal val="visible"/>
                                      </p:to>
                                    </p:set>
                                    <p:animEffect transition="in" filter="wheel(1)">
                                      <p:cBhvr>
                                        <p:cTn id="7" dur="2000"/>
                                        <p:tgtEl>
                                          <p:spTgt spid="2592">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592">
                                            <p:graphicEl>
                                              <a:chart seriesIdx="-4" categoryIdx="0" bldStep="category"/>
                                            </p:graphicEl>
                                          </p:spTgt>
                                        </p:tgtEl>
                                        <p:attrNameLst>
                                          <p:attrName>style.visibility</p:attrName>
                                        </p:attrNameLst>
                                      </p:cBhvr>
                                      <p:to>
                                        <p:strVal val="visible"/>
                                      </p:to>
                                    </p:set>
                                    <p:animEffect transition="in" filter="wheel(1)">
                                      <p:cBhvr>
                                        <p:cTn id="12" dur="2000"/>
                                        <p:tgtEl>
                                          <p:spTgt spid="2592">
                                            <p:graphicEl>
                                              <a:chart seriesIdx="-4" categoryIdx="0" bldStep="category"/>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592">
                                            <p:graphicEl>
                                              <a:chart seriesIdx="-4" categoryIdx="1" bldStep="category"/>
                                            </p:graphicEl>
                                          </p:spTgt>
                                        </p:tgtEl>
                                        <p:attrNameLst>
                                          <p:attrName>style.visibility</p:attrName>
                                        </p:attrNameLst>
                                      </p:cBhvr>
                                      <p:to>
                                        <p:strVal val="visible"/>
                                      </p:to>
                                    </p:set>
                                    <p:animEffect transition="in" filter="wheel(1)">
                                      <p:cBhvr>
                                        <p:cTn id="17" dur="2000"/>
                                        <p:tgtEl>
                                          <p:spTgt spid="2592">
                                            <p:graphicEl>
                                              <a:chart seriesIdx="-4" categoryIdx="1" bldStep="category"/>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2592">
                                            <p:graphicEl>
                                              <a:chart seriesIdx="-4" categoryIdx="2" bldStep="category"/>
                                            </p:graphicEl>
                                          </p:spTgt>
                                        </p:tgtEl>
                                        <p:attrNameLst>
                                          <p:attrName>style.visibility</p:attrName>
                                        </p:attrNameLst>
                                      </p:cBhvr>
                                      <p:to>
                                        <p:strVal val="visible"/>
                                      </p:to>
                                    </p:set>
                                    <p:animEffect transition="in" filter="wheel(1)">
                                      <p:cBhvr>
                                        <p:cTn id="22" dur="2000"/>
                                        <p:tgtEl>
                                          <p:spTgt spid="2592">
                                            <p:graphicEl>
                                              <a:chart seriesIdx="-4" categoryIdx="2" bldStep="category"/>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2592">
                                            <p:graphicEl>
                                              <a:chart seriesIdx="-4" categoryIdx="3" bldStep="category"/>
                                            </p:graphicEl>
                                          </p:spTgt>
                                        </p:tgtEl>
                                        <p:attrNameLst>
                                          <p:attrName>style.visibility</p:attrName>
                                        </p:attrNameLst>
                                      </p:cBhvr>
                                      <p:to>
                                        <p:strVal val="visible"/>
                                      </p:to>
                                    </p:set>
                                    <p:animEffect transition="in" filter="wheel(1)">
                                      <p:cBhvr>
                                        <p:cTn id="27" dur="2000"/>
                                        <p:tgtEl>
                                          <p:spTgt spid="2592">
                                            <p:graphicEl>
                                              <a:chart seriesIdx="-4" categoryIdx="3"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92" grpId="0">
        <p:bldSub>
          <a:bldChart bld="category"/>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6CB8-C80F-3B83-3895-1E8B2A4B7DE8}"/>
              </a:ext>
            </a:extLst>
          </p:cNvPr>
          <p:cNvSpPr>
            <a:spLocks noGrp="1"/>
          </p:cNvSpPr>
          <p:nvPr>
            <p:ph type="title"/>
          </p:nvPr>
        </p:nvSpPr>
        <p:spPr/>
        <p:txBody>
          <a:bodyPr/>
          <a:lstStyle/>
          <a:p>
            <a:r>
              <a:rPr lang="en-US" dirty="0"/>
              <a:t>Monthly Shares and Profile Visits</a:t>
            </a:r>
            <a:endParaRPr lang="en-IN" dirty="0"/>
          </a:p>
        </p:txBody>
      </p:sp>
      <p:graphicFrame>
        <p:nvGraphicFramePr>
          <p:cNvPr id="13" name="Content Placeholder 12">
            <a:extLst>
              <a:ext uri="{FF2B5EF4-FFF2-40B4-BE49-F238E27FC236}">
                <a16:creationId xmlns:a16="http://schemas.microsoft.com/office/drawing/2014/main" id="{9DAFF993-2C6B-6C69-8145-6A2B23C94C59}"/>
              </a:ext>
            </a:extLst>
          </p:cNvPr>
          <p:cNvGraphicFramePr>
            <a:graphicFrameLocks noGrp="1"/>
          </p:cNvGraphicFramePr>
          <p:nvPr>
            <p:ph sz="half" idx="1"/>
            <p:extLst>
              <p:ext uri="{D42A27DB-BD31-4B8C-83A1-F6EECF244321}">
                <p14:modId xmlns:p14="http://schemas.microsoft.com/office/powerpoint/2010/main" val="2057491654"/>
              </p:ext>
            </p:extLst>
          </p:nvPr>
        </p:nvGraphicFramePr>
        <p:xfrm>
          <a:off x="1" y="2060575"/>
          <a:ext cx="5499100" cy="4195763"/>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 Placeholder 9">
            <a:extLst>
              <a:ext uri="{FF2B5EF4-FFF2-40B4-BE49-F238E27FC236}">
                <a16:creationId xmlns:a16="http://schemas.microsoft.com/office/drawing/2014/main" id="{6875DC8A-68AE-7873-4B48-6F817DA3AE92}"/>
              </a:ext>
            </a:extLst>
          </p:cNvPr>
          <p:cNvSpPr>
            <a:spLocks noGrp="1"/>
          </p:cNvSpPr>
          <p:nvPr>
            <p:ph sz="half" idx="2"/>
          </p:nvPr>
        </p:nvSpPr>
        <p:spPr>
          <a:xfrm>
            <a:off x="5654493" y="1317524"/>
            <a:ext cx="6321197" cy="5447070"/>
          </a:xfrm>
        </p:spPr>
        <p:txBody>
          <a:bodyPr>
            <a:normAutofit fontScale="92500"/>
          </a:bodyPr>
          <a:lstStyle/>
          <a:p>
            <a:pPr marL="285750" indent="-285750">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Strong Initial Growth (May - July 2024): The performance shows a rapid and steep increase in both Reach and Interactions from May 2024 to July 2024. Reach surged from 32M to a sustained level of 80M - 84M, and Interactions similarly jumped from 6M to 14M - 15M. This indicates a highly successful campaign or strategy implemented at the start of the period.</a:t>
            </a:r>
          </a:p>
          <a:p>
            <a:pPr marL="285750" indent="-285750">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Sustained Plateau (July 2024 - Feb 2025): For over half a year, the brand successfully maintained a very high, stable level of activity and visibility, keeping Reach consistently around the 84M mark and Interactions at 14M-15M. This is a strong indicator of successful, long-term content strategy and audience retention.</a:t>
            </a:r>
          </a:p>
          <a:p>
            <a:pPr marL="285750" indent="-285750">
              <a:buFont typeface="Wingdings" panose="05000000000000000000" pitchFamily="2" charset="2"/>
              <a:buChar char="ü"/>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Interpretation: This is generally a good sign. It suggests that the Engagement Rate (Interactions / Reach) is highly stable. Regardless of whether Reach was low (May) or high (July), the audience that saw the content interacted with it at a consistent proportional rate.</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39126349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13">
                                            <p:graphicEl>
                                              <a:chart seriesIdx="-3" categoryIdx="-3" bldStep="gridLegend"/>
                                            </p:graphicEl>
                                          </p:spTgt>
                                        </p:tgtEl>
                                        <p:attrNameLst>
                                          <p:attrName>style.visibility</p:attrName>
                                        </p:attrNameLst>
                                      </p:cBhvr>
                                      <p:to>
                                        <p:strVal val="visible"/>
                                      </p:to>
                                    </p:set>
                                    <p:animEffect transition="in" filter="randombar(horizontal)">
                                      <p:cBhvr>
                                        <p:cTn id="14" dur="500"/>
                                        <p:tgtEl>
                                          <p:spTgt spid="13">
                                            <p:graphicEl>
                                              <a:chart seriesIdx="-3" categoryIdx="-3" bldStep="gridLegend"/>
                                            </p:graphic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13">
                                            <p:graphicEl>
                                              <a:chart seriesIdx="-4" categoryIdx="0" bldStep="category"/>
                                            </p:graphicEl>
                                          </p:spTgt>
                                        </p:tgtEl>
                                        <p:attrNameLst>
                                          <p:attrName>style.visibility</p:attrName>
                                        </p:attrNameLst>
                                      </p:cBhvr>
                                      <p:to>
                                        <p:strVal val="visible"/>
                                      </p:to>
                                    </p:set>
                                    <p:animEffect transition="in" filter="randombar(horizontal)">
                                      <p:cBhvr>
                                        <p:cTn id="19" dur="500"/>
                                        <p:tgtEl>
                                          <p:spTgt spid="13">
                                            <p:graphicEl>
                                              <a:chart seriesIdx="-4" categoryIdx="0" bldStep="category"/>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13">
                                            <p:graphicEl>
                                              <a:chart seriesIdx="-4" categoryIdx="1" bldStep="category"/>
                                            </p:graphicEl>
                                          </p:spTgt>
                                        </p:tgtEl>
                                        <p:attrNameLst>
                                          <p:attrName>style.visibility</p:attrName>
                                        </p:attrNameLst>
                                      </p:cBhvr>
                                      <p:to>
                                        <p:strVal val="visible"/>
                                      </p:to>
                                    </p:set>
                                    <p:animEffect transition="in" filter="randombar(horizontal)">
                                      <p:cBhvr>
                                        <p:cTn id="24" dur="500"/>
                                        <p:tgtEl>
                                          <p:spTgt spid="13">
                                            <p:graphicEl>
                                              <a:chart seriesIdx="-4" categoryIdx="1" bldStep="category"/>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3">
                                            <p:graphicEl>
                                              <a:chart seriesIdx="-4" categoryIdx="2" bldStep="category"/>
                                            </p:graphicEl>
                                          </p:spTgt>
                                        </p:tgtEl>
                                        <p:attrNameLst>
                                          <p:attrName>style.visibility</p:attrName>
                                        </p:attrNameLst>
                                      </p:cBhvr>
                                      <p:to>
                                        <p:strVal val="visible"/>
                                      </p:to>
                                    </p:set>
                                    <p:animEffect transition="in" filter="randombar(horizontal)">
                                      <p:cBhvr>
                                        <p:cTn id="29" dur="500"/>
                                        <p:tgtEl>
                                          <p:spTgt spid="13">
                                            <p:graphicEl>
                                              <a:chart seriesIdx="-4" categoryIdx="2" bldStep="category"/>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13">
                                            <p:graphicEl>
                                              <a:chart seriesIdx="-4" categoryIdx="3" bldStep="category"/>
                                            </p:graphicEl>
                                          </p:spTgt>
                                        </p:tgtEl>
                                        <p:attrNameLst>
                                          <p:attrName>style.visibility</p:attrName>
                                        </p:attrNameLst>
                                      </p:cBhvr>
                                      <p:to>
                                        <p:strVal val="visible"/>
                                      </p:to>
                                    </p:set>
                                    <p:animEffect transition="in" filter="randombar(horizontal)">
                                      <p:cBhvr>
                                        <p:cTn id="34" dur="500"/>
                                        <p:tgtEl>
                                          <p:spTgt spid="13">
                                            <p:graphicEl>
                                              <a:chart seriesIdx="-4" categoryIdx="3" bldStep="category"/>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13">
                                            <p:graphicEl>
                                              <a:chart seriesIdx="-4" categoryIdx="4" bldStep="category"/>
                                            </p:graphicEl>
                                          </p:spTgt>
                                        </p:tgtEl>
                                        <p:attrNameLst>
                                          <p:attrName>style.visibility</p:attrName>
                                        </p:attrNameLst>
                                      </p:cBhvr>
                                      <p:to>
                                        <p:strVal val="visible"/>
                                      </p:to>
                                    </p:set>
                                    <p:animEffect transition="in" filter="randombar(horizontal)">
                                      <p:cBhvr>
                                        <p:cTn id="39" dur="500"/>
                                        <p:tgtEl>
                                          <p:spTgt spid="13">
                                            <p:graphicEl>
                                              <a:chart seriesIdx="-4" categoryIdx="4" bldStep="category"/>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13">
                                            <p:graphicEl>
                                              <a:chart seriesIdx="-4" categoryIdx="5" bldStep="category"/>
                                            </p:graphicEl>
                                          </p:spTgt>
                                        </p:tgtEl>
                                        <p:attrNameLst>
                                          <p:attrName>style.visibility</p:attrName>
                                        </p:attrNameLst>
                                      </p:cBhvr>
                                      <p:to>
                                        <p:strVal val="visible"/>
                                      </p:to>
                                    </p:set>
                                    <p:animEffect transition="in" filter="randombar(horizontal)">
                                      <p:cBhvr>
                                        <p:cTn id="44" dur="500"/>
                                        <p:tgtEl>
                                          <p:spTgt spid="13">
                                            <p:graphicEl>
                                              <a:chart seriesIdx="-4" categoryIdx="5" bldStep="category"/>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3">
                                            <p:graphicEl>
                                              <a:chart seriesIdx="-4" categoryIdx="6" bldStep="category"/>
                                            </p:graphicEl>
                                          </p:spTgt>
                                        </p:tgtEl>
                                        <p:attrNameLst>
                                          <p:attrName>style.visibility</p:attrName>
                                        </p:attrNameLst>
                                      </p:cBhvr>
                                      <p:to>
                                        <p:strVal val="visible"/>
                                      </p:to>
                                    </p:set>
                                    <p:animEffect transition="in" filter="randombar(horizontal)">
                                      <p:cBhvr>
                                        <p:cTn id="49" dur="500"/>
                                        <p:tgtEl>
                                          <p:spTgt spid="13">
                                            <p:graphicEl>
                                              <a:chart seriesIdx="-4" categoryIdx="6" bldStep="category"/>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13">
                                            <p:graphicEl>
                                              <a:chart seriesIdx="-4" categoryIdx="7" bldStep="category"/>
                                            </p:graphicEl>
                                          </p:spTgt>
                                        </p:tgtEl>
                                        <p:attrNameLst>
                                          <p:attrName>style.visibility</p:attrName>
                                        </p:attrNameLst>
                                      </p:cBhvr>
                                      <p:to>
                                        <p:strVal val="visible"/>
                                      </p:to>
                                    </p:set>
                                    <p:animEffect transition="in" filter="randombar(horizontal)">
                                      <p:cBhvr>
                                        <p:cTn id="54" dur="500"/>
                                        <p:tgtEl>
                                          <p:spTgt spid="13">
                                            <p:graphicEl>
                                              <a:chart seriesIdx="-4" categoryIdx="7" bldStep="category"/>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13">
                                            <p:graphicEl>
                                              <a:chart seriesIdx="-4" categoryIdx="8" bldStep="category"/>
                                            </p:graphicEl>
                                          </p:spTgt>
                                        </p:tgtEl>
                                        <p:attrNameLst>
                                          <p:attrName>style.visibility</p:attrName>
                                        </p:attrNameLst>
                                      </p:cBhvr>
                                      <p:to>
                                        <p:strVal val="visible"/>
                                      </p:to>
                                    </p:set>
                                    <p:animEffect transition="in" filter="randombar(horizontal)">
                                      <p:cBhvr>
                                        <p:cTn id="59" dur="500"/>
                                        <p:tgtEl>
                                          <p:spTgt spid="13">
                                            <p:graphicEl>
                                              <a:chart seriesIdx="-4" categoryIdx="8" bldStep="category"/>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grpId="0" nodeType="clickEffect">
                                  <p:stCondLst>
                                    <p:cond delay="0"/>
                                  </p:stCondLst>
                                  <p:childTnLst>
                                    <p:set>
                                      <p:cBhvr>
                                        <p:cTn id="63" dur="1" fill="hold">
                                          <p:stCondLst>
                                            <p:cond delay="0"/>
                                          </p:stCondLst>
                                        </p:cTn>
                                        <p:tgtEl>
                                          <p:spTgt spid="13">
                                            <p:graphicEl>
                                              <a:chart seriesIdx="-4" categoryIdx="9" bldStep="category"/>
                                            </p:graphicEl>
                                          </p:spTgt>
                                        </p:tgtEl>
                                        <p:attrNameLst>
                                          <p:attrName>style.visibility</p:attrName>
                                        </p:attrNameLst>
                                      </p:cBhvr>
                                      <p:to>
                                        <p:strVal val="visible"/>
                                      </p:to>
                                    </p:set>
                                    <p:animEffect transition="in" filter="randombar(horizontal)">
                                      <p:cBhvr>
                                        <p:cTn id="64" dur="500"/>
                                        <p:tgtEl>
                                          <p:spTgt spid="13">
                                            <p:graphicEl>
                                              <a:chart seriesIdx="-4" categoryIdx="9" bldStep="category"/>
                                            </p:graphicEl>
                                          </p:spTgt>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13">
                                            <p:graphicEl>
                                              <a:chart seriesIdx="-4" categoryIdx="10" bldStep="category"/>
                                            </p:graphicEl>
                                          </p:spTgt>
                                        </p:tgtEl>
                                        <p:attrNameLst>
                                          <p:attrName>style.visibility</p:attrName>
                                        </p:attrNameLst>
                                      </p:cBhvr>
                                      <p:to>
                                        <p:strVal val="visible"/>
                                      </p:to>
                                    </p:set>
                                    <p:animEffect transition="in" filter="randombar(horizontal)">
                                      <p:cBhvr>
                                        <p:cTn id="69" dur="500"/>
                                        <p:tgtEl>
                                          <p:spTgt spid="13">
                                            <p:graphicEl>
                                              <a:chart seriesIdx="-4" categoryIdx="10" bldStep="category"/>
                                            </p:graphicEl>
                                          </p:spTgt>
                                        </p:tgtEl>
                                      </p:cBhvr>
                                    </p:animEffect>
                                  </p:childTnLst>
                                </p:cTn>
                              </p:par>
                            </p:childTnLst>
                          </p:cTn>
                        </p:par>
                      </p:childTnLst>
                    </p:cTn>
                  </p:par>
                  <p:par>
                    <p:cTn id="70" fill="hold">
                      <p:stCondLst>
                        <p:cond delay="indefinite"/>
                      </p:stCondLst>
                      <p:childTnLst>
                        <p:par>
                          <p:cTn id="71" fill="hold">
                            <p:stCondLst>
                              <p:cond delay="0"/>
                            </p:stCondLst>
                            <p:childTnLst>
                              <p:par>
                                <p:cTn id="72" presetID="14" presetClass="entr" presetSubtype="10" fill="hold" grpId="0" nodeType="clickEffect">
                                  <p:stCondLst>
                                    <p:cond delay="0"/>
                                  </p:stCondLst>
                                  <p:childTnLst>
                                    <p:set>
                                      <p:cBhvr>
                                        <p:cTn id="73" dur="1" fill="hold">
                                          <p:stCondLst>
                                            <p:cond delay="0"/>
                                          </p:stCondLst>
                                        </p:cTn>
                                        <p:tgtEl>
                                          <p:spTgt spid="13">
                                            <p:graphicEl>
                                              <a:chart seriesIdx="-4" categoryIdx="11" bldStep="category"/>
                                            </p:graphicEl>
                                          </p:spTgt>
                                        </p:tgtEl>
                                        <p:attrNameLst>
                                          <p:attrName>style.visibility</p:attrName>
                                        </p:attrNameLst>
                                      </p:cBhvr>
                                      <p:to>
                                        <p:strVal val="visible"/>
                                      </p:to>
                                    </p:set>
                                    <p:animEffect transition="in" filter="randombar(horizontal)">
                                      <p:cBhvr>
                                        <p:cTn id="74" dur="500"/>
                                        <p:tgtEl>
                                          <p:spTgt spid="13">
                                            <p:graphicEl>
                                              <a:chart seriesIdx="-4" categoryIdx="11" bldStep="category"/>
                                            </p:graphicEl>
                                          </p:spTgt>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ntr" presetSubtype="10" fill="hold" grpId="0" nodeType="clickEffect">
                                  <p:stCondLst>
                                    <p:cond delay="0"/>
                                  </p:stCondLst>
                                  <p:childTnLst>
                                    <p:set>
                                      <p:cBhvr>
                                        <p:cTn id="78" dur="1" fill="hold">
                                          <p:stCondLst>
                                            <p:cond delay="0"/>
                                          </p:stCondLst>
                                        </p:cTn>
                                        <p:tgtEl>
                                          <p:spTgt spid="13">
                                            <p:graphicEl>
                                              <a:chart seriesIdx="-4" categoryIdx="12" bldStep="category"/>
                                            </p:graphicEl>
                                          </p:spTgt>
                                        </p:tgtEl>
                                        <p:attrNameLst>
                                          <p:attrName>style.visibility</p:attrName>
                                        </p:attrNameLst>
                                      </p:cBhvr>
                                      <p:to>
                                        <p:strVal val="visible"/>
                                      </p:to>
                                    </p:set>
                                    <p:animEffect transition="in" filter="randombar(horizontal)">
                                      <p:cBhvr>
                                        <p:cTn id="79" dur="500"/>
                                        <p:tgtEl>
                                          <p:spTgt spid="13">
                                            <p:graphicEl>
                                              <a:chart seriesIdx="-4" categoryIdx="12" bldStep="category"/>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14" presetClass="entr" presetSubtype="10" fill="hold" grpId="0" nodeType="clickEffect">
                                  <p:stCondLst>
                                    <p:cond delay="0"/>
                                  </p:stCondLst>
                                  <p:childTnLst>
                                    <p:set>
                                      <p:cBhvr>
                                        <p:cTn id="83"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84" dur="500"/>
                                        <p:tgtEl>
                                          <p:spTgt spid="10">
                                            <p:txEl>
                                              <p:pRg st="0" end="0"/>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89" dur="500"/>
                                        <p:tgtEl>
                                          <p:spTgt spid="10">
                                            <p:txEl>
                                              <p:pRg st="1" end="1"/>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grpId="0" nodeType="clickEffect">
                                  <p:stCondLst>
                                    <p:cond delay="0"/>
                                  </p:stCondLst>
                                  <p:childTnLst>
                                    <p:set>
                                      <p:cBhvr>
                                        <p:cTn id="93"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94"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3" grpId="0">
        <p:bldSub>
          <a:bldChart bld="category"/>
        </p:bldSub>
      </p:bldGraphic>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486F-F717-366C-B562-86E909A63710}"/>
              </a:ext>
            </a:extLst>
          </p:cNvPr>
          <p:cNvSpPr>
            <a:spLocks noGrp="1"/>
          </p:cNvSpPr>
          <p:nvPr>
            <p:ph type="title"/>
          </p:nvPr>
        </p:nvSpPr>
        <p:spPr/>
        <p:txBody>
          <a:bodyPr/>
          <a:lstStyle/>
          <a:p>
            <a:r>
              <a:rPr lang="en-US" dirty="0"/>
              <a:t>Audience Emotion Analysis</a:t>
            </a:r>
            <a:endParaRPr lang="en-IN" dirty="0"/>
          </a:p>
        </p:txBody>
      </p:sp>
      <p:sp>
        <p:nvSpPr>
          <p:cNvPr id="4" name="Content Placeholder 3">
            <a:extLst>
              <a:ext uri="{FF2B5EF4-FFF2-40B4-BE49-F238E27FC236}">
                <a16:creationId xmlns:a16="http://schemas.microsoft.com/office/drawing/2014/main" id="{FBFF9F3D-B0E9-62E3-D7E0-71A7C5D0FE78}"/>
              </a:ext>
            </a:extLst>
          </p:cNvPr>
          <p:cNvSpPr>
            <a:spLocks noGrp="1"/>
          </p:cNvSpPr>
          <p:nvPr>
            <p:ph sz="half" idx="2"/>
          </p:nvPr>
        </p:nvSpPr>
        <p:spPr>
          <a:xfrm>
            <a:off x="5654493" y="1268362"/>
            <a:ext cx="6449016" cy="5589638"/>
          </a:xfrm>
        </p:spPr>
        <p:txBody>
          <a:bodyPr>
            <a:normAutofit fontScale="92500" lnSpcReduction="10000"/>
          </a:bodyPr>
          <a:lstStyle/>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Highest Performance: Content categorized as generating "Inspired" and "Excited" emotions are the top performers by a very small margin.</a:t>
            </a:r>
          </a:p>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"Inspired" Content: Leads in both Interactions (35.55M) and Reach (201.70M). This suggests that inspirational content (e.g., transformation photos, success stories, complex makeup looks) resonates most effectively with the audience.</a:t>
            </a:r>
          </a:p>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"Excited" Content: Is a very close second, with 35.28M Interactions and 200.13M Reach. This likely correlates with product launches, sales/promotions, or highly engaging, high-energy videos.</a:t>
            </a:r>
          </a:p>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Low Volatility: The difference in performance between the highest-ranking emotion (Inspired) and the lowest-ranking emotion (Happy) is surprisingly small for such large volumes.</a:t>
            </a:r>
          </a:p>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Interpretation: This indicates that the audience responds consistently well to a broad range of positive emotions. The brand's content strategy is effective across multiple emotional categories ("Curious," "Confident," and "Happy" are not significantly underperforming).</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aphicFrame>
        <p:nvGraphicFramePr>
          <p:cNvPr id="13" name="Content Placeholder 12">
            <a:extLst>
              <a:ext uri="{FF2B5EF4-FFF2-40B4-BE49-F238E27FC236}">
                <a16:creationId xmlns:a16="http://schemas.microsoft.com/office/drawing/2014/main" id="{CBCEFC51-6E25-EC4A-6E5E-AC9D3AB2B800}"/>
              </a:ext>
            </a:extLst>
          </p:cNvPr>
          <p:cNvGraphicFramePr>
            <a:graphicFrameLocks noGrp="1"/>
          </p:cNvGraphicFramePr>
          <p:nvPr>
            <p:ph sz="half" idx="1"/>
            <p:extLst>
              <p:ext uri="{D42A27DB-BD31-4B8C-83A1-F6EECF244321}">
                <p14:modId xmlns:p14="http://schemas.microsoft.com/office/powerpoint/2010/main" val="173677992"/>
              </p:ext>
            </p:extLst>
          </p:nvPr>
        </p:nvGraphicFramePr>
        <p:xfrm>
          <a:off x="88491" y="2060575"/>
          <a:ext cx="5410610" cy="41957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847677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graphicEl>
                                              <a:chart seriesIdx="-3" categoryIdx="-3" bldStep="gridLegend"/>
                                            </p:graphicEl>
                                          </p:spTgt>
                                        </p:tgtEl>
                                        <p:attrNameLst>
                                          <p:attrName>style.visibility</p:attrName>
                                        </p:attrNameLst>
                                      </p:cBhvr>
                                      <p:to>
                                        <p:strVal val="visible"/>
                                      </p:to>
                                    </p:set>
                                    <p:animEffect transition="in" filter="wipe(down)">
                                      <p:cBhvr>
                                        <p:cTn id="12" dur="500"/>
                                        <p:tgtEl>
                                          <p:spTgt spid="13">
                                            <p:graphicEl>
                                              <a:chart seriesIdx="-3" categoryIdx="-3" bldStep="gridLegend"/>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graphicEl>
                                              <a:chart seriesIdx="-4" categoryIdx="0" bldStep="category"/>
                                            </p:graphicEl>
                                          </p:spTgt>
                                        </p:tgtEl>
                                        <p:attrNameLst>
                                          <p:attrName>style.visibility</p:attrName>
                                        </p:attrNameLst>
                                      </p:cBhvr>
                                      <p:to>
                                        <p:strVal val="visible"/>
                                      </p:to>
                                    </p:set>
                                    <p:animEffect transition="in" filter="wipe(down)">
                                      <p:cBhvr>
                                        <p:cTn id="17" dur="500"/>
                                        <p:tgtEl>
                                          <p:spTgt spid="13">
                                            <p:graphicEl>
                                              <a:chart seriesIdx="-4" categoryIdx="0" bldStep="category"/>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
                                            <p:graphicEl>
                                              <a:chart seriesIdx="-4" categoryIdx="1" bldStep="category"/>
                                            </p:graphicEl>
                                          </p:spTgt>
                                        </p:tgtEl>
                                        <p:attrNameLst>
                                          <p:attrName>style.visibility</p:attrName>
                                        </p:attrNameLst>
                                      </p:cBhvr>
                                      <p:to>
                                        <p:strVal val="visible"/>
                                      </p:to>
                                    </p:set>
                                    <p:animEffect transition="in" filter="wipe(down)">
                                      <p:cBhvr>
                                        <p:cTn id="22" dur="500"/>
                                        <p:tgtEl>
                                          <p:spTgt spid="13">
                                            <p:graphicEl>
                                              <a:chart seriesIdx="-4" categoryIdx="1" bldStep="category"/>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graphicEl>
                                              <a:chart seriesIdx="-4" categoryIdx="2" bldStep="category"/>
                                            </p:graphicEl>
                                          </p:spTgt>
                                        </p:tgtEl>
                                        <p:attrNameLst>
                                          <p:attrName>style.visibility</p:attrName>
                                        </p:attrNameLst>
                                      </p:cBhvr>
                                      <p:to>
                                        <p:strVal val="visible"/>
                                      </p:to>
                                    </p:set>
                                    <p:animEffect transition="in" filter="wipe(down)">
                                      <p:cBhvr>
                                        <p:cTn id="27" dur="500"/>
                                        <p:tgtEl>
                                          <p:spTgt spid="13">
                                            <p:graphicEl>
                                              <a:chart seriesIdx="-4" categoryIdx="2" bldStep="category"/>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graphicEl>
                                              <a:chart seriesIdx="-4" categoryIdx="3" bldStep="category"/>
                                            </p:graphicEl>
                                          </p:spTgt>
                                        </p:tgtEl>
                                        <p:attrNameLst>
                                          <p:attrName>style.visibility</p:attrName>
                                        </p:attrNameLst>
                                      </p:cBhvr>
                                      <p:to>
                                        <p:strVal val="visible"/>
                                      </p:to>
                                    </p:set>
                                    <p:animEffect transition="in" filter="wipe(down)">
                                      <p:cBhvr>
                                        <p:cTn id="32" dur="500"/>
                                        <p:tgtEl>
                                          <p:spTgt spid="13">
                                            <p:graphicEl>
                                              <a:chart seriesIdx="-4" categoryIdx="3" bldStep="category"/>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graphicEl>
                                              <a:chart seriesIdx="-4" categoryIdx="4" bldStep="category"/>
                                            </p:graphicEl>
                                          </p:spTgt>
                                        </p:tgtEl>
                                        <p:attrNameLst>
                                          <p:attrName>style.visibility</p:attrName>
                                        </p:attrNameLst>
                                      </p:cBhvr>
                                      <p:to>
                                        <p:strVal val="visible"/>
                                      </p:to>
                                    </p:set>
                                    <p:animEffect transition="in" filter="wipe(down)">
                                      <p:cBhvr>
                                        <p:cTn id="37" dur="500"/>
                                        <p:tgtEl>
                                          <p:spTgt spid="13">
                                            <p:graphicEl>
                                              <a:chart seriesIdx="-4" categoryIdx="4" bldStep="category"/>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42" dur="500"/>
                                        <p:tgtEl>
                                          <p:spTgt spid="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47" dur="500"/>
                                        <p:tgtEl>
                                          <p:spTgt spid="4">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52" dur="500"/>
                                        <p:tgtEl>
                                          <p:spTgt spid="4">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animEffect transition="in" filter="randombar(horizontal)">
                                      <p:cBhvr>
                                        <p:cTn id="57" dur="500"/>
                                        <p:tgtEl>
                                          <p:spTgt spid="4">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randombar(horizontal)">
                                      <p:cBhvr>
                                        <p:cTn id="6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Graphic spid="13" grpId="0">
        <p:bldSub>
          <a:bldChart bld="category"/>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5767F-9072-6094-DE5F-A2C47F3A6AF9}"/>
              </a:ext>
            </a:extLst>
          </p:cNvPr>
          <p:cNvSpPr>
            <a:spLocks noGrp="1"/>
          </p:cNvSpPr>
          <p:nvPr>
            <p:ph type="title"/>
          </p:nvPr>
        </p:nvSpPr>
        <p:spPr/>
        <p:txBody>
          <a:bodyPr/>
          <a:lstStyle/>
          <a:p>
            <a:r>
              <a:rPr lang="en-US" dirty="0">
                <a:effectLst>
                  <a:outerShdw blurRad="50800" dist="38100" dir="2700000" algn="tl" rotWithShape="0">
                    <a:schemeClr val="bg1">
                      <a:alpha val="40000"/>
                    </a:schemeClr>
                  </a:outerShdw>
                </a:effectLst>
              </a:rPr>
              <a:t>Engagement Source Analysis</a:t>
            </a:r>
            <a:endParaRPr lang="en-IN" dirty="0">
              <a:effectLst>
                <a:outerShdw blurRad="50800" dist="38100" dir="2700000" algn="tl" rotWithShape="0">
                  <a:schemeClr val="bg1">
                    <a:alpha val="40000"/>
                  </a:schemeClr>
                </a:outerShdw>
              </a:effectLst>
            </a:endParaRPr>
          </a:p>
        </p:txBody>
      </p:sp>
      <p:sp>
        <p:nvSpPr>
          <p:cNvPr id="4" name="Content Placeholder 3">
            <a:extLst>
              <a:ext uri="{FF2B5EF4-FFF2-40B4-BE49-F238E27FC236}">
                <a16:creationId xmlns:a16="http://schemas.microsoft.com/office/drawing/2014/main" id="{900A6563-4839-36E6-9228-100BA0400EC9}"/>
              </a:ext>
            </a:extLst>
          </p:cNvPr>
          <p:cNvSpPr>
            <a:spLocks noGrp="1"/>
          </p:cNvSpPr>
          <p:nvPr>
            <p:ph sz="half" idx="2"/>
          </p:nvPr>
        </p:nvSpPr>
        <p:spPr>
          <a:xfrm>
            <a:off x="5654493" y="2056092"/>
            <a:ext cx="6311365" cy="4200245"/>
          </a:xfrm>
        </p:spPr>
        <p:txBody>
          <a:bodyPr/>
          <a:lstStyle/>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Collab Content Wins: The Collab source generates the highest total volume of interactions, measuring 249.0M.</a:t>
            </a:r>
          </a:p>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Marginal Differences: All four categories—Collab, Influencer, Organic, and Paid—have interaction volumes that are extremely close to one another, clustering tightly between 242.4M and 249.0M.</a:t>
            </a:r>
          </a:p>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Paid Content is the Lowest: The Paid source delivers the lowest interaction volume at 242.4M. Despite likely having budget allocated for boosting visibility, the paid content strategy is the least efficient at generating raw engagement volume compared to naturally viral (Organic) or partnership-driven (Collab/Influencer) efforts.</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aphicFrame>
        <p:nvGraphicFramePr>
          <p:cNvPr id="11" name="Content Placeholder 10">
            <a:extLst>
              <a:ext uri="{FF2B5EF4-FFF2-40B4-BE49-F238E27FC236}">
                <a16:creationId xmlns:a16="http://schemas.microsoft.com/office/drawing/2014/main" id="{6E33E822-2224-A219-8446-85944574DC7E}"/>
              </a:ext>
            </a:extLst>
          </p:cNvPr>
          <p:cNvGraphicFramePr>
            <a:graphicFrameLocks noGrp="1"/>
          </p:cNvGraphicFramePr>
          <p:nvPr>
            <p:ph sz="half" idx="1"/>
            <p:extLst>
              <p:ext uri="{D42A27DB-BD31-4B8C-83A1-F6EECF244321}">
                <p14:modId xmlns:p14="http://schemas.microsoft.com/office/powerpoint/2010/main" val="1246270982"/>
              </p:ext>
            </p:extLst>
          </p:nvPr>
        </p:nvGraphicFramePr>
        <p:xfrm>
          <a:off x="226142" y="2060574"/>
          <a:ext cx="5272956" cy="4344705"/>
        </p:xfrm>
        <a:graphic>
          <a:graphicData uri="http://schemas.openxmlformats.org/drawingml/2006/table">
            <a:tbl>
              <a:tblPr firstRow="1" bandRow="1">
                <a:tableStyleId>{00A15C55-8517-42AA-B614-E9B94910E393}</a:tableStyleId>
              </a:tblPr>
              <a:tblGrid>
                <a:gridCol w="1757652">
                  <a:extLst>
                    <a:ext uri="{9D8B030D-6E8A-4147-A177-3AD203B41FA5}">
                      <a16:colId xmlns:a16="http://schemas.microsoft.com/office/drawing/2014/main" val="2936657749"/>
                    </a:ext>
                  </a:extLst>
                </a:gridCol>
                <a:gridCol w="1757652">
                  <a:extLst>
                    <a:ext uri="{9D8B030D-6E8A-4147-A177-3AD203B41FA5}">
                      <a16:colId xmlns:a16="http://schemas.microsoft.com/office/drawing/2014/main" val="2529248883"/>
                    </a:ext>
                  </a:extLst>
                </a:gridCol>
                <a:gridCol w="1757652">
                  <a:extLst>
                    <a:ext uri="{9D8B030D-6E8A-4147-A177-3AD203B41FA5}">
                      <a16:colId xmlns:a16="http://schemas.microsoft.com/office/drawing/2014/main" val="1840118192"/>
                    </a:ext>
                  </a:extLst>
                </a:gridCol>
              </a:tblGrid>
              <a:tr h="868941">
                <a:tc>
                  <a:txBody>
                    <a:bodyPr/>
                    <a:lstStyle/>
                    <a:p>
                      <a:pPr algn="ctr"/>
                      <a:endParaRPr lang="en-IN" dirty="0">
                        <a:effectLst>
                          <a:outerShdw blurRad="50800" dist="38100" dir="2700000" algn="tl" rotWithShape="0">
                            <a:schemeClr val="bg1">
                              <a:alpha val="40000"/>
                            </a:schemeClr>
                          </a:outerShdw>
                        </a:effectLst>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dirty="0">
                          <a:effectLst>
                            <a:outerShdw blurRad="50800" dist="38100" dir="2700000" algn="tl" rotWithShape="0">
                              <a:schemeClr val="bg1">
                                <a:alpha val="40000"/>
                              </a:schemeClr>
                            </a:outerShdw>
                          </a:effectLst>
                        </a:rPr>
                        <a:t>Interactions</a:t>
                      </a:r>
                      <a:endParaRPr lang="en-IN" dirty="0">
                        <a:effectLst>
                          <a:outerShdw blurRad="50800" dist="38100" dir="2700000" algn="tl" rotWithShape="0">
                            <a:schemeClr val="bg1">
                              <a:alpha val="40000"/>
                            </a:schemeClr>
                          </a:outerShdw>
                        </a:effectLst>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dirty="0">
                          <a:effectLst>
                            <a:outerShdw blurRad="50800" dist="38100" dir="2700000" algn="tl" rotWithShape="0">
                              <a:schemeClr val="bg1">
                                <a:alpha val="40000"/>
                              </a:schemeClr>
                            </a:outerShdw>
                          </a:effectLst>
                        </a:rPr>
                        <a:t>Reach</a:t>
                      </a:r>
                      <a:endParaRPr lang="en-IN" dirty="0">
                        <a:effectLst>
                          <a:outerShdw blurRad="50800" dist="38100" dir="2700000" algn="tl" rotWithShape="0">
                            <a:schemeClr val="bg1">
                              <a:alpha val="40000"/>
                            </a:schemeClr>
                          </a:outerShdw>
                        </a:effectLst>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785205516"/>
                  </a:ext>
                </a:extLst>
              </a:tr>
              <a:tr h="868941">
                <a:tc>
                  <a:txBody>
                    <a:bodyPr/>
                    <a:lstStyle/>
                    <a:p>
                      <a:pPr algn="ctr"/>
                      <a:r>
                        <a:rPr lang="en-US" dirty="0">
                          <a:effectLst>
                            <a:outerShdw blurRad="50800" dist="38100" dir="2700000" algn="tl" rotWithShape="0">
                              <a:schemeClr val="bg1">
                                <a:alpha val="40000"/>
                              </a:schemeClr>
                            </a:outerShdw>
                          </a:effectLst>
                        </a:rPr>
                        <a:t>Collab</a:t>
                      </a:r>
                      <a:endParaRPr lang="en-IN" dirty="0">
                        <a:effectLst>
                          <a:outerShdw blurRad="50800" dist="38100" dir="2700000" algn="tl" rotWithShape="0">
                            <a:schemeClr val="bg1">
                              <a:alpha val="40000"/>
                            </a:schemeClr>
                          </a:outerShdw>
                        </a:effectLst>
                      </a:endParaRPr>
                    </a:p>
                  </a:txBody>
                  <a:tcPr>
                    <a:lnT w="38100" cmpd="sng">
                      <a:noFill/>
                    </a:lnT>
                  </a:tcPr>
                </a:tc>
                <a:tc>
                  <a:txBody>
                    <a:bodyPr/>
                    <a:lstStyle/>
                    <a:p>
                      <a:pPr algn="ctr"/>
                      <a:r>
                        <a:rPr lang="en-US" dirty="0">
                          <a:effectLst>
                            <a:outerShdw blurRad="50800" dist="38100" dir="2700000" algn="tl" rotWithShape="0">
                              <a:schemeClr val="bg1">
                                <a:alpha val="40000"/>
                              </a:schemeClr>
                            </a:outerShdw>
                          </a:effectLst>
                        </a:rPr>
                        <a:t>44 Million</a:t>
                      </a:r>
                      <a:endParaRPr lang="en-IN" dirty="0">
                        <a:effectLst>
                          <a:outerShdw blurRad="50800" dist="38100" dir="2700000" algn="tl" rotWithShape="0">
                            <a:schemeClr val="bg1">
                              <a:alpha val="40000"/>
                            </a:schemeClr>
                          </a:outerShdw>
                        </a:effectLst>
                      </a:endParaRPr>
                    </a:p>
                  </a:txBody>
                  <a:tcPr>
                    <a:lnT w="38100" cmpd="sng">
                      <a:noFill/>
                    </a:lnT>
                  </a:tcPr>
                </a:tc>
                <a:tc>
                  <a:txBody>
                    <a:bodyPr/>
                    <a:lstStyle/>
                    <a:p>
                      <a:pPr algn="ctr"/>
                      <a:r>
                        <a:rPr lang="en-US" dirty="0">
                          <a:effectLst>
                            <a:outerShdw blurRad="50800" dist="38100" dir="2700000" algn="tl" rotWithShape="0">
                              <a:schemeClr val="bg1">
                                <a:alpha val="40000"/>
                              </a:schemeClr>
                            </a:outerShdw>
                          </a:effectLst>
                        </a:rPr>
                        <a:t>249.0 Millions</a:t>
                      </a:r>
                      <a:endParaRPr lang="en-IN" dirty="0">
                        <a:effectLst>
                          <a:outerShdw blurRad="50800" dist="38100" dir="2700000" algn="tl" rotWithShape="0">
                            <a:schemeClr val="bg1">
                              <a:alpha val="40000"/>
                            </a:schemeClr>
                          </a:outerShdw>
                        </a:effectLst>
                      </a:endParaRPr>
                    </a:p>
                  </a:txBody>
                  <a:tcPr>
                    <a:lnT w="38100" cmpd="sng">
                      <a:noFill/>
                    </a:lnT>
                  </a:tcPr>
                </a:tc>
                <a:extLst>
                  <a:ext uri="{0D108BD9-81ED-4DB2-BD59-A6C34878D82A}">
                    <a16:rowId xmlns:a16="http://schemas.microsoft.com/office/drawing/2014/main" val="1083550470"/>
                  </a:ext>
                </a:extLst>
              </a:tr>
              <a:tr h="868941">
                <a:tc>
                  <a:txBody>
                    <a:bodyPr/>
                    <a:lstStyle/>
                    <a:p>
                      <a:pPr algn="ctr"/>
                      <a:r>
                        <a:rPr lang="en-US" dirty="0">
                          <a:effectLst>
                            <a:outerShdw blurRad="50800" dist="38100" dir="2700000" algn="tl" rotWithShape="0">
                              <a:schemeClr val="bg1">
                                <a:alpha val="40000"/>
                              </a:schemeClr>
                            </a:outerShdw>
                          </a:effectLst>
                        </a:rPr>
                        <a:t>Influencer</a:t>
                      </a:r>
                      <a:endParaRPr lang="en-IN" dirty="0">
                        <a:effectLst>
                          <a:outerShdw blurRad="50800" dist="38100" dir="2700000" algn="tl" rotWithShape="0">
                            <a:schemeClr val="bg1">
                              <a:alpha val="40000"/>
                            </a:schemeClr>
                          </a:outerShdw>
                        </a:effectLst>
                      </a:endParaRPr>
                    </a:p>
                  </a:txBody>
                  <a:tcPr/>
                </a:tc>
                <a:tc>
                  <a:txBody>
                    <a:bodyPr/>
                    <a:lstStyle/>
                    <a:p>
                      <a:pPr algn="ctr"/>
                      <a:r>
                        <a:rPr lang="en-US" dirty="0">
                          <a:effectLst>
                            <a:outerShdw blurRad="50800" dist="38100" dir="2700000" algn="tl" rotWithShape="0">
                              <a:schemeClr val="bg1">
                                <a:alpha val="40000"/>
                              </a:schemeClr>
                            </a:outerShdw>
                          </a:effectLst>
                        </a:rPr>
                        <a:t>44 Million</a:t>
                      </a:r>
                      <a:endParaRPr lang="en-IN" dirty="0">
                        <a:effectLst>
                          <a:outerShdw blurRad="50800" dist="38100" dir="2700000" algn="tl" rotWithShape="0">
                            <a:schemeClr val="bg1">
                              <a:alpha val="40000"/>
                            </a:schemeClr>
                          </a:outerShdw>
                        </a:effectLst>
                      </a:endParaRPr>
                    </a:p>
                  </a:txBody>
                  <a:tcPr/>
                </a:tc>
                <a:tc>
                  <a:txBody>
                    <a:bodyPr/>
                    <a:lstStyle/>
                    <a:p>
                      <a:pPr algn="ctr"/>
                      <a:r>
                        <a:rPr lang="en-US" dirty="0">
                          <a:effectLst>
                            <a:outerShdw blurRad="50800" dist="38100" dir="2700000" algn="tl" rotWithShape="0">
                              <a:schemeClr val="bg1">
                                <a:alpha val="40000"/>
                              </a:schemeClr>
                            </a:outerShdw>
                          </a:effectLst>
                        </a:rPr>
                        <a:t>246.3 Millions</a:t>
                      </a:r>
                      <a:endParaRPr lang="en-IN" dirty="0">
                        <a:effectLst>
                          <a:outerShdw blurRad="50800" dist="38100" dir="2700000" algn="tl" rotWithShape="0">
                            <a:schemeClr val="bg1">
                              <a:alpha val="40000"/>
                            </a:schemeClr>
                          </a:outerShdw>
                        </a:effectLst>
                      </a:endParaRPr>
                    </a:p>
                  </a:txBody>
                  <a:tcPr/>
                </a:tc>
                <a:extLst>
                  <a:ext uri="{0D108BD9-81ED-4DB2-BD59-A6C34878D82A}">
                    <a16:rowId xmlns:a16="http://schemas.microsoft.com/office/drawing/2014/main" val="883098001"/>
                  </a:ext>
                </a:extLst>
              </a:tr>
              <a:tr h="868941">
                <a:tc>
                  <a:txBody>
                    <a:bodyPr/>
                    <a:lstStyle/>
                    <a:p>
                      <a:pPr algn="ctr"/>
                      <a:r>
                        <a:rPr lang="en-US" dirty="0">
                          <a:effectLst>
                            <a:outerShdw blurRad="50800" dist="38100" dir="2700000" algn="tl" rotWithShape="0">
                              <a:schemeClr val="bg1">
                                <a:alpha val="40000"/>
                              </a:schemeClr>
                            </a:outerShdw>
                          </a:effectLst>
                        </a:rPr>
                        <a:t>Organic</a:t>
                      </a:r>
                      <a:endParaRPr lang="en-IN" dirty="0">
                        <a:effectLst>
                          <a:outerShdw blurRad="50800" dist="38100" dir="2700000" algn="tl" rotWithShape="0">
                            <a:schemeClr val="bg1">
                              <a:alpha val="40000"/>
                            </a:schemeClr>
                          </a:outerShdw>
                        </a:effectLst>
                      </a:endParaRPr>
                    </a:p>
                  </a:txBody>
                  <a:tcPr/>
                </a:tc>
                <a:tc>
                  <a:txBody>
                    <a:bodyPr/>
                    <a:lstStyle/>
                    <a:p>
                      <a:pPr algn="ctr"/>
                      <a:r>
                        <a:rPr lang="en-US" dirty="0">
                          <a:effectLst>
                            <a:outerShdw blurRad="50800" dist="38100" dir="2700000" algn="tl" rotWithShape="0">
                              <a:schemeClr val="bg1">
                                <a:alpha val="40000"/>
                              </a:schemeClr>
                            </a:outerShdw>
                          </a:effectLst>
                        </a:rPr>
                        <a:t>44 Million</a:t>
                      </a:r>
                      <a:endParaRPr lang="en-IN" dirty="0">
                        <a:effectLst>
                          <a:outerShdw blurRad="50800" dist="38100" dir="2700000" algn="tl" rotWithShape="0">
                            <a:schemeClr val="bg1">
                              <a:alpha val="40000"/>
                            </a:schemeClr>
                          </a:outerShdw>
                        </a:effectLst>
                      </a:endParaRPr>
                    </a:p>
                  </a:txBody>
                  <a:tcPr/>
                </a:tc>
                <a:tc>
                  <a:txBody>
                    <a:bodyPr/>
                    <a:lstStyle/>
                    <a:p>
                      <a:pPr algn="ctr"/>
                      <a:r>
                        <a:rPr lang="en-US" dirty="0">
                          <a:effectLst>
                            <a:outerShdw blurRad="50800" dist="38100" dir="2700000" algn="tl" rotWithShape="0">
                              <a:schemeClr val="bg1">
                                <a:alpha val="40000"/>
                              </a:schemeClr>
                            </a:outerShdw>
                          </a:effectLst>
                        </a:rPr>
                        <a:t>250.0 Millions</a:t>
                      </a:r>
                      <a:endParaRPr lang="en-IN" dirty="0">
                        <a:effectLst>
                          <a:outerShdw blurRad="50800" dist="38100" dir="2700000" algn="tl" rotWithShape="0">
                            <a:schemeClr val="bg1">
                              <a:alpha val="40000"/>
                            </a:schemeClr>
                          </a:outerShdw>
                        </a:effectLst>
                      </a:endParaRPr>
                    </a:p>
                  </a:txBody>
                  <a:tcPr/>
                </a:tc>
                <a:extLst>
                  <a:ext uri="{0D108BD9-81ED-4DB2-BD59-A6C34878D82A}">
                    <a16:rowId xmlns:a16="http://schemas.microsoft.com/office/drawing/2014/main" val="2732913843"/>
                  </a:ext>
                </a:extLst>
              </a:tr>
              <a:tr h="868941">
                <a:tc>
                  <a:txBody>
                    <a:bodyPr/>
                    <a:lstStyle/>
                    <a:p>
                      <a:pPr algn="ctr"/>
                      <a:r>
                        <a:rPr lang="en-US" dirty="0">
                          <a:effectLst>
                            <a:outerShdw blurRad="50800" dist="38100" dir="2700000" algn="tl" rotWithShape="0">
                              <a:schemeClr val="bg1">
                                <a:alpha val="40000"/>
                              </a:schemeClr>
                            </a:outerShdw>
                          </a:effectLst>
                        </a:rPr>
                        <a:t>Paid</a:t>
                      </a:r>
                      <a:endParaRPr lang="en-IN" dirty="0">
                        <a:effectLst>
                          <a:outerShdw blurRad="50800" dist="38100" dir="2700000" algn="tl" rotWithShape="0">
                            <a:schemeClr val="bg1">
                              <a:alpha val="40000"/>
                            </a:schemeClr>
                          </a:outerShdw>
                        </a:effectLst>
                      </a:endParaRPr>
                    </a:p>
                  </a:txBody>
                  <a:tcPr/>
                </a:tc>
                <a:tc>
                  <a:txBody>
                    <a:bodyPr/>
                    <a:lstStyle/>
                    <a:p>
                      <a:pPr algn="ctr"/>
                      <a:r>
                        <a:rPr lang="en-US" dirty="0">
                          <a:effectLst>
                            <a:outerShdw blurRad="50800" dist="38100" dir="2700000" algn="tl" rotWithShape="0">
                              <a:schemeClr val="bg1">
                                <a:alpha val="40000"/>
                              </a:schemeClr>
                            </a:outerShdw>
                          </a:effectLst>
                        </a:rPr>
                        <a:t>43 Million</a:t>
                      </a:r>
                      <a:endParaRPr lang="en-IN" dirty="0">
                        <a:effectLst>
                          <a:outerShdw blurRad="50800" dist="38100" dir="2700000" algn="tl" rotWithShape="0">
                            <a:schemeClr val="bg1">
                              <a:alpha val="40000"/>
                            </a:schemeClr>
                          </a:outerShdw>
                        </a:effectLst>
                      </a:endParaRPr>
                    </a:p>
                  </a:txBody>
                  <a:tcPr/>
                </a:tc>
                <a:tc>
                  <a:txBody>
                    <a:bodyPr/>
                    <a:lstStyle/>
                    <a:p>
                      <a:pPr algn="ctr"/>
                      <a:r>
                        <a:rPr lang="en-US" dirty="0">
                          <a:effectLst>
                            <a:outerShdw blurRad="50800" dist="38100" dir="2700000" algn="tl" rotWithShape="0">
                              <a:schemeClr val="bg1">
                                <a:alpha val="40000"/>
                              </a:schemeClr>
                            </a:outerShdw>
                          </a:effectLst>
                        </a:rPr>
                        <a:t>242.4 Millions</a:t>
                      </a:r>
                      <a:endParaRPr lang="en-IN" dirty="0">
                        <a:effectLst>
                          <a:outerShdw blurRad="50800" dist="38100" dir="2700000" algn="tl" rotWithShape="0">
                            <a:schemeClr val="bg1">
                              <a:alpha val="40000"/>
                            </a:schemeClr>
                          </a:outerShdw>
                        </a:effectLst>
                      </a:endParaRPr>
                    </a:p>
                  </a:txBody>
                  <a:tcPr/>
                </a:tc>
                <a:extLst>
                  <a:ext uri="{0D108BD9-81ED-4DB2-BD59-A6C34878D82A}">
                    <a16:rowId xmlns:a16="http://schemas.microsoft.com/office/drawing/2014/main" val="3511858001"/>
                  </a:ext>
                </a:extLst>
              </a:tr>
            </a:tbl>
          </a:graphicData>
        </a:graphic>
      </p:graphicFrame>
    </p:spTree>
    <p:extLst>
      <p:ext uri="{BB962C8B-B14F-4D97-AF65-F5344CB8AC3E}">
        <p14:creationId xmlns:p14="http://schemas.microsoft.com/office/powerpoint/2010/main" val="35370641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down)">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wipe(down)">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wipe(down)">
                                      <p:cBhvr>
                                        <p:cTn id="2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43AC0-FB71-6692-5988-7A0339FBD680}"/>
              </a:ext>
            </a:extLst>
          </p:cNvPr>
          <p:cNvSpPr>
            <a:spLocks noGrp="1"/>
          </p:cNvSpPr>
          <p:nvPr>
            <p:ph type="title"/>
          </p:nvPr>
        </p:nvSpPr>
        <p:spPr/>
        <p:txBody>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Post Type Analysis</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aphicFrame>
        <p:nvGraphicFramePr>
          <p:cNvPr id="23" name="Content Placeholder 22">
            <a:extLst>
              <a:ext uri="{FF2B5EF4-FFF2-40B4-BE49-F238E27FC236}">
                <a16:creationId xmlns:a16="http://schemas.microsoft.com/office/drawing/2014/main" id="{8A538287-5302-B1B3-3426-E62055EC3011}"/>
              </a:ext>
            </a:extLst>
          </p:cNvPr>
          <p:cNvGraphicFramePr>
            <a:graphicFrameLocks noGrp="1"/>
          </p:cNvGraphicFramePr>
          <p:nvPr>
            <p:ph sz="half" idx="1"/>
            <p:extLst>
              <p:ext uri="{D42A27DB-BD31-4B8C-83A1-F6EECF244321}">
                <p14:modId xmlns:p14="http://schemas.microsoft.com/office/powerpoint/2010/main" val="1930629709"/>
              </p:ext>
            </p:extLst>
          </p:nvPr>
        </p:nvGraphicFramePr>
        <p:xfrm>
          <a:off x="432619" y="2060574"/>
          <a:ext cx="5066481" cy="4271400"/>
        </p:xfrm>
        <a:graphic>
          <a:graphicData uri="http://schemas.openxmlformats.org/drawingml/2006/table">
            <a:tbl>
              <a:tblPr firstRow="1" bandRow="1">
                <a:tableStyleId>{1E171933-4619-4E11-9A3F-F7608DF75F80}</a:tableStyleId>
              </a:tblPr>
              <a:tblGrid>
                <a:gridCol w="1688827">
                  <a:extLst>
                    <a:ext uri="{9D8B030D-6E8A-4147-A177-3AD203B41FA5}">
                      <a16:colId xmlns:a16="http://schemas.microsoft.com/office/drawing/2014/main" val="2923689654"/>
                    </a:ext>
                  </a:extLst>
                </a:gridCol>
                <a:gridCol w="1688827">
                  <a:extLst>
                    <a:ext uri="{9D8B030D-6E8A-4147-A177-3AD203B41FA5}">
                      <a16:colId xmlns:a16="http://schemas.microsoft.com/office/drawing/2014/main" val="1437325580"/>
                    </a:ext>
                  </a:extLst>
                </a:gridCol>
                <a:gridCol w="1688827">
                  <a:extLst>
                    <a:ext uri="{9D8B030D-6E8A-4147-A177-3AD203B41FA5}">
                      <a16:colId xmlns:a16="http://schemas.microsoft.com/office/drawing/2014/main" val="439115033"/>
                    </a:ext>
                  </a:extLst>
                </a:gridCol>
              </a:tblGrid>
              <a:tr h="854280">
                <a:tc>
                  <a:txBody>
                    <a:bodyPr/>
                    <a:lstStyle/>
                    <a:p>
                      <a:endParaRPr lang="en-IN" sz="1800" b="1" kern="1200" dirty="0">
                        <a:solidFill>
                          <a:schemeClr val="lt1"/>
                        </a:solidFill>
                        <a:effectLst>
                          <a:outerShdw blurRad="50800" dist="38100" dir="2700000" algn="tl" rotWithShape="0">
                            <a:schemeClr val="bg1">
                              <a:alpha val="40000"/>
                            </a:schemeClr>
                          </a:outerShdw>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Interactions</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Reach</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3917269"/>
                  </a:ext>
                </a:extLst>
              </a:tr>
              <a:tr h="854280">
                <a:tc>
                  <a:txBody>
                    <a:bodyPr/>
                    <a:lstStyle/>
                    <a:p>
                      <a:r>
                        <a:rPr lang="en-US" dirty="0">
                          <a:effectLst>
                            <a:outerShdw blurRad="50800" dist="38100" dir="13500000" algn="br" rotWithShape="0">
                              <a:prstClr val="black">
                                <a:alpha val="40000"/>
                              </a:prstClr>
                            </a:outerShdw>
                          </a:effectLst>
                        </a:rPr>
                        <a:t>Image</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43M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245.3M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7850546"/>
                  </a:ext>
                </a:extLst>
              </a:tr>
              <a:tr h="854280">
                <a:tc>
                  <a:txBody>
                    <a:bodyPr/>
                    <a:lstStyle/>
                    <a:p>
                      <a:r>
                        <a:rPr lang="en-US" dirty="0">
                          <a:effectLst>
                            <a:outerShdw blurRad="50800" dist="38100" dir="13500000" algn="br" rotWithShape="0">
                              <a:prstClr val="black">
                                <a:alpha val="40000"/>
                              </a:prstClr>
                            </a:outerShdw>
                          </a:effectLst>
                        </a:rPr>
                        <a:t>Video</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43M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245.4M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3057966"/>
                  </a:ext>
                </a:extLst>
              </a:tr>
              <a:tr h="854280">
                <a:tc>
                  <a:txBody>
                    <a:bodyPr/>
                    <a:lstStyle/>
                    <a:p>
                      <a:r>
                        <a:rPr lang="en-US" dirty="0">
                          <a:effectLst>
                            <a:outerShdw blurRad="50800" dist="38100" dir="13500000" algn="br" rotWithShape="0">
                              <a:prstClr val="black">
                                <a:alpha val="40000"/>
                              </a:prstClr>
                            </a:outerShdw>
                          </a:effectLst>
                        </a:rPr>
                        <a:t>Story</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44M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247.1M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00627921"/>
                  </a:ext>
                </a:extLst>
              </a:tr>
              <a:tr h="854280">
                <a:tc>
                  <a:txBody>
                    <a:bodyPr/>
                    <a:lstStyle/>
                    <a:p>
                      <a:r>
                        <a:rPr lang="en-US" dirty="0">
                          <a:effectLst>
                            <a:outerShdw blurRad="50800" dist="38100" dir="13500000" algn="br" rotWithShape="0">
                              <a:prstClr val="black">
                                <a:alpha val="40000"/>
                              </a:prstClr>
                            </a:outerShdw>
                          </a:effectLst>
                        </a:rPr>
                        <a:t>Reel</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44M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effectLst>
                            <a:outerShdw blurRad="50800" dist="38100" dir="13500000" algn="br" rotWithShape="0">
                              <a:prstClr val="black">
                                <a:alpha val="40000"/>
                              </a:prstClr>
                            </a:outerShdw>
                          </a:effectLst>
                        </a:rPr>
                        <a:t>248.6M</a:t>
                      </a:r>
                      <a:endParaRPr lang="en-IN" dirty="0">
                        <a:effectLst>
                          <a:outerShdw blurRad="50800" dist="38100" dir="13500000" algn="br"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1784514"/>
                  </a:ext>
                </a:extLst>
              </a:tr>
            </a:tbl>
          </a:graphicData>
        </a:graphic>
      </p:graphicFrame>
      <p:sp>
        <p:nvSpPr>
          <p:cNvPr id="19" name="Content Placeholder 18">
            <a:extLst>
              <a:ext uri="{FF2B5EF4-FFF2-40B4-BE49-F238E27FC236}">
                <a16:creationId xmlns:a16="http://schemas.microsoft.com/office/drawing/2014/main" id="{40692518-0002-E89B-6E40-B5CF54261709}"/>
              </a:ext>
            </a:extLst>
          </p:cNvPr>
          <p:cNvSpPr>
            <a:spLocks noGrp="1"/>
          </p:cNvSpPr>
          <p:nvPr>
            <p:ph sz="half" idx="2"/>
          </p:nvPr>
        </p:nvSpPr>
        <p:spPr>
          <a:xfrm>
            <a:off x="5654493" y="1219200"/>
            <a:ext cx="6281868" cy="5037137"/>
          </a:xfrm>
        </p:spPr>
        <p:txBody>
          <a:bodyPr>
            <a:normAutofit/>
          </a:bodyPr>
          <a:lstStyle/>
          <a:p>
            <a:pPr>
              <a:buFont typeface="Wingdings" panose="05000000000000000000" pitchFamily="2" charset="2"/>
              <a:buChar char="q"/>
            </a:pPr>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Highest Interaction Volume: </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Short-form video is the most effective content format for driving audience activity (likes, comments, shares, saves) for Sugar Cosmetics. This aligns with general Instagram algorithm trends that prioritize Reels for visibility and interaction.</a:t>
            </a:r>
          </a:p>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Stories and Images are Weak: Static images have the lowest interaction volume, which is typical as they primarily engage existing followers and struggle to gain reach outside of the follower base compared to video formats. Also, Stories, which are typically used for high-frequency, authentic engagement (polls, questions, DMs), are the second-lowest in total volume. This suggests the brand is not fully capitalizing on the interactive features of Stories to drive overall interactions.</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26807482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animEffect transition="in" filter="wipe(down)">
                                      <p:cBhvr>
                                        <p:cTn id="19" dur="500"/>
                                        <p:tgtEl>
                                          <p:spTgt spid="1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9">
                                            <p:txEl>
                                              <p:pRg st="1" end="1"/>
                                            </p:txEl>
                                          </p:spTgt>
                                        </p:tgtEl>
                                        <p:attrNameLst>
                                          <p:attrName>style.visibility</p:attrName>
                                        </p:attrNameLst>
                                      </p:cBhvr>
                                      <p:to>
                                        <p:strVal val="visible"/>
                                      </p:to>
                                    </p:set>
                                    <p:animEffect transition="in" filter="wipe(down)">
                                      <p:cBhvr>
                                        <p:cTn id="24" dur="500"/>
                                        <p:tgtEl>
                                          <p:spTgt spid="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17617-7939-52FD-CB1F-936DD73E5616}"/>
              </a:ext>
            </a:extLst>
          </p:cNvPr>
          <p:cNvSpPr>
            <a:spLocks noGrp="1"/>
          </p:cNvSpPr>
          <p:nvPr>
            <p:ph type="title"/>
          </p:nvPr>
        </p:nvSpPr>
        <p:spPr/>
        <p:txBody>
          <a:bodyPr/>
          <a:lstStyle/>
          <a:p>
            <a:r>
              <a:rPr lang="en-US" dirty="0"/>
              <a:t>Campaign Analysis</a:t>
            </a:r>
            <a:endParaRPr lang="en-IN" dirty="0"/>
          </a:p>
        </p:txBody>
      </p:sp>
      <p:graphicFrame>
        <p:nvGraphicFramePr>
          <p:cNvPr id="8" name="Content Placeholder 7">
            <a:extLst>
              <a:ext uri="{FF2B5EF4-FFF2-40B4-BE49-F238E27FC236}">
                <a16:creationId xmlns:a16="http://schemas.microsoft.com/office/drawing/2014/main" id="{1C271707-BB65-B6C6-6AD7-62EE39CAA031}"/>
              </a:ext>
            </a:extLst>
          </p:cNvPr>
          <p:cNvGraphicFramePr>
            <a:graphicFrameLocks noGrp="1"/>
          </p:cNvGraphicFramePr>
          <p:nvPr>
            <p:ph sz="half" idx="1"/>
            <p:extLst>
              <p:ext uri="{D42A27DB-BD31-4B8C-83A1-F6EECF244321}">
                <p14:modId xmlns:p14="http://schemas.microsoft.com/office/powerpoint/2010/main" val="3309601304"/>
              </p:ext>
            </p:extLst>
          </p:nvPr>
        </p:nvGraphicFramePr>
        <p:xfrm>
          <a:off x="294969" y="2060574"/>
          <a:ext cx="5184468" cy="4195763"/>
        </p:xfrm>
        <a:graphic>
          <a:graphicData uri="http://schemas.openxmlformats.org/drawingml/2006/chart">
            <c:chart xmlns:c="http://schemas.openxmlformats.org/drawingml/2006/chart" xmlns:r="http://schemas.openxmlformats.org/officeDocument/2006/relationships" r:id="rId2"/>
          </a:graphicData>
        </a:graphic>
      </p:graphicFrame>
      <p:sp>
        <p:nvSpPr>
          <p:cNvPr id="12" name="Content Placeholder 11">
            <a:extLst>
              <a:ext uri="{FF2B5EF4-FFF2-40B4-BE49-F238E27FC236}">
                <a16:creationId xmlns:a16="http://schemas.microsoft.com/office/drawing/2014/main" id="{DB1F36B1-C85F-EBC2-4C9A-26177C7716A4}"/>
              </a:ext>
            </a:extLst>
          </p:cNvPr>
          <p:cNvSpPr>
            <a:spLocks noGrp="1"/>
          </p:cNvSpPr>
          <p:nvPr>
            <p:ph sz="half" idx="2"/>
          </p:nvPr>
        </p:nvSpPr>
        <p:spPr>
          <a:xfrm>
            <a:off x="5654493" y="2056092"/>
            <a:ext cx="6242538" cy="4200245"/>
          </a:xfrm>
        </p:spPr>
        <p:txBody>
          <a:bodyPr>
            <a:normAutofit/>
          </a:bodyPr>
          <a:lstStyle/>
          <a:p>
            <a:pPr>
              <a:buFont typeface="Wingdings" panose="05000000000000000000" pitchFamily="2" charset="2"/>
              <a:buChar char="q"/>
            </a:pP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Tutorials has the highest reach and highest interactions, indicating educational or how-to content drives visibility and engagement.</a:t>
            </a:r>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 It suggest followers find value-driven, informative content most appealing.</a:t>
            </a:r>
          </a:p>
          <a:p>
            <a:pPr>
              <a:buFont typeface="Wingdings" panose="05000000000000000000" pitchFamily="2" charset="2"/>
              <a:buChar char="q"/>
            </a:pPr>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Giveaways has reach slightly below tutorials but interaction is still strong. It confirms giveaways maintain good solid engagement, likely due to incentive-driven participation.</a:t>
            </a:r>
          </a:p>
          <a:p>
            <a:pPr>
              <a:buFont typeface="Wingdings" panose="05000000000000000000" pitchFamily="2" charset="2"/>
              <a:buChar char="q"/>
            </a:pPr>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Festive Offers has lowest reach and lowest interaction, indicating discount-based or seasonal promotions don’t excite followers as much as tutorials or giveaways.</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22740329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8">
                                            <p:graphicEl>
                                              <a:chart seriesIdx="-3" categoryIdx="-3" bldStep="gridLegend"/>
                                            </p:graphicEl>
                                          </p:spTgt>
                                        </p:tgtEl>
                                        <p:attrNameLst>
                                          <p:attrName>style.visibility</p:attrName>
                                        </p:attrNameLst>
                                      </p:cBhvr>
                                      <p:to>
                                        <p:strVal val="visible"/>
                                      </p:to>
                                    </p:set>
                                    <p:animEffect transition="in" filter="wipe(down)">
                                      <p:cBhvr>
                                        <p:cTn id="14" dur="500"/>
                                        <p:tgtEl>
                                          <p:spTgt spid="8">
                                            <p:graphicEl>
                                              <a:chart seriesIdx="-3" categoryIdx="-3" bldStep="gridLegend"/>
                                            </p:graphic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
                                            <p:graphicEl>
                                              <a:chart seriesIdx="-4" categoryIdx="0" bldStep="category"/>
                                            </p:graphicEl>
                                          </p:spTgt>
                                        </p:tgtEl>
                                        <p:attrNameLst>
                                          <p:attrName>style.visibility</p:attrName>
                                        </p:attrNameLst>
                                      </p:cBhvr>
                                      <p:to>
                                        <p:strVal val="visible"/>
                                      </p:to>
                                    </p:set>
                                    <p:animEffect transition="in" filter="wipe(down)">
                                      <p:cBhvr>
                                        <p:cTn id="19" dur="500"/>
                                        <p:tgtEl>
                                          <p:spTgt spid="8">
                                            <p:graphicEl>
                                              <a:chart seriesIdx="-4" categoryIdx="0" bldStep="category"/>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graphicEl>
                                              <a:chart seriesIdx="-4" categoryIdx="1" bldStep="category"/>
                                            </p:graphicEl>
                                          </p:spTgt>
                                        </p:tgtEl>
                                        <p:attrNameLst>
                                          <p:attrName>style.visibility</p:attrName>
                                        </p:attrNameLst>
                                      </p:cBhvr>
                                      <p:to>
                                        <p:strVal val="visible"/>
                                      </p:to>
                                    </p:set>
                                    <p:animEffect transition="in" filter="wipe(down)">
                                      <p:cBhvr>
                                        <p:cTn id="24" dur="500"/>
                                        <p:tgtEl>
                                          <p:spTgt spid="8">
                                            <p:graphicEl>
                                              <a:chart seriesIdx="-4" categoryIdx="1" bldStep="category"/>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8">
                                            <p:graphicEl>
                                              <a:chart seriesIdx="-4" categoryIdx="2" bldStep="category"/>
                                            </p:graphicEl>
                                          </p:spTgt>
                                        </p:tgtEl>
                                        <p:attrNameLst>
                                          <p:attrName>style.visibility</p:attrName>
                                        </p:attrNameLst>
                                      </p:cBhvr>
                                      <p:to>
                                        <p:strVal val="visible"/>
                                      </p:to>
                                    </p:set>
                                    <p:animEffect transition="in" filter="wipe(down)">
                                      <p:cBhvr>
                                        <p:cTn id="29" dur="500"/>
                                        <p:tgtEl>
                                          <p:spTgt spid="8">
                                            <p:graphicEl>
                                              <a:chart seriesIdx="-4" categoryIdx="2" bldStep="category"/>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8">
                                            <p:graphicEl>
                                              <a:chart seriesIdx="-4" categoryIdx="3" bldStep="category"/>
                                            </p:graphicEl>
                                          </p:spTgt>
                                        </p:tgtEl>
                                        <p:attrNameLst>
                                          <p:attrName>style.visibility</p:attrName>
                                        </p:attrNameLst>
                                      </p:cBhvr>
                                      <p:to>
                                        <p:strVal val="visible"/>
                                      </p:to>
                                    </p:set>
                                    <p:animEffect transition="in" filter="wipe(down)">
                                      <p:cBhvr>
                                        <p:cTn id="34" dur="500"/>
                                        <p:tgtEl>
                                          <p:spTgt spid="8">
                                            <p:graphicEl>
                                              <a:chart seriesIdx="-4" categoryIdx="3" bldStep="category"/>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8">
                                            <p:graphicEl>
                                              <a:chart seriesIdx="-4" categoryIdx="4" bldStep="category"/>
                                            </p:graphicEl>
                                          </p:spTgt>
                                        </p:tgtEl>
                                        <p:attrNameLst>
                                          <p:attrName>style.visibility</p:attrName>
                                        </p:attrNameLst>
                                      </p:cBhvr>
                                      <p:to>
                                        <p:strVal val="visible"/>
                                      </p:to>
                                    </p:set>
                                    <p:animEffect transition="in" filter="wipe(down)">
                                      <p:cBhvr>
                                        <p:cTn id="39" dur="500"/>
                                        <p:tgtEl>
                                          <p:spTgt spid="8">
                                            <p:graphicEl>
                                              <a:chart seriesIdx="-4" categoryIdx="4" bldStep="category"/>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2">
                                            <p:txEl>
                                              <p:pRg st="0" end="0"/>
                                            </p:txEl>
                                          </p:spTgt>
                                        </p:tgtEl>
                                        <p:attrNameLst>
                                          <p:attrName>style.visibility</p:attrName>
                                        </p:attrNameLst>
                                      </p:cBhvr>
                                      <p:to>
                                        <p:strVal val="visible"/>
                                      </p:to>
                                    </p:set>
                                    <p:animEffect transition="in" filter="wipe(down)">
                                      <p:cBhvr>
                                        <p:cTn id="44" dur="500"/>
                                        <p:tgtEl>
                                          <p:spTgt spid="12">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2">
                                            <p:txEl>
                                              <p:pRg st="1" end="1"/>
                                            </p:txEl>
                                          </p:spTgt>
                                        </p:tgtEl>
                                        <p:attrNameLst>
                                          <p:attrName>style.visibility</p:attrName>
                                        </p:attrNameLst>
                                      </p:cBhvr>
                                      <p:to>
                                        <p:strVal val="visible"/>
                                      </p:to>
                                    </p:set>
                                    <p:animEffect transition="in" filter="wipe(down)">
                                      <p:cBhvr>
                                        <p:cTn id="49" dur="500"/>
                                        <p:tgtEl>
                                          <p:spTgt spid="12">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2">
                                            <p:txEl>
                                              <p:pRg st="2" end="2"/>
                                            </p:txEl>
                                          </p:spTgt>
                                        </p:tgtEl>
                                        <p:attrNameLst>
                                          <p:attrName>style.visibility</p:attrName>
                                        </p:attrNameLst>
                                      </p:cBhvr>
                                      <p:to>
                                        <p:strVal val="visible"/>
                                      </p:to>
                                    </p:set>
                                    <p:animEffect transition="in" filter="wipe(down)">
                                      <p:cBhvr>
                                        <p:cTn id="54"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Sub>
          <a:bldChart bld="category"/>
        </p:bldSub>
      </p:bldGraphic>
      <p:bldP spid="1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97B91-B078-4538-BC14-08A54836C61B}"/>
              </a:ext>
            </a:extLst>
          </p:cNvPr>
          <p:cNvSpPr>
            <a:spLocks noGrp="1"/>
          </p:cNvSpPr>
          <p:nvPr>
            <p:ph type="title"/>
          </p:nvPr>
        </p:nvSpPr>
        <p:spPr/>
        <p:txBody>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Hashtag Performance</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6" name="Content Placeholder 5" descr="A table with numbers and text&#10;&#10;AI-generated content may be incorrect.">
            <a:extLst>
              <a:ext uri="{FF2B5EF4-FFF2-40B4-BE49-F238E27FC236}">
                <a16:creationId xmlns:a16="http://schemas.microsoft.com/office/drawing/2014/main" id="{7FE3B7A9-8FC2-7CE9-9F75-631C469882E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16311" y="3003316"/>
            <a:ext cx="5204132" cy="1224556"/>
          </a:xfrm>
        </p:spPr>
      </p:pic>
      <p:sp>
        <p:nvSpPr>
          <p:cNvPr id="4" name="Content Placeholder 3">
            <a:extLst>
              <a:ext uri="{FF2B5EF4-FFF2-40B4-BE49-F238E27FC236}">
                <a16:creationId xmlns:a16="http://schemas.microsoft.com/office/drawing/2014/main" id="{E7600433-CC9F-02B1-A59E-2FDE5BBF7E19}"/>
              </a:ext>
            </a:extLst>
          </p:cNvPr>
          <p:cNvSpPr>
            <a:spLocks noGrp="1"/>
          </p:cNvSpPr>
          <p:nvPr>
            <p:ph sz="half" idx="2"/>
          </p:nvPr>
        </p:nvSpPr>
        <p:spPr>
          <a:xfrm>
            <a:off x="5654493" y="2056092"/>
            <a:ext cx="6321196" cy="4531521"/>
          </a:xfrm>
        </p:spPr>
        <p:txBody>
          <a:bodyPr>
            <a:normAutofit fontScale="92500" lnSpcReduction="10000"/>
          </a:bodyPr>
          <a:lstStyle/>
          <a:p>
            <a:r>
              <a:rPr lang="en-US" dirty="0">
                <a:ln w="10160">
                  <a:solidFill>
                    <a:schemeClr val="accent5"/>
                  </a:solidFill>
                  <a:prstDash val="solid"/>
                </a:ln>
                <a:solidFill>
                  <a:srgbClr val="FFFFFF"/>
                </a:solidFill>
                <a:effectLst>
                  <a:outerShdw blurRad="38100" dist="22860" dir="5400000" algn="tl" rotWithShape="0">
                    <a:srgbClr val="000000">
                      <a:alpha val="30000"/>
                    </a:srgbClr>
                  </a:outerShdw>
                </a:effectLst>
              </a:rPr>
              <a:t>#VeganBeauty </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has highest Avg. Engagement Rate, Strong Interactions and reach. It suggests sugar’s audience is highly responsive to ethical and sustainable beauty content. Great opportunity to position brand messaging around vegan and cruelty-free values.</a:t>
            </a:r>
          </a:p>
          <a:p>
            <a:r>
              <a:rPr lang="en-US" dirty="0">
                <a:ln w="10160">
                  <a:solidFill>
                    <a:schemeClr val="accent5"/>
                  </a:solidFill>
                  <a:prstDash val="solid"/>
                </a:ln>
                <a:solidFill>
                  <a:srgbClr val="FFFFFF"/>
                </a:solidFill>
                <a:effectLst>
                  <a:outerShdw blurRad="38100" dist="22860" dir="5400000" algn="tl" rotWithShape="0">
                    <a:srgbClr val="000000">
                      <a:alpha val="30000"/>
                    </a:srgbClr>
                  </a:outerShdw>
                </a:effectLst>
              </a:rPr>
              <a:t>#CrueltyFree </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has highest reach and highest Total interactions, Indicating this hashtag brings maximum visibility. It reinforces audience interest in ethical beauty practices.</a:t>
            </a:r>
          </a:p>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Ethical and sustainability-related tags</a:t>
            </a:r>
            <a:r>
              <a:rPr lang="en-US" dirty="0">
                <a:ln w="10160">
                  <a:solidFill>
                    <a:schemeClr val="accent5"/>
                  </a:solidFill>
                  <a:prstDash val="solid"/>
                </a:ln>
                <a:solidFill>
                  <a:srgbClr val="FFFFFF"/>
                </a:solidFill>
                <a:effectLst>
                  <a:outerShdw blurRad="38100" dist="22860" dir="5400000" algn="tl" rotWithShape="0">
                    <a:srgbClr val="000000">
                      <a:alpha val="30000"/>
                    </a:srgbClr>
                  </a:outerShdw>
                </a:effectLst>
              </a:rPr>
              <a:t>(#VeganBeauty</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 </a:t>
            </a:r>
            <a:r>
              <a:rPr lang="en-US" dirty="0">
                <a:ln w="10160">
                  <a:solidFill>
                    <a:schemeClr val="accent5"/>
                  </a:solidFill>
                  <a:prstDash val="solid"/>
                </a:ln>
                <a:solidFill>
                  <a:srgbClr val="FFFFFF"/>
                </a:solidFill>
                <a:effectLst>
                  <a:outerShdw blurRad="38100" dist="22860" dir="5400000" algn="tl" rotWithShape="0">
                    <a:srgbClr val="000000">
                      <a:alpha val="30000"/>
                    </a:srgbClr>
                  </a:outerShdw>
                </a:effectLst>
              </a:rPr>
              <a:t>#CrueltyFree</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 outperform product or aesthetic-focused ones. Also, Engagement rates high and stable, indicating loyal, active followers with strong brand-audience alignment. And slightly numbers for #SugarCosmetics imply users engage more with lifestyle than brand-centric posts.</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37862682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ircle(in)">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wipe(down)">
                                      <p:cBhvr>
                                        <p:cTn id="19" dur="580">
                                          <p:stCondLst>
                                            <p:cond delay="0"/>
                                          </p:stCondLst>
                                        </p:cTn>
                                        <p:tgtEl>
                                          <p:spTgt spid="4">
                                            <p:txEl>
                                              <p:pRg st="0" end="0"/>
                                            </p:txEl>
                                          </p:spTgt>
                                        </p:tgtEl>
                                      </p:cBhvr>
                                    </p:animEffect>
                                    <p:anim calcmode="lin" valueType="num">
                                      <p:cBhvr>
                                        <p:cTn id="20"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25" dur="26">
                                          <p:stCondLst>
                                            <p:cond delay="650"/>
                                          </p:stCondLst>
                                        </p:cTn>
                                        <p:tgtEl>
                                          <p:spTgt spid="4">
                                            <p:txEl>
                                              <p:pRg st="0" end="0"/>
                                            </p:txEl>
                                          </p:spTgt>
                                        </p:tgtEl>
                                      </p:cBhvr>
                                      <p:to x="100000" y="60000"/>
                                    </p:animScale>
                                    <p:animScale>
                                      <p:cBhvr>
                                        <p:cTn id="26" dur="166" decel="50000">
                                          <p:stCondLst>
                                            <p:cond delay="676"/>
                                          </p:stCondLst>
                                        </p:cTn>
                                        <p:tgtEl>
                                          <p:spTgt spid="4">
                                            <p:txEl>
                                              <p:pRg st="0" end="0"/>
                                            </p:txEl>
                                          </p:spTgt>
                                        </p:tgtEl>
                                      </p:cBhvr>
                                      <p:to x="100000" y="100000"/>
                                    </p:animScale>
                                    <p:animScale>
                                      <p:cBhvr>
                                        <p:cTn id="27" dur="26">
                                          <p:stCondLst>
                                            <p:cond delay="1312"/>
                                          </p:stCondLst>
                                        </p:cTn>
                                        <p:tgtEl>
                                          <p:spTgt spid="4">
                                            <p:txEl>
                                              <p:pRg st="0" end="0"/>
                                            </p:txEl>
                                          </p:spTgt>
                                        </p:tgtEl>
                                      </p:cBhvr>
                                      <p:to x="100000" y="80000"/>
                                    </p:animScale>
                                    <p:animScale>
                                      <p:cBhvr>
                                        <p:cTn id="28" dur="166" decel="50000">
                                          <p:stCondLst>
                                            <p:cond delay="1338"/>
                                          </p:stCondLst>
                                        </p:cTn>
                                        <p:tgtEl>
                                          <p:spTgt spid="4">
                                            <p:txEl>
                                              <p:pRg st="0" end="0"/>
                                            </p:txEl>
                                          </p:spTgt>
                                        </p:tgtEl>
                                      </p:cBhvr>
                                      <p:to x="100000" y="100000"/>
                                    </p:animScale>
                                    <p:animScale>
                                      <p:cBhvr>
                                        <p:cTn id="29" dur="26">
                                          <p:stCondLst>
                                            <p:cond delay="1642"/>
                                          </p:stCondLst>
                                        </p:cTn>
                                        <p:tgtEl>
                                          <p:spTgt spid="4">
                                            <p:txEl>
                                              <p:pRg st="0" end="0"/>
                                            </p:txEl>
                                          </p:spTgt>
                                        </p:tgtEl>
                                      </p:cBhvr>
                                      <p:to x="100000" y="90000"/>
                                    </p:animScale>
                                    <p:animScale>
                                      <p:cBhvr>
                                        <p:cTn id="30" dur="166" decel="50000">
                                          <p:stCondLst>
                                            <p:cond delay="1668"/>
                                          </p:stCondLst>
                                        </p:cTn>
                                        <p:tgtEl>
                                          <p:spTgt spid="4">
                                            <p:txEl>
                                              <p:pRg st="0" end="0"/>
                                            </p:txEl>
                                          </p:spTgt>
                                        </p:tgtEl>
                                      </p:cBhvr>
                                      <p:to x="100000" y="100000"/>
                                    </p:animScale>
                                    <p:animScale>
                                      <p:cBhvr>
                                        <p:cTn id="31" dur="26">
                                          <p:stCondLst>
                                            <p:cond delay="1808"/>
                                          </p:stCondLst>
                                        </p:cTn>
                                        <p:tgtEl>
                                          <p:spTgt spid="4">
                                            <p:txEl>
                                              <p:pRg st="0" end="0"/>
                                            </p:txEl>
                                          </p:spTgt>
                                        </p:tgtEl>
                                      </p:cBhvr>
                                      <p:to x="100000" y="95000"/>
                                    </p:animScale>
                                    <p:animScale>
                                      <p:cBhvr>
                                        <p:cTn id="32" dur="166" decel="50000">
                                          <p:stCondLst>
                                            <p:cond delay="1834"/>
                                          </p:stCondLst>
                                        </p:cTn>
                                        <p:tgtEl>
                                          <p:spTgt spid="4">
                                            <p:txEl>
                                              <p:pRg st="0" end="0"/>
                                            </p:txEl>
                                          </p:spTgt>
                                        </p:tgtEl>
                                      </p:cBhvr>
                                      <p:to x="100000" y="100000"/>
                                    </p:animScale>
                                  </p:childTnLst>
                                </p:cTn>
                              </p:par>
                            </p:childTnLst>
                          </p:cTn>
                        </p:par>
                      </p:childTnLst>
                    </p:cTn>
                  </p:par>
                  <p:par>
                    <p:cTn id="33" fill="hold">
                      <p:stCondLst>
                        <p:cond delay="indefinite"/>
                      </p:stCondLst>
                      <p:childTnLst>
                        <p:par>
                          <p:cTn id="34" fill="hold">
                            <p:stCondLst>
                              <p:cond delay="0"/>
                            </p:stCondLst>
                            <p:childTnLst>
                              <p:par>
                                <p:cTn id="35" presetID="26" presetClass="entr" presetSubtype="0"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wipe(down)">
                                      <p:cBhvr>
                                        <p:cTn id="37" dur="580">
                                          <p:stCondLst>
                                            <p:cond delay="0"/>
                                          </p:stCondLst>
                                        </p:cTn>
                                        <p:tgtEl>
                                          <p:spTgt spid="4">
                                            <p:txEl>
                                              <p:pRg st="1" end="1"/>
                                            </p:txEl>
                                          </p:spTgt>
                                        </p:tgtEl>
                                      </p:cBhvr>
                                    </p:animEffect>
                                    <p:anim calcmode="lin" valueType="num">
                                      <p:cBhvr>
                                        <p:cTn id="38"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43" dur="26">
                                          <p:stCondLst>
                                            <p:cond delay="650"/>
                                          </p:stCondLst>
                                        </p:cTn>
                                        <p:tgtEl>
                                          <p:spTgt spid="4">
                                            <p:txEl>
                                              <p:pRg st="1" end="1"/>
                                            </p:txEl>
                                          </p:spTgt>
                                        </p:tgtEl>
                                      </p:cBhvr>
                                      <p:to x="100000" y="60000"/>
                                    </p:animScale>
                                    <p:animScale>
                                      <p:cBhvr>
                                        <p:cTn id="44" dur="166" decel="50000">
                                          <p:stCondLst>
                                            <p:cond delay="676"/>
                                          </p:stCondLst>
                                        </p:cTn>
                                        <p:tgtEl>
                                          <p:spTgt spid="4">
                                            <p:txEl>
                                              <p:pRg st="1" end="1"/>
                                            </p:txEl>
                                          </p:spTgt>
                                        </p:tgtEl>
                                      </p:cBhvr>
                                      <p:to x="100000" y="100000"/>
                                    </p:animScale>
                                    <p:animScale>
                                      <p:cBhvr>
                                        <p:cTn id="45" dur="26">
                                          <p:stCondLst>
                                            <p:cond delay="1312"/>
                                          </p:stCondLst>
                                        </p:cTn>
                                        <p:tgtEl>
                                          <p:spTgt spid="4">
                                            <p:txEl>
                                              <p:pRg st="1" end="1"/>
                                            </p:txEl>
                                          </p:spTgt>
                                        </p:tgtEl>
                                      </p:cBhvr>
                                      <p:to x="100000" y="80000"/>
                                    </p:animScale>
                                    <p:animScale>
                                      <p:cBhvr>
                                        <p:cTn id="46" dur="166" decel="50000">
                                          <p:stCondLst>
                                            <p:cond delay="1338"/>
                                          </p:stCondLst>
                                        </p:cTn>
                                        <p:tgtEl>
                                          <p:spTgt spid="4">
                                            <p:txEl>
                                              <p:pRg st="1" end="1"/>
                                            </p:txEl>
                                          </p:spTgt>
                                        </p:tgtEl>
                                      </p:cBhvr>
                                      <p:to x="100000" y="100000"/>
                                    </p:animScale>
                                    <p:animScale>
                                      <p:cBhvr>
                                        <p:cTn id="47" dur="26">
                                          <p:stCondLst>
                                            <p:cond delay="1642"/>
                                          </p:stCondLst>
                                        </p:cTn>
                                        <p:tgtEl>
                                          <p:spTgt spid="4">
                                            <p:txEl>
                                              <p:pRg st="1" end="1"/>
                                            </p:txEl>
                                          </p:spTgt>
                                        </p:tgtEl>
                                      </p:cBhvr>
                                      <p:to x="100000" y="90000"/>
                                    </p:animScale>
                                    <p:animScale>
                                      <p:cBhvr>
                                        <p:cTn id="48" dur="166" decel="50000">
                                          <p:stCondLst>
                                            <p:cond delay="1668"/>
                                          </p:stCondLst>
                                        </p:cTn>
                                        <p:tgtEl>
                                          <p:spTgt spid="4">
                                            <p:txEl>
                                              <p:pRg st="1" end="1"/>
                                            </p:txEl>
                                          </p:spTgt>
                                        </p:tgtEl>
                                      </p:cBhvr>
                                      <p:to x="100000" y="100000"/>
                                    </p:animScale>
                                    <p:animScale>
                                      <p:cBhvr>
                                        <p:cTn id="49" dur="26">
                                          <p:stCondLst>
                                            <p:cond delay="1808"/>
                                          </p:stCondLst>
                                        </p:cTn>
                                        <p:tgtEl>
                                          <p:spTgt spid="4">
                                            <p:txEl>
                                              <p:pRg st="1" end="1"/>
                                            </p:txEl>
                                          </p:spTgt>
                                        </p:tgtEl>
                                      </p:cBhvr>
                                      <p:to x="100000" y="95000"/>
                                    </p:animScale>
                                    <p:animScale>
                                      <p:cBhvr>
                                        <p:cTn id="50" dur="166" decel="50000">
                                          <p:stCondLst>
                                            <p:cond delay="1834"/>
                                          </p:stCondLst>
                                        </p:cTn>
                                        <p:tgtEl>
                                          <p:spTgt spid="4">
                                            <p:txEl>
                                              <p:pRg st="1" end="1"/>
                                            </p:txEl>
                                          </p:spTgt>
                                        </p:tgtEl>
                                      </p:cBhvr>
                                      <p:to x="100000" y="100000"/>
                                    </p:animScale>
                                  </p:childTnLst>
                                </p:cTn>
                              </p:par>
                            </p:childTnLst>
                          </p:cTn>
                        </p:par>
                      </p:childTnLst>
                    </p:cTn>
                  </p:par>
                  <p:par>
                    <p:cTn id="51" fill="hold">
                      <p:stCondLst>
                        <p:cond delay="indefinite"/>
                      </p:stCondLst>
                      <p:childTnLst>
                        <p:par>
                          <p:cTn id="52" fill="hold">
                            <p:stCondLst>
                              <p:cond delay="0"/>
                            </p:stCondLst>
                            <p:childTnLst>
                              <p:par>
                                <p:cTn id="53" presetID="26" presetClass="entr" presetSubtype="0" fill="hold" grpId="0"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Effect transition="in" filter="wipe(down)">
                                      <p:cBhvr>
                                        <p:cTn id="55" dur="580">
                                          <p:stCondLst>
                                            <p:cond delay="0"/>
                                          </p:stCondLst>
                                        </p:cTn>
                                        <p:tgtEl>
                                          <p:spTgt spid="4">
                                            <p:txEl>
                                              <p:pRg st="2" end="2"/>
                                            </p:txEl>
                                          </p:spTgt>
                                        </p:tgtEl>
                                      </p:cBhvr>
                                    </p:animEffect>
                                    <p:anim calcmode="lin" valueType="num">
                                      <p:cBhvr>
                                        <p:cTn id="56"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4">
                                            <p:txEl>
                                              <p:pRg st="2" end="2"/>
                                            </p:txEl>
                                          </p:spTgt>
                                        </p:tgtEl>
                                      </p:cBhvr>
                                      <p:to x="100000" y="60000"/>
                                    </p:animScale>
                                    <p:animScale>
                                      <p:cBhvr>
                                        <p:cTn id="62" dur="166" decel="50000">
                                          <p:stCondLst>
                                            <p:cond delay="676"/>
                                          </p:stCondLst>
                                        </p:cTn>
                                        <p:tgtEl>
                                          <p:spTgt spid="4">
                                            <p:txEl>
                                              <p:pRg st="2" end="2"/>
                                            </p:txEl>
                                          </p:spTgt>
                                        </p:tgtEl>
                                      </p:cBhvr>
                                      <p:to x="100000" y="100000"/>
                                    </p:animScale>
                                    <p:animScale>
                                      <p:cBhvr>
                                        <p:cTn id="63" dur="26">
                                          <p:stCondLst>
                                            <p:cond delay="1312"/>
                                          </p:stCondLst>
                                        </p:cTn>
                                        <p:tgtEl>
                                          <p:spTgt spid="4">
                                            <p:txEl>
                                              <p:pRg st="2" end="2"/>
                                            </p:txEl>
                                          </p:spTgt>
                                        </p:tgtEl>
                                      </p:cBhvr>
                                      <p:to x="100000" y="80000"/>
                                    </p:animScale>
                                    <p:animScale>
                                      <p:cBhvr>
                                        <p:cTn id="64" dur="166" decel="50000">
                                          <p:stCondLst>
                                            <p:cond delay="1338"/>
                                          </p:stCondLst>
                                        </p:cTn>
                                        <p:tgtEl>
                                          <p:spTgt spid="4">
                                            <p:txEl>
                                              <p:pRg st="2" end="2"/>
                                            </p:txEl>
                                          </p:spTgt>
                                        </p:tgtEl>
                                      </p:cBhvr>
                                      <p:to x="100000" y="100000"/>
                                    </p:animScale>
                                    <p:animScale>
                                      <p:cBhvr>
                                        <p:cTn id="65" dur="26">
                                          <p:stCondLst>
                                            <p:cond delay="1642"/>
                                          </p:stCondLst>
                                        </p:cTn>
                                        <p:tgtEl>
                                          <p:spTgt spid="4">
                                            <p:txEl>
                                              <p:pRg st="2" end="2"/>
                                            </p:txEl>
                                          </p:spTgt>
                                        </p:tgtEl>
                                      </p:cBhvr>
                                      <p:to x="100000" y="90000"/>
                                    </p:animScale>
                                    <p:animScale>
                                      <p:cBhvr>
                                        <p:cTn id="66" dur="166" decel="50000">
                                          <p:stCondLst>
                                            <p:cond delay="1668"/>
                                          </p:stCondLst>
                                        </p:cTn>
                                        <p:tgtEl>
                                          <p:spTgt spid="4">
                                            <p:txEl>
                                              <p:pRg st="2" end="2"/>
                                            </p:txEl>
                                          </p:spTgt>
                                        </p:tgtEl>
                                      </p:cBhvr>
                                      <p:to x="100000" y="100000"/>
                                    </p:animScale>
                                    <p:animScale>
                                      <p:cBhvr>
                                        <p:cTn id="67" dur="26">
                                          <p:stCondLst>
                                            <p:cond delay="1808"/>
                                          </p:stCondLst>
                                        </p:cTn>
                                        <p:tgtEl>
                                          <p:spTgt spid="4">
                                            <p:txEl>
                                              <p:pRg st="2" end="2"/>
                                            </p:txEl>
                                          </p:spTgt>
                                        </p:tgtEl>
                                      </p:cBhvr>
                                      <p:to x="100000" y="95000"/>
                                    </p:animScale>
                                    <p:animScale>
                                      <p:cBhvr>
                                        <p:cTn id="68" dur="166" decel="50000">
                                          <p:stCondLst>
                                            <p:cond delay="1834"/>
                                          </p:stCondLst>
                                        </p:cTn>
                                        <p:tgtEl>
                                          <p:spTgt spid="4">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D4EC-0F86-0065-A829-B5F09C994550}"/>
              </a:ext>
            </a:extLst>
          </p:cNvPr>
          <p:cNvSpPr>
            <a:spLocks noGrp="1"/>
          </p:cNvSpPr>
          <p:nvPr>
            <p:ph type="title"/>
          </p:nvPr>
        </p:nvSpPr>
        <p:spPr>
          <a:xfrm>
            <a:off x="646111" y="452718"/>
            <a:ext cx="9404723" cy="719232"/>
          </a:xfrm>
        </p:spPr>
        <p:txBody>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Day of Week Analysis</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aphicFrame>
        <p:nvGraphicFramePr>
          <p:cNvPr id="5" name="Chart 4">
            <a:extLst>
              <a:ext uri="{FF2B5EF4-FFF2-40B4-BE49-F238E27FC236}">
                <a16:creationId xmlns:a16="http://schemas.microsoft.com/office/drawing/2014/main" id="{AB8C5716-ACF2-109F-6C9D-A26D82804313}"/>
              </a:ext>
            </a:extLst>
          </p:cNvPr>
          <p:cNvGraphicFramePr/>
          <p:nvPr>
            <p:extLst>
              <p:ext uri="{D42A27DB-BD31-4B8C-83A1-F6EECF244321}">
                <p14:modId xmlns:p14="http://schemas.microsoft.com/office/powerpoint/2010/main" val="542999100"/>
              </p:ext>
            </p:extLst>
          </p:nvPr>
        </p:nvGraphicFramePr>
        <p:xfrm>
          <a:off x="491612" y="1171950"/>
          <a:ext cx="11054277" cy="52333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528272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14" dur="500"/>
                                        <p:tgtEl>
                                          <p:spTgt spid="5">
                                            <p:graphicEl>
                                              <a:chart seriesIdx="-3" categoryIdx="-3" bldStep="gridLegend"/>
                                            </p:graphic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graphicEl>
                                              <a:chart seriesIdx="0" categoryIdx="0" bldStep="ptInCategory"/>
                                            </p:graphicEl>
                                          </p:spTgt>
                                        </p:tgtEl>
                                        <p:attrNameLst>
                                          <p:attrName>style.visibility</p:attrName>
                                        </p:attrNameLst>
                                      </p:cBhvr>
                                      <p:to>
                                        <p:strVal val="visible"/>
                                      </p:to>
                                    </p:set>
                                    <p:animEffect transition="in" filter="wipe(down)">
                                      <p:cBhvr>
                                        <p:cTn id="19" dur="500"/>
                                        <p:tgtEl>
                                          <p:spTgt spid="5">
                                            <p:graphicEl>
                                              <a:chart seriesIdx="0" categoryIdx="0" bldStep="ptInCategory"/>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
                                            <p:graphicEl>
                                              <a:chart seriesIdx="1" categoryIdx="0" bldStep="ptInCategory"/>
                                            </p:graphicEl>
                                          </p:spTgt>
                                        </p:tgtEl>
                                        <p:attrNameLst>
                                          <p:attrName>style.visibility</p:attrName>
                                        </p:attrNameLst>
                                      </p:cBhvr>
                                      <p:to>
                                        <p:strVal val="visible"/>
                                      </p:to>
                                    </p:set>
                                    <p:animEffect transition="in" filter="wipe(down)">
                                      <p:cBhvr>
                                        <p:cTn id="24" dur="500"/>
                                        <p:tgtEl>
                                          <p:spTgt spid="5">
                                            <p:graphicEl>
                                              <a:chart seriesIdx="1" categoryIdx="0" bldStep="ptInCategory"/>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5">
                                            <p:graphicEl>
                                              <a:chart seriesIdx="2" categoryIdx="0" bldStep="ptInCategory"/>
                                            </p:graphicEl>
                                          </p:spTgt>
                                        </p:tgtEl>
                                        <p:attrNameLst>
                                          <p:attrName>style.visibility</p:attrName>
                                        </p:attrNameLst>
                                      </p:cBhvr>
                                      <p:to>
                                        <p:strVal val="visible"/>
                                      </p:to>
                                    </p:set>
                                    <p:animEffect transition="in" filter="wipe(down)">
                                      <p:cBhvr>
                                        <p:cTn id="29" dur="500"/>
                                        <p:tgtEl>
                                          <p:spTgt spid="5">
                                            <p:graphicEl>
                                              <a:chart seriesIdx="2" categoryIdx="0" bldStep="ptInCategory"/>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5">
                                            <p:graphicEl>
                                              <a:chart seriesIdx="3" categoryIdx="0" bldStep="ptInCategory"/>
                                            </p:graphicEl>
                                          </p:spTgt>
                                        </p:tgtEl>
                                        <p:attrNameLst>
                                          <p:attrName>style.visibility</p:attrName>
                                        </p:attrNameLst>
                                      </p:cBhvr>
                                      <p:to>
                                        <p:strVal val="visible"/>
                                      </p:to>
                                    </p:set>
                                    <p:animEffect transition="in" filter="wipe(down)">
                                      <p:cBhvr>
                                        <p:cTn id="34" dur="500"/>
                                        <p:tgtEl>
                                          <p:spTgt spid="5">
                                            <p:graphicEl>
                                              <a:chart seriesIdx="3" categoryIdx="0" bldStep="ptInCategory"/>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5">
                                            <p:graphicEl>
                                              <a:chart seriesIdx="0" categoryIdx="1" bldStep="ptInCategory"/>
                                            </p:graphicEl>
                                          </p:spTgt>
                                        </p:tgtEl>
                                        <p:attrNameLst>
                                          <p:attrName>style.visibility</p:attrName>
                                        </p:attrNameLst>
                                      </p:cBhvr>
                                      <p:to>
                                        <p:strVal val="visible"/>
                                      </p:to>
                                    </p:set>
                                    <p:animEffect transition="in" filter="wipe(down)">
                                      <p:cBhvr>
                                        <p:cTn id="39" dur="500"/>
                                        <p:tgtEl>
                                          <p:spTgt spid="5">
                                            <p:graphicEl>
                                              <a:chart seriesIdx="0" categoryIdx="1" bldStep="ptInCategory"/>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5">
                                            <p:graphicEl>
                                              <a:chart seriesIdx="1" categoryIdx="1" bldStep="ptInCategory"/>
                                            </p:graphicEl>
                                          </p:spTgt>
                                        </p:tgtEl>
                                        <p:attrNameLst>
                                          <p:attrName>style.visibility</p:attrName>
                                        </p:attrNameLst>
                                      </p:cBhvr>
                                      <p:to>
                                        <p:strVal val="visible"/>
                                      </p:to>
                                    </p:set>
                                    <p:animEffect transition="in" filter="wipe(down)">
                                      <p:cBhvr>
                                        <p:cTn id="44" dur="500"/>
                                        <p:tgtEl>
                                          <p:spTgt spid="5">
                                            <p:graphicEl>
                                              <a:chart seriesIdx="1" categoryIdx="1" bldStep="ptInCategory"/>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5">
                                            <p:graphicEl>
                                              <a:chart seriesIdx="2" categoryIdx="1" bldStep="ptInCategory"/>
                                            </p:graphicEl>
                                          </p:spTgt>
                                        </p:tgtEl>
                                        <p:attrNameLst>
                                          <p:attrName>style.visibility</p:attrName>
                                        </p:attrNameLst>
                                      </p:cBhvr>
                                      <p:to>
                                        <p:strVal val="visible"/>
                                      </p:to>
                                    </p:set>
                                    <p:animEffect transition="in" filter="wipe(down)">
                                      <p:cBhvr>
                                        <p:cTn id="49" dur="500"/>
                                        <p:tgtEl>
                                          <p:spTgt spid="5">
                                            <p:graphicEl>
                                              <a:chart seriesIdx="2" categoryIdx="1" bldStep="ptInCategory"/>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5">
                                            <p:graphicEl>
                                              <a:chart seriesIdx="3" categoryIdx="1" bldStep="ptInCategory"/>
                                            </p:graphicEl>
                                          </p:spTgt>
                                        </p:tgtEl>
                                        <p:attrNameLst>
                                          <p:attrName>style.visibility</p:attrName>
                                        </p:attrNameLst>
                                      </p:cBhvr>
                                      <p:to>
                                        <p:strVal val="visible"/>
                                      </p:to>
                                    </p:set>
                                    <p:animEffect transition="in" filter="wipe(down)">
                                      <p:cBhvr>
                                        <p:cTn id="54" dur="500"/>
                                        <p:tgtEl>
                                          <p:spTgt spid="5">
                                            <p:graphicEl>
                                              <a:chart seriesIdx="3" categoryIdx="1" bldStep="ptInCategory"/>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5">
                                            <p:graphicEl>
                                              <a:chart seriesIdx="0" categoryIdx="2" bldStep="ptInCategory"/>
                                            </p:graphicEl>
                                          </p:spTgt>
                                        </p:tgtEl>
                                        <p:attrNameLst>
                                          <p:attrName>style.visibility</p:attrName>
                                        </p:attrNameLst>
                                      </p:cBhvr>
                                      <p:to>
                                        <p:strVal val="visible"/>
                                      </p:to>
                                    </p:set>
                                    <p:animEffect transition="in" filter="wipe(down)">
                                      <p:cBhvr>
                                        <p:cTn id="59" dur="500"/>
                                        <p:tgtEl>
                                          <p:spTgt spid="5">
                                            <p:graphicEl>
                                              <a:chart seriesIdx="0" categoryIdx="2" bldStep="ptInCategory"/>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5">
                                            <p:graphicEl>
                                              <a:chart seriesIdx="1" categoryIdx="2" bldStep="ptInCategory"/>
                                            </p:graphicEl>
                                          </p:spTgt>
                                        </p:tgtEl>
                                        <p:attrNameLst>
                                          <p:attrName>style.visibility</p:attrName>
                                        </p:attrNameLst>
                                      </p:cBhvr>
                                      <p:to>
                                        <p:strVal val="visible"/>
                                      </p:to>
                                    </p:set>
                                    <p:animEffect transition="in" filter="wipe(down)">
                                      <p:cBhvr>
                                        <p:cTn id="64" dur="500"/>
                                        <p:tgtEl>
                                          <p:spTgt spid="5">
                                            <p:graphicEl>
                                              <a:chart seriesIdx="1" categoryIdx="2" bldStep="ptInCategory"/>
                                            </p:graphic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5">
                                            <p:graphicEl>
                                              <a:chart seriesIdx="2" categoryIdx="2" bldStep="ptInCategory"/>
                                            </p:graphicEl>
                                          </p:spTgt>
                                        </p:tgtEl>
                                        <p:attrNameLst>
                                          <p:attrName>style.visibility</p:attrName>
                                        </p:attrNameLst>
                                      </p:cBhvr>
                                      <p:to>
                                        <p:strVal val="visible"/>
                                      </p:to>
                                    </p:set>
                                    <p:animEffect transition="in" filter="wipe(down)">
                                      <p:cBhvr>
                                        <p:cTn id="69" dur="500"/>
                                        <p:tgtEl>
                                          <p:spTgt spid="5">
                                            <p:graphicEl>
                                              <a:chart seriesIdx="2" categoryIdx="2" bldStep="ptInCategory"/>
                                            </p:graphic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5">
                                            <p:graphicEl>
                                              <a:chart seriesIdx="3" categoryIdx="2" bldStep="ptInCategory"/>
                                            </p:graphicEl>
                                          </p:spTgt>
                                        </p:tgtEl>
                                        <p:attrNameLst>
                                          <p:attrName>style.visibility</p:attrName>
                                        </p:attrNameLst>
                                      </p:cBhvr>
                                      <p:to>
                                        <p:strVal val="visible"/>
                                      </p:to>
                                    </p:set>
                                    <p:animEffect transition="in" filter="wipe(down)">
                                      <p:cBhvr>
                                        <p:cTn id="74" dur="500"/>
                                        <p:tgtEl>
                                          <p:spTgt spid="5">
                                            <p:graphicEl>
                                              <a:chart seriesIdx="3" categoryIdx="2" bldStep="ptInCategory"/>
                                            </p:graphic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5">
                                            <p:graphicEl>
                                              <a:chart seriesIdx="0" categoryIdx="3" bldStep="ptInCategory"/>
                                            </p:graphicEl>
                                          </p:spTgt>
                                        </p:tgtEl>
                                        <p:attrNameLst>
                                          <p:attrName>style.visibility</p:attrName>
                                        </p:attrNameLst>
                                      </p:cBhvr>
                                      <p:to>
                                        <p:strVal val="visible"/>
                                      </p:to>
                                    </p:set>
                                    <p:animEffect transition="in" filter="wipe(down)">
                                      <p:cBhvr>
                                        <p:cTn id="79" dur="500"/>
                                        <p:tgtEl>
                                          <p:spTgt spid="5">
                                            <p:graphicEl>
                                              <a:chart seriesIdx="0" categoryIdx="3" bldStep="ptInCategory"/>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5">
                                            <p:graphicEl>
                                              <a:chart seriesIdx="1" categoryIdx="3" bldStep="ptInCategory"/>
                                            </p:graphicEl>
                                          </p:spTgt>
                                        </p:tgtEl>
                                        <p:attrNameLst>
                                          <p:attrName>style.visibility</p:attrName>
                                        </p:attrNameLst>
                                      </p:cBhvr>
                                      <p:to>
                                        <p:strVal val="visible"/>
                                      </p:to>
                                    </p:set>
                                    <p:animEffect transition="in" filter="wipe(down)">
                                      <p:cBhvr>
                                        <p:cTn id="84" dur="500"/>
                                        <p:tgtEl>
                                          <p:spTgt spid="5">
                                            <p:graphicEl>
                                              <a:chart seriesIdx="1" categoryIdx="3" bldStep="ptInCategory"/>
                                            </p:graphic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5">
                                            <p:graphicEl>
                                              <a:chart seriesIdx="2" categoryIdx="3" bldStep="ptInCategory"/>
                                            </p:graphicEl>
                                          </p:spTgt>
                                        </p:tgtEl>
                                        <p:attrNameLst>
                                          <p:attrName>style.visibility</p:attrName>
                                        </p:attrNameLst>
                                      </p:cBhvr>
                                      <p:to>
                                        <p:strVal val="visible"/>
                                      </p:to>
                                    </p:set>
                                    <p:animEffect transition="in" filter="wipe(down)">
                                      <p:cBhvr>
                                        <p:cTn id="89" dur="500"/>
                                        <p:tgtEl>
                                          <p:spTgt spid="5">
                                            <p:graphicEl>
                                              <a:chart seriesIdx="2" categoryIdx="3" bldStep="ptInCategory"/>
                                            </p:graphic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5">
                                            <p:graphicEl>
                                              <a:chart seriesIdx="3" categoryIdx="3" bldStep="ptInCategory"/>
                                            </p:graphicEl>
                                          </p:spTgt>
                                        </p:tgtEl>
                                        <p:attrNameLst>
                                          <p:attrName>style.visibility</p:attrName>
                                        </p:attrNameLst>
                                      </p:cBhvr>
                                      <p:to>
                                        <p:strVal val="visible"/>
                                      </p:to>
                                    </p:set>
                                    <p:animEffect transition="in" filter="wipe(down)">
                                      <p:cBhvr>
                                        <p:cTn id="94" dur="500"/>
                                        <p:tgtEl>
                                          <p:spTgt spid="5">
                                            <p:graphicEl>
                                              <a:chart seriesIdx="3" categoryIdx="3" bldStep="ptInCategory"/>
                                            </p:graphic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5">
                                            <p:graphicEl>
                                              <a:chart seriesIdx="0" categoryIdx="4" bldStep="ptInCategory"/>
                                            </p:graphicEl>
                                          </p:spTgt>
                                        </p:tgtEl>
                                        <p:attrNameLst>
                                          <p:attrName>style.visibility</p:attrName>
                                        </p:attrNameLst>
                                      </p:cBhvr>
                                      <p:to>
                                        <p:strVal val="visible"/>
                                      </p:to>
                                    </p:set>
                                    <p:animEffect transition="in" filter="wipe(down)">
                                      <p:cBhvr>
                                        <p:cTn id="99" dur="500"/>
                                        <p:tgtEl>
                                          <p:spTgt spid="5">
                                            <p:graphicEl>
                                              <a:chart seriesIdx="0" categoryIdx="4" bldStep="ptInCategory"/>
                                            </p:graphic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grpId="0" nodeType="clickEffect">
                                  <p:stCondLst>
                                    <p:cond delay="0"/>
                                  </p:stCondLst>
                                  <p:childTnLst>
                                    <p:set>
                                      <p:cBhvr>
                                        <p:cTn id="103" dur="1" fill="hold">
                                          <p:stCondLst>
                                            <p:cond delay="0"/>
                                          </p:stCondLst>
                                        </p:cTn>
                                        <p:tgtEl>
                                          <p:spTgt spid="5">
                                            <p:graphicEl>
                                              <a:chart seriesIdx="1" categoryIdx="4" bldStep="ptInCategory"/>
                                            </p:graphicEl>
                                          </p:spTgt>
                                        </p:tgtEl>
                                        <p:attrNameLst>
                                          <p:attrName>style.visibility</p:attrName>
                                        </p:attrNameLst>
                                      </p:cBhvr>
                                      <p:to>
                                        <p:strVal val="visible"/>
                                      </p:to>
                                    </p:set>
                                    <p:animEffect transition="in" filter="wipe(down)">
                                      <p:cBhvr>
                                        <p:cTn id="104" dur="500"/>
                                        <p:tgtEl>
                                          <p:spTgt spid="5">
                                            <p:graphicEl>
                                              <a:chart seriesIdx="1" categoryIdx="4" bldStep="ptInCategory"/>
                                            </p:graphic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5">
                                            <p:graphicEl>
                                              <a:chart seriesIdx="2" categoryIdx="4" bldStep="ptInCategory"/>
                                            </p:graphicEl>
                                          </p:spTgt>
                                        </p:tgtEl>
                                        <p:attrNameLst>
                                          <p:attrName>style.visibility</p:attrName>
                                        </p:attrNameLst>
                                      </p:cBhvr>
                                      <p:to>
                                        <p:strVal val="visible"/>
                                      </p:to>
                                    </p:set>
                                    <p:animEffect transition="in" filter="wipe(down)">
                                      <p:cBhvr>
                                        <p:cTn id="109" dur="500"/>
                                        <p:tgtEl>
                                          <p:spTgt spid="5">
                                            <p:graphicEl>
                                              <a:chart seriesIdx="2" categoryIdx="4" bldStep="ptInCategory"/>
                                            </p:graphic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grpId="0" nodeType="clickEffect">
                                  <p:stCondLst>
                                    <p:cond delay="0"/>
                                  </p:stCondLst>
                                  <p:childTnLst>
                                    <p:set>
                                      <p:cBhvr>
                                        <p:cTn id="113" dur="1" fill="hold">
                                          <p:stCondLst>
                                            <p:cond delay="0"/>
                                          </p:stCondLst>
                                        </p:cTn>
                                        <p:tgtEl>
                                          <p:spTgt spid="5">
                                            <p:graphicEl>
                                              <a:chart seriesIdx="3" categoryIdx="4" bldStep="ptInCategory"/>
                                            </p:graphicEl>
                                          </p:spTgt>
                                        </p:tgtEl>
                                        <p:attrNameLst>
                                          <p:attrName>style.visibility</p:attrName>
                                        </p:attrNameLst>
                                      </p:cBhvr>
                                      <p:to>
                                        <p:strVal val="visible"/>
                                      </p:to>
                                    </p:set>
                                    <p:animEffect transition="in" filter="wipe(down)">
                                      <p:cBhvr>
                                        <p:cTn id="114" dur="500"/>
                                        <p:tgtEl>
                                          <p:spTgt spid="5">
                                            <p:graphicEl>
                                              <a:chart seriesIdx="3" categoryIdx="4" bldStep="ptInCategory"/>
                                            </p:graphic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grpId="0" nodeType="clickEffect">
                                  <p:stCondLst>
                                    <p:cond delay="0"/>
                                  </p:stCondLst>
                                  <p:childTnLst>
                                    <p:set>
                                      <p:cBhvr>
                                        <p:cTn id="118" dur="1" fill="hold">
                                          <p:stCondLst>
                                            <p:cond delay="0"/>
                                          </p:stCondLst>
                                        </p:cTn>
                                        <p:tgtEl>
                                          <p:spTgt spid="5">
                                            <p:graphicEl>
                                              <a:chart seriesIdx="0" categoryIdx="5" bldStep="ptInCategory"/>
                                            </p:graphicEl>
                                          </p:spTgt>
                                        </p:tgtEl>
                                        <p:attrNameLst>
                                          <p:attrName>style.visibility</p:attrName>
                                        </p:attrNameLst>
                                      </p:cBhvr>
                                      <p:to>
                                        <p:strVal val="visible"/>
                                      </p:to>
                                    </p:set>
                                    <p:animEffect transition="in" filter="wipe(down)">
                                      <p:cBhvr>
                                        <p:cTn id="119" dur="500"/>
                                        <p:tgtEl>
                                          <p:spTgt spid="5">
                                            <p:graphicEl>
                                              <a:chart seriesIdx="0" categoryIdx="5" bldStep="ptInCategory"/>
                                            </p:graphicEl>
                                          </p:spTgt>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grpId="0" nodeType="clickEffect">
                                  <p:stCondLst>
                                    <p:cond delay="0"/>
                                  </p:stCondLst>
                                  <p:childTnLst>
                                    <p:set>
                                      <p:cBhvr>
                                        <p:cTn id="123" dur="1" fill="hold">
                                          <p:stCondLst>
                                            <p:cond delay="0"/>
                                          </p:stCondLst>
                                        </p:cTn>
                                        <p:tgtEl>
                                          <p:spTgt spid="5">
                                            <p:graphicEl>
                                              <a:chart seriesIdx="1" categoryIdx="5" bldStep="ptInCategory"/>
                                            </p:graphicEl>
                                          </p:spTgt>
                                        </p:tgtEl>
                                        <p:attrNameLst>
                                          <p:attrName>style.visibility</p:attrName>
                                        </p:attrNameLst>
                                      </p:cBhvr>
                                      <p:to>
                                        <p:strVal val="visible"/>
                                      </p:to>
                                    </p:set>
                                    <p:animEffect transition="in" filter="wipe(down)">
                                      <p:cBhvr>
                                        <p:cTn id="124" dur="500"/>
                                        <p:tgtEl>
                                          <p:spTgt spid="5">
                                            <p:graphicEl>
                                              <a:chart seriesIdx="1" categoryIdx="5" bldStep="ptInCategory"/>
                                            </p:graphicEl>
                                          </p:spTgt>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5">
                                            <p:graphicEl>
                                              <a:chart seriesIdx="2" categoryIdx="5" bldStep="ptInCategory"/>
                                            </p:graphicEl>
                                          </p:spTgt>
                                        </p:tgtEl>
                                        <p:attrNameLst>
                                          <p:attrName>style.visibility</p:attrName>
                                        </p:attrNameLst>
                                      </p:cBhvr>
                                      <p:to>
                                        <p:strVal val="visible"/>
                                      </p:to>
                                    </p:set>
                                    <p:animEffect transition="in" filter="wipe(down)">
                                      <p:cBhvr>
                                        <p:cTn id="129" dur="500"/>
                                        <p:tgtEl>
                                          <p:spTgt spid="5">
                                            <p:graphicEl>
                                              <a:chart seriesIdx="2" categoryIdx="5" bldStep="ptInCategory"/>
                                            </p:graphicEl>
                                          </p:spTgt>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4" fill="hold" grpId="0" nodeType="clickEffect">
                                  <p:stCondLst>
                                    <p:cond delay="0"/>
                                  </p:stCondLst>
                                  <p:childTnLst>
                                    <p:set>
                                      <p:cBhvr>
                                        <p:cTn id="133" dur="1" fill="hold">
                                          <p:stCondLst>
                                            <p:cond delay="0"/>
                                          </p:stCondLst>
                                        </p:cTn>
                                        <p:tgtEl>
                                          <p:spTgt spid="5">
                                            <p:graphicEl>
                                              <a:chart seriesIdx="3" categoryIdx="5" bldStep="ptInCategory"/>
                                            </p:graphicEl>
                                          </p:spTgt>
                                        </p:tgtEl>
                                        <p:attrNameLst>
                                          <p:attrName>style.visibility</p:attrName>
                                        </p:attrNameLst>
                                      </p:cBhvr>
                                      <p:to>
                                        <p:strVal val="visible"/>
                                      </p:to>
                                    </p:set>
                                    <p:animEffect transition="in" filter="wipe(down)">
                                      <p:cBhvr>
                                        <p:cTn id="134" dur="500"/>
                                        <p:tgtEl>
                                          <p:spTgt spid="5">
                                            <p:graphicEl>
                                              <a:chart seriesIdx="3" categoryIdx="5" bldStep="ptInCategory"/>
                                            </p:graphic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4" fill="hold" grpId="0" nodeType="clickEffect">
                                  <p:stCondLst>
                                    <p:cond delay="0"/>
                                  </p:stCondLst>
                                  <p:childTnLst>
                                    <p:set>
                                      <p:cBhvr>
                                        <p:cTn id="138" dur="1" fill="hold">
                                          <p:stCondLst>
                                            <p:cond delay="0"/>
                                          </p:stCondLst>
                                        </p:cTn>
                                        <p:tgtEl>
                                          <p:spTgt spid="5">
                                            <p:graphicEl>
                                              <a:chart seriesIdx="0" categoryIdx="6" bldStep="ptInCategory"/>
                                            </p:graphicEl>
                                          </p:spTgt>
                                        </p:tgtEl>
                                        <p:attrNameLst>
                                          <p:attrName>style.visibility</p:attrName>
                                        </p:attrNameLst>
                                      </p:cBhvr>
                                      <p:to>
                                        <p:strVal val="visible"/>
                                      </p:to>
                                    </p:set>
                                    <p:animEffect transition="in" filter="wipe(down)">
                                      <p:cBhvr>
                                        <p:cTn id="139" dur="500"/>
                                        <p:tgtEl>
                                          <p:spTgt spid="5">
                                            <p:graphicEl>
                                              <a:chart seriesIdx="0" categoryIdx="6" bldStep="ptInCategory"/>
                                            </p:graphicEl>
                                          </p:spTgt>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grpId="0" nodeType="clickEffect">
                                  <p:stCondLst>
                                    <p:cond delay="0"/>
                                  </p:stCondLst>
                                  <p:childTnLst>
                                    <p:set>
                                      <p:cBhvr>
                                        <p:cTn id="143" dur="1" fill="hold">
                                          <p:stCondLst>
                                            <p:cond delay="0"/>
                                          </p:stCondLst>
                                        </p:cTn>
                                        <p:tgtEl>
                                          <p:spTgt spid="5">
                                            <p:graphicEl>
                                              <a:chart seriesIdx="1" categoryIdx="6" bldStep="ptInCategory"/>
                                            </p:graphicEl>
                                          </p:spTgt>
                                        </p:tgtEl>
                                        <p:attrNameLst>
                                          <p:attrName>style.visibility</p:attrName>
                                        </p:attrNameLst>
                                      </p:cBhvr>
                                      <p:to>
                                        <p:strVal val="visible"/>
                                      </p:to>
                                    </p:set>
                                    <p:animEffect transition="in" filter="wipe(down)">
                                      <p:cBhvr>
                                        <p:cTn id="144" dur="500"/>
                                        <p:tgtEl>
                                          <p:spTgt spid="5">
                                            <p:graphicEl>
                                              <a:chart seriesIdx="1" categoryIdx="6" bldStep="ptInCategory"/>
                                            </p:graphic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grpId="0" nodeType="clickEffect">
                                  <p:stCondLst>
                                    <p:cond delay="0"/>
                                  </p:stCondLst>
                                  <p:childTnLst>
                                    <p:set>
                                      <p:cBhvr>
                                        <p:cTn id="148" dur="1" fill="hold">
                                          <p:stCondLst>
                                            <p:cond delay="0"/>
                                          </p:stCondLst>
                                        </p:cTn>
                                        <p:tgtEl>
                                          <p:spTgt spid="5">
                                            <p:graphicEl>
                                              <a:chart seriesIdx="2" categoryIdx="6" bldStep="ptInCategory"/>
                                            </p:graphicEl>
                                          </p:spTgt>
                                        </p:tgtEl>
                                        <p:attrNameLst>
                                          <p:attrName>style.visibility</p:attrName>
                                        </p:attrNameLst>
                                      </p:cBhvr>
                                      <p:to>
                                        <p:strVal val="visible"/>
                                      </p:to>
                                    </p:set>
                                    <p:animEffect transition="in" filter="wipe(down)">
                                      <p:cBhvr>
                                        <p:cTn id="149" dur="500"/>
                                        <p:tgtEl>
                                          <p:spTgt spid="5">
                                            <p:graphicEl>
                                              <a:chart seriesIdx="2" categoryIdx="6" bldStep="ptInCategory"/>
                                            </p:graphicEl>
                                          </p:spTgt>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4" fill="hold" grpId="0" nodeType="clickEffect">
                                  <p:stCondLst>
                                    <p:cond delay="0"/>
                                  </p:stCondLst>
                                  <p:childTnLst>
                                    <p:set>
                                      <p:cBhvr>
                                        <p:cTn id="153" dur="1" fill="hold">
                                          <p:stCondLst>
                                            <p:cond delay="0"/>
                                          </p:stCondLst>
                                        </p:cTn>
                                        <p:tgtEl>
                                          <p:spTgt spid="5">
                                            <p:graphicEl>
                                              <a:chart seriesIdx="3" categoryIdx="6" bldStep="ptInCategory"/>
                                            </p:graphicEl>
                                          </p:spTgt>
                                        </p:tgtEl>
                                        <p:attrNameLst>
                                          <p:attrName>style.visibility</p:attrName>
                                        </p:attrNameLst>
                                      </p:cBhvr>
                                      <p:to>
                                        <p:strVal val="visible"/>
                                      </p:to>
                                    </p:set>
                                    <p:animEffect transition="in" filter="wipe(down)">
                                      <p:cBhvr>
                                        <p:cTn id="154" dur="500"/>
                                        <p:tgtEl>
                                          <p:spTgt spid="5">
                                            <p:graphicEl>
                                              <a:chart seriesIdx="3" categoryIdx="6" bldStep="ptIn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Sub>
          <a:bldChart bld="categoryEl"/>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DAEE5-1574-E702-0CF5-E32D7B922FC3}"/>
              </a:ext>
            </a:extLst>
          </p:cNvPr>
          <p:cNvSpPr>
            <a:spLocks noGrp="1"/>
          </p:cNvSpPr>
          <p:nvPr>
            <p:ph type="title"/>
          </p:nvPr>
        </p:nvSpPr>
        <p:spPr>
          <a:xfrm>
            <a:off x="646111" y="452718"/>
            <a:ext cx="9404723" cy="1061450"/>
          </a:xfrm>
        </p:spPr>
        <p:txBody>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Day of Week Analysis</a:t>
            </a:r>
            <a:endPar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aphicFrame>
        <p:nvGraphicFramePr>
          <p:cNvPr id="9" name="Content Placeholder 8">
            <a:extLst>
              <a:ext uri="{FF2B5EF4-FFF2-40B4-BE49-F238E27FC236}">
                <a16:creationId xmlns:a16="http://schemas.microsoft.com/office/drawing/2014/main" id="{08A5F607-ADFF-A4EA-8F32-7F41C80D2DB6}"/>
              </a:ext>
            </a:extLst>
          </p:cNvPr>
          <p:cNvGraphicFramePr>
            <a:graphicFrameLocks noGrp="1"/>
          </p:cNvGraphicFramePr>
          <p:nvPr>
            <p:ph sz="half" idx="1"/>
            <p:extLst>
              <p:ext uri="{D42A27DB-BD31-4B8C-83A1-F6EECF244321}">
                <p14:modId xmlns:p14="http://schemas.microsoft.com/office/powerpoint/2010/main" val="3771132174"/>
              </p:ext>
            </p:extLst>
          </p:nvPr>
        </p:nvGraphicFramePr>
        <p:xfrm>
          <a:off x="324465" y="1632155"/>
          <a:ext cx="5174635" cy="46241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ontent Placeholder 2">
            <a:extLst>
              <a:ext uri="{FF2B5EF4-FFF2-40B4-BE49-F238E27FC236}">
                <a16:creationId xmlns:a16="http://schemas.microsoft.com/office/drawing/2014/main" id="{62276467-506C-5CA4-E53A-DC98A022C5CB}"/>
              </a:ext>
            </a:extLst>
          </p:cNvPr>
          <p:cNvGraphicFramePr>
            <a:graphicFrameLocks noGrp="1"/>
          </p:cNvGraphicFramePr>
          <p:nvPr>
            <p:ph sz="half" idx="2"/>
            <p:extLst>
              <p:ext uri="{D42A27DB-BD31-4B8C-83A1-F6EECF244321}">
                <p14:modId xmlns:p14="http://schemas.microsoft.com/office/powerpoint/2010/main" val="1653225550"/>
              </p:ext>
            </p:extLst>
          </p:nvPr>
        </p:nvGraphicFramePr>
        <p:xfrm>
          <a:off x="5654675" y="1219200"/>
          <a:ext cx="6212860" cy="54962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3884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wipe(down)">
                                      <p:cBhvr>
                                        <p:cTn id="14" dur="500"/>
                                        <p:tgtEl>
                                          <p:spTgt spid="9">
                                            <p:graphicEl>
                                              <a:chart seriesIdx="-3" categoryIdx="-3" bldStep="gridLegend"/>
                                            </p:graphic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graphicEl>
                                              <a:chart seriesIdx="-4" categoryIdx="0" bldStep="category"/>
                                            </p:graphicEl>
                                          </p:spTgt>
                                        </p:tgtEl>
                                        <p:attrNameLst>
                                          <p:attrName>style.visibility</p:attrName>
                                        </p:attrNameLst>
                                      </p:cBhvr>
                                      <p:to>
                                        <p:strVal val="visible"/>
                                      </p:to>
                                    </p:set>
                                    <p:animEffect transition="in" filter="wipe(down)">
                                      <p:cBhvr>
                                        <p:cTn id="19" dur="500"/>
                                        <p:tgtEl>
                                          <p:spTgt spid="9">
                                            <p:graphicEl>
                                              <a:chart seriesIdx="-4" categoryIdx="0" bldStep="category"/>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9">
                                            <p:graphicEl>
                                              <a:chart seriesIdx="-4" categoryIdx="1" bldStep="category"/>
                                            </p:graphicEl>
                                          </p:spTgt>
                                        </p:tgtEl>
                                        <p:attrNameLst>
                                          <p:attrName>style.visibility</p:attrName>
                                        </p:attrNameLst>
                                      </p:cBhvr>
                                      <p:to>
                                        <p:strVal val="visible"/>
                                      </p:to>
                                    </p:set>
                                    <p:animEffect transition="in" filter="wipe(down)">
                                      <p:cBhvr>
                                        <p:cTn id="24" dur="500"/>
                                        <p:tgtEl>
                                          <p:spTgt spid="9">
                                            <p:graphicEl>
                                              <a:chart seriesIdx="-4" categoryIdx="1" bldStep="category"/>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9">
                                            <p:graphicEl>
                                              <a:chart seriesIdx="-4" categoryIdx="2" bldStep="category"/>
                                            </p:graphicEl>
                                          </p:spTgt>
                                        </p:tgtEl>
                                        <p:attrNameLst>
                                          <p:attrName>style.visibility</p:attrName>
                                        </p:attrNameLst>
                                      </p:cBhvr>
                                      <p:to>
                                        <p:strVal val="visible"/>
                                      </p:to>
                                    </p:set>
                                    <p:animEffect transition="in" filter="wipe(down)">
                                      <p:cBhvr>
                                        <p:cTn id="29" dur="500"/>
                                        <p:tgtEl>
                                          <p:spTgt spid="9">
                                            <p:graphicEl>
                                              <a:chart seriesIdx="-4" categoryIdx="2" bldStep="category"/>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9">
                                            <p:graphicEl>
                                              <a:chart seriesIdx="-4" categoryIdx="3" bldStep="category"/>
                                            </p:graphicEl>
                                          </p:spTgt>
                                        </p:tgtEl>
                                        <p:attrNameLst>
                                          <p:attrName>style.visibility</p:attrName>
                                        </p:attrNameLst>
                                      </p:cBhvr>
                                      <p:to>
                                        <p:strVal val="visible"/>
                                      </p:to>
                                    </p:set>
                                    <p:animEffect transition="in" filter="wipe(down)">
                                      <p:cBhvr>
                                        <p:cTn id="34" dur="500"/>
                                        <p:tgtEl>
                                          <p:spTgt spid="9">
                                            <p:graphicEl>
                                              <a:chart seriesIdx="-4" categoryIdx="3" bldStep="category"/>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9">
                                            <p:graphicEl>
                                              <a:chart seriesIdx="-4" categoryIdx="4" bldStep="category"/>
                                            </p:graphicEl>
                                          </p:spTgt>
                                        </p:tgtEl>
                                        <p:attrNameLst>
                                          <p:attrName>style.visibility</p:attrName>
                                        </p:attrNameLst>
                                      </p:cBhvr>
                                      <p:to>
                                        <p:strVal val="visible"/>
                                      </p:to>
                                    </p:set>
                                    <p:animEffect transition="in" filter="wipe(down)">
                                      <p:cBhvr>
                                        <p:cTn id="39" dur="500"/>
                                        <p:tgtEl>
                                          <p:spTgt spid="9">
                                            <p:graphicEl>
                                              <a:chart seriesIdx="-4" categoryIdx="4" bldStep="category"/>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9">
                                            <p:graphicEl>
                                              <a:chart seriesIdx="-4" categoryIdx="5" bldStep="category"/>
                                            </p:graphicEl>
                                          </p:spTgt>
                                        </p:tgtEl>
                                        <p:attrNameLst>
                                          <p:attrName>style.visibility</p:attrName>
                                        </p:attrNameLst>
                                      </p:cBhvr>
                                      <p:to>
                                        <p:strVal val="visible"/>
                                      </p:to>
                                    </p:set>
                                    <p:animEffect transition="in" filter="wipe(down)">
                                      <p:cBhvr>
                                        <p:cTn id="44" dur="500"/>
                                        <p:tgtEl>
                                          <p:spTgt spid="9">
                                            <p:graphicEl>
                                              <a:chart seriesIdx="-4" categoryIdx="5" bldStep="category"/>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9">
                                            <p:graphicEl>
                                              <a:chart seriesIdx="-4" categoryIdx="6" bldStep="category"/>
                                            </p:graphicEl>
                                          </p:spTgt>
                                        </p:tgtEl>
                                        <p:attrNameLst>
                                          <p:attrName>style.visibility</p:attrName>
                                        </p:attrNameLst>
                                      </p:cBhvr>
                                      <p:to>
                                        <p:strVal val="visible"/>
                                      </p:to>
                                    </p:set>
                                    <p:animEffect transition="in" filter="wipe(down)">
                                      <p:cBhvr>
                                        <p:cTn id="49" dur="500"/>
                                        <p:tgtEl>
                                          <p:spTgt spid="9">
                                            <p:graphicEl>
                                              <a:chart seriesIdx="-4" categoryIdx="6" bldStep="category"/>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graphicEl>
                                              <a:dgm id="{3C106158-8874-4FC7-AC98-A4AEBE436D22}"/>
                                            </p:graphicEl>
                                          </p:spTgt>
                                        </p:tgtEl>
                                        <p:attrNameLst>
                                          <p:attrName>style.visibility</p:attrName>
                                        </p:attrNameLst>
                                      </p:cBhvr>
                                      <p:to>
                                        <p:strVal val="visible"/>
                                      </p:to>
                                    </p:set>
                                    <p:anim calcmode="lin" valueType="num">
                                      <p:cBhvr additive="base">
                                        <p:cTn id="54" dur="500" fill="hold"/>
                                        <p:tgtEl>
                                          <p:spTgt spid="3">
                                            <p:graphicEl>
                                              <a:dgm id="{3C106158-8874-4FC7-AC98-A4AEBE436D22}"/>
                                            </p:graphic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graphicEl>
                                              <a:dgm id="{3C106158-8874-4FC7-AC98-A4AEBE436D22}"/>
                                            </p:graphicEl>
                                          </p:spTgt>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
                                            <p:graphicEl>
                                              <a:dgm id="{2362C8FF-6914-4E99-A652-BEAA33501967}"/>
                                            </p:graphicEl>
                                          </p:spTgt>
                                        </p:tgtEl>
                                        <p:attrNameLst>
                                          <p:attrName>style.visibility</p:attrName>
                                        </p:attrNameLst>
                                      </p:cBhvr>
                                      <p:to>
                                        <p:strVal val="visible"/>
                                      </p:to>
                                    </p:set>
                                    <p:anim calcmode="lin" valueType="num">
                                      <p:cBhvr additive="base">
                                        <p:cTn id="58" dur="500" fill="hold"/>
                                        <p:tgtEl>
                                          <p:spTgt spid="3">
                                            <p:graphicEl>
                                              <a:dgm id="{2362C8FF-6914-4E99-A652-BEAA33501967}"/>
                                            </p:graphic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graphicEl>
                                              <a:dgm id="{2362C8FF-6914-4E99-A652-BEAA33501967}"/>
                                            </p:graphic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3">
                                            <p:graphicEl>
                                              <a:dgm id="{BE82F9D1-6E22-430A-B41F-924F1A15CE0D}"/>
                                            </p:graphicEl>
                                          </p:spTgt>
                                        </p:tgtEl>
                                        <p:attrNameLst>
                                          <p:attrName>style.visibility</p:attrName>
                                        </p:attrNameLst>
                                      </p:cBhvr>
                                      <p:to>
                                        <p:strVal val="visible"/>
                                      </p:to>
                                    </p:set>
                                    <p:anim calcmode="lin" valueType="num">
                                      <p:cBhvr additive="base">
                                        <p:cTn id="64" dur="500" fill="hold"/>
                                        <p:tgtEl>
                                          <p:spTgt spid="3">
                                            <p:graphicEl>
                                              <a:dgm id="{BE82F9D1-6E22-430A-B41F-924F1A15CE0D}"/>
                                            </p:graphicEl>
                                          </p:spTgt>
                                        </p:tgtEl>
                                        <p:attrNameLst>
                                          <p:attrName>ppt_x</p:attrName>
                                        </p:attrNameLst>
                                      </p:cBhvr>
                                      <p:tavLst>
                                        <p:tav tm="0">
                                          <p:val>
                                            <p:strVal val="#ppt_x"/>
                                          </p:val>
                                        </p:tav>
                                        <p:tav tm="100000">
                                          <p:val>
                                            <p:strVal val="#ppt_x"/>
                                          </p:val>
                                        </p:tav>
                                      </p:tavLst>
                                    </p:anim>
                                    <p:anim calcmode="lin" valueType="num">
                                      <p:cBhvr additive="base">
                                        <p:cTn id="65" dur="500" fill="hold"/>
                                        <p:tgtEl>
                                          <p:spTgt spid="3">
                                            <p:graphicEl>
                                              <a:dgm id="{BE82F9D1-6E22-430A-B41F-924F1A15CE0D}"/>
                                            </p:graphicEl>
                                          </p:spTgt>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3">
                                            <p:graphicEl>
                                              <a:dgm id="{D6DC9B21-E00C-48AD-B4B4-18EFA4491041}"/>
                                            </p:graphicEl>
                                          </p:spTgt>
                                        </p:tgtEl>
                                        <p:attrNameLst>
                                          <p:attrName>style.visibility</p:attrName>
                                        </p:attrNameLst>
                                      </p:cBhvr>
                                      <p:to>
                                        <p:strVal val="visible"/>
                                      </p:to>
                                    </p:set>
                                    <p:anim calcmode="lin" valueType="num">
                                      <p:cBhvr additive="base">
                                        <p:cTn id="70" dur="500" fill="hold"/>
                                        <p:tgtEl>
                                          <p:spTgt spid="3">
                                            <p:graphicEl>
                                              <a:dgm id="{D6DC9B21-E00C-48AD-B4B4-18EFA4491041}"/>
                                            </p:graphicEl>
                                          </p:spTgt>
                                        </p:tgtEl>
                                        <p:attrNameLst>
                                          <p:attrName>ppt_x</p:attrName>
                                        </p:attrNameLst>
                                      </p:cBhvr>
                                      <p:tavLst>
                                        <p:tav tm="0">
                                          <p:val>
                                            <p:strVal val="#ppt_x"/>
                                          </p:val>
                                        </p:tav>
                                        <p:tav tm="100000">
                                          <p:val>
                                            <p:strVal val="#ppt_x"/>
                                          </p:val>
                                        </p:tav>
                                      </p:tavLst>
                                    </p:anim>
                                    <p:anim calcmode="lin" valueType="num">
                                      <p:cBhvr additive="base">
                                        <p:cTn id="71" dur="500" fill="hold"/>
                                        <p:tgtEl>
                                          <p:spTgt spid="3">
                                            <p:graphicEl>
                                              <a:dgm id="{D6DC9B21-E00C-48AD-B4B4-18EFA4491041}"/>
                                            </p:graphicEl>
                                          </p:spTgt>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3">
                                            <p:graphicEl>
                                              <a:dgm id="{9C00C022-AF22-4520-A6CB-C2FC4035C707}"/>
                                            </p:graphicEl>
                                          </p:spTgt>
                                        </p:tgtEl>
                                        <p:attrNameLst>
                                          <p:attrName>style.visibility</p:attrName>
                                        </p:attrNameLst>
                                      </p:cBhvr>
                                      <p:to>
                                        <p:strVal val="visible"/>
                                      </p:to>
                                    </p:set>
                                    <p:anim calcmode="lin" valueType="num">
                                      <p:cBhvr additive="base">
                                        <p:cTn id="74" dur="500" fill="hold"/>
                                        <p:tgtEl>
                                          <p:spTgt spid="3">
                                            <p:graphicEl>
                                              <a:dgm id="{9C00C022-AF22-4520-A6CB-C2FC4035C707}"/>
                                            </p:graphicEl>
                                          </p:spTgt>
                                        </p:tgtEl>
                                        <p:attrNameLst>
                                          <p:attrName>ppt_x</p:attrName>
                                        </p:attrNameLst>
                                      </p:cBhvr>
                                      <p:tavLst>
                                        <p:tav tm="0">
                                          <p:val>
                                            <p:strVal val="#ppt_x"/>
                                          </p:val>
                                        </p:tav>
                                        <p:tav tm="100000">
                                          <p:val>
                                            <p:strVal val="#ppt_x"/>
                                          </p:val>
                                        </p:tav>
                                      </p:tavLst>
                                    </p:anim>
                                    <p:anim calcmode="lin" valueType="num">
                                      <p:cBhvr additive="base">
                                        <p:cTn id="75" dur="500" fill="hold"/>
                                        <p:tgtEl>
                                          <p:spTgt spid="3">
                                            <p:graphicEl>
                                              <a:dgm id="{9C00C022-AF22-4520-A6CB-C2FC4035C707}"/>
                                            </p:graphic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3">
                                            <p:graphicEl>
                                              <a:dgm id="{C37C64C1-FB61-45C8-A81E-248A295FB946}"/>
                                            </p:graphicEl>
                                          </p:spTgt>
                                        </p:tgtEl>
                                        <p:attrNameLst>
                                          <p:attrName>style.visibility</p:attrName>
                                        </p:attrNameLst>
                                      </p:cBhvr>
                                      <p:to>
                                        <p:strVal val="visible"/>
                                      </p:to>
                                    </p:set>
                                    <p:anim calcmode="lin" valueType="num">
                                      <p:cBhvr additive="base">
                                        <p:cTn id="80" dur="500" fill="hold"/>
                                        <p:tgtEl>
                                          <p:spTgt spid="3">
                                            <p:graphicEl>
                                              <a:dgm id="{C37C64C1-FB61-45C8-A81E-248A295FB946}"/>
                                            </p:graphicEl>
                                          </p:spTgt>
                                        </p:tgtEl>
                                        <p:attrNameLst>
                                          <p:attrName>ppt_x</p:attrName>
                                        </p:attrNameLst>
                                      </p:cBhvr>
                                      <p:tavLst>
                                        <p:tav tm="0">
                                          <p:val>
                                            <p:strVal val="#ppt_x"/>
                                          </p:val>
                                        </p:tav>
                                        <p:tav tm="100000">
                                          <p:val>
                                            <p:strVal val="#ppt_x"/>
                                          </p:val>
                                        </p:tav>
                                      </p:tavLst>
                                    </p:anim>
                                    <p:anim calcmode="lin" valueType="num">
                                      <p:cBhvr additive="base">
                                        <p:cTn id="81" dur="500" fill="hold"/>
                                        <p:tgtEl>
                                          <p:spTgt spid="3">
                                            <p:graphicEl>
                                              <a:dgm id="{C37C64C1-FB61-45C8-A81E-248A295FB946}"/>
                                            </p:graphicEl>
                                          </p:spTgt>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3">
                                            <p:graphicEl>
                                              <a:dgm id="{400C5F29-31AE-42F6-89CD-157AE6BEF123}"/>
                                            </p:graphicEl>
                                          </p:spTgt>
                                        </p:tgtEl>
                                        <p:attrNameLst>
                                          <p:attrName>style.visibility</p:attrName>
                                        </p:attrNameLst>
                                      </p:cBhvr>
                                      <p:to>
                                        <p:strVal val="visible"/>
                                      </p:to>
                                    </p:set>
                                    <p:anim calcmode="lin" valueType="num">
                                      <p:cBhvr additive="base">
                                        <p:cTn id="86" dur="500" fill="hold"/>
                                        <p:tgtEl>
                                          <p:spTgt spid="3">
                                            <p:graphicEl>
                                              <a:dgm id="{400C5F29-31AE-42F6-89CD-157AE6BEF123}"/>
                                            </p:graphicEl>
                                          </p:spTgt>
                                        </p:tgtEl>
                                        <p:attrNameLst>
                                          <p:attrName>ppt_x</p:attrName>
                                        </p:attrNameLst>
                                      </p:cBhvr>
                                      <p:tavLst>
                                        <p:tav tm="0">
                                          <p:val>
                                            <p:strVal val="#ppt_x"/>
                                          </p:val>
                                        </p:tav>
                                        <p:tav tm="100000">
                                          <p:val>
                                            <p:strVal val="#ppt_x"/>
                                          </p:val>
                                        </p:tav>
                                      </p:tavLst>
                                    </p:anim>
                                    <p:anim calcmode="lin" valueType="num">
                                      <p:cBhvr additive="base">
                                        <p:cTn id="87" dur="500" fill="hold"/>
                                        <p:tgtEl>
                                          <p:spTgt spid="3">
                                            <p:graphicEl>
                                              <a:dgm id="{400C5F29-31AE-42F6-89CD-157AE6BEF123}"/>
                                            </p:graphicEl>
                                          </p:spTgt>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
                                            <p:graphicEl>
                                              <a:dgm id="{41CDB7D1-C566-440A-B76C-2B5DD67C5665}"/>
                                            </p:graphicEl>
                                          </p:spTgt>
                                        </p:tgtEl>
                                        <p:attrNameLst>
                                          <p:attrName>style.visibility</p:attrName>
                                        </p:attrNameLst>
                                      </p:cBhvr>
                                      <p:to>
                                        <p:strVal val="visible"/>
                                      </p:to>
                                    </p:set>
                                    <p:anim calcmode="lin" valueType="num">
                                      <p:cBhvr additive="base">
                                        <p:cTn id="90" dur="500" fill="hold"/>
                                        <p:tgtEl>
                                          <p:spTgt spid="3">
                                            <p:graphicEl>
                                              <a:dgm id="{41CDB7D1-C566-440A-B76C-2B5DD67C5665}"/>
                                            </p:graphicEl>
                                          </p:spTgt>
                                        </p:tgtEl>
                                        <p:attrNameLst>
                                          <p:attrName>ppt_x</p:attrName>
                                        </p:attrNameLst>
                                      </p:cBhvr>
                                      <p:tavLst>
                                        <p:tav tm="0">
                                          <p:val>
                                            <p:strVal val="#ppt_x"/>
                                          </p:val>
                                        </p:tav>
                                        <p:tav tm="100000">
                                          <p:val>
                                            <p:strVal val="#ppt_x"/>
                                          </p:val>
                                        </p:tav>
                                      </p:tavLst>
                                    </p:anim>
                                    <p:anim calcmode="lin" valueType="num">
                                      <p:cBhvr additive="base">
                                        <p:cTn id="91" dur="500" fill="hold"/>
                                        <p:tgtEl>
                                          <p:spTgt spid="3">
                                            <p:graphicEl>
                                              <a:dgm id="{41CDB7D1-C566-440A-B76C-2B5DD67C5665}"/>
                                            </p:graphicEl>
                                          </p:spTgt>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3">
                                            <p:graphicEl>
                                              <a:dgm id="{75A564BC-E4B6-4899-BE65-603AE85B7CA1}"/>
                                            </p:graphicEl>
                                          </p:spTgt>
                                        </p:tgtEl>
                                        <p:attrNameLst>
                                          <p:attrName>style.visibility</p:attrName>
                                        </p:attrNameLst>
                                      </p:cBhvr>
                                      <p:to>
                                        <p:strVal val="visible"/>
                                      </p:to>
                                    </p:set>
                                    <p:anim calcmode="lin" valueType="num">
                                      <p:cBhvr additive="base">
                                        <p:cTn id="96" dur="500" fill="hold"/>
                                        <p:tgtEl>
                                          <p:spTgt spid="3">
                                            <p:graphicEl>
                                              <a:dgm id="{75A564BC-E4B6-4899-BE65-603AE85B7CA1}"/>
                                            </p:graphicEl>
                                          </p:spTgt>
                                        </p:tgtEl>
                                        <p:attrNameLst>
                                          <p:attrName>ppt_x</p:attrName>
                                        </p:attrNameLst>
                                      </p:cBhvr>
                                      <p:tavLst>
                                        <p:tav tm="0">
                                          <p:val>
                                            <p:strVal val="#ppt_x"/>
                                          </p:val>
                                        </p:tav>
                                        <p:tav tm="100000">
                                          <p:val>
                                            <p:strVal val="#ppt_x"/>
                                          </p:val>
                                        </p:tav>
                                      </p:tavLst>
                                    </p:anim>
                                    <p:anim calcmode="lin" valueType="num">
                                      <p:cBhvr additive="base">
                                        <p:cTn id="97" dur="500" fill="hold"/>
                                        <p:tgtEl>
                                          <p:spTgt spid="3">
                                            <p:graphicEl>
                                              <a:dgm id="{75A564BC-E4B6-4899-BE65-603AE85B7CA1}"/>
                                            </p:graphicEl>
                                          </p:spTgt>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3">
                                            <p:graphicEl>
                                              <a:dgm id="{2CD8BF13-8FB9-4618-B1CA-F92548D3DDF8}"/>
                                            </p:graphicEl>
                                          </p:spTgt>
                                        </p:tgtEl>
                                        <p:attrNameLst>
                                          <p:attrName>style.visibility</p:attrName>
                                        </p:attrNameLst>
                                      </p:cBhvr>
                                      <p:to>
                                        <p:strVal val="visible"/>
                                      </p:to>
                                    </p:set>
                                    <p:anim calcmode="lin" valueType="num">
                                      <p:cBhvr additive="base">
                                        <p:cTn id="102" dur="500" fill="hold"/>
                                        <p:tgtEl>
                                          <p:spTgt spid="3">
                                            <p:graphicEl>
                                              <a:dgm id="{2CD8BF13-8FB9-4618-B1CA-F92548D3DDF8}"/>
                                            </p:graphicEl>
                                          </p:spTgt>
                                        </p:tgtEl>
                                        <p:attrNameLst>
                                          <p:attrName>ppt_x</p:attrName>
                                        </p:attrNameLst>
                                      </p:cBhvr>
                                      <p:tavLst>
                                        <p:tav tm="0">
                                          <p:val>
                                            <p:strVal val="#ppt_x"/>
                                          </p:val>
                                        </p:tav>
                                        <p:tav tm="100000">
                                          <p:val>
                                            <p:strVal val="#ppt_x"/>
                                          </p:val>
                                        </p:tav>
                                      </p:tavLst>
                                    </p:anim>
                                    <p:anim calcmode="lin" valueType="num">
                                      <p:cBhvr additive="base">
                                        <p:cTn id="103" dur="500" fill="hold"/>
                                        <p:tgtEl>
                                          <p:spTgt spid="3">
                                            <p:graphicEl>
                                              <a:dgm id="{2CD8BF13-8FB9-4618-B1CA-F92548D3DDF8}"/>
                                            </p:graphicEl>
                                          </p:spTgt>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
                                            <p:graphicEl>
                                              <a:dgm id="{8ECAB65F-95E9-4398-8044-D7EDA7026C46}"/>
                                            </p:graphicEl>
                                          </p:spTgt>
                                        </p:tgtEl>
                                        <p:attrNameLst>
                                          <p:attrName>style.visibility</p:attrName>
                                        </p:attrNameLst>
                                      </p:cBhvr>
                                      <p:to>
                                        <p:strVal val="visible"/>
                                      </p:to>
                                    </p:set>
                                    <p:anim calcmode="lin" valueType="num">
                                      <p:cBhvr additive="base">
                                        <p:cTn id="106" dur="500" fill="hold"/>
                                        <p:tgtEl>
                                          <p:spTgt spid="3">
                                            <p:graphicEl>
                                              <a:dgm id="{8ECAB65F-95E9-4398-8044-D7EDA7026C46}"/>
                                            </p:graphicEl>
                                          </p:spTgt>
                                        </p:tgtEl>
                                        <p:attrNameLst>
                                          <p:attrName>ppt_x</p:attrName>
                                        </p:attrNameLst>
                                      </p:cBhvr>
                                      <p:tavLst>
                                        <p:tav tm="0">
                                          <p:val>
                                            <p:strVal val="#ppt_x"/>
                                          </p:val>
                                        </p:tav>
                                        <p:tav tm="100000">
                                          <p:val>
                                            <p:strVal val="#ppt_x"/>
                                          </p:val>
                                        </p:tav>
                                      </p:tavLst>
                                    </p:anim>
                                    <p:anim calcmode="lin" valueType="num">
                                      <p:cBhvr additive="base">
                                        <p:cTn id="107" dur="500" fill="hold"/>
                                        <p:tgtEl>
                                          <p:spTgt spid="3">
                                            <p:graphicEl>
                                              <a:dgm id="{8ECAB65F-95E9-4398-8044-D7EDA7026C46}"/>
                                            </p:graphicEl>
                                          </p:spTgt>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3">
                                            <p:graphicEl>
                                              <a:dgm id="{9E21B8F8-FEC1-4DEE-868D-7C01F244A551}"/>
                                            </p:graphicEl>
                                          </p:spTgt>
                                        </p:tgtEl>
                                        <p:attrNameLst>
                                          <p:attrName>style.visibility</p:attrName>
                                        </p:attrNameLst>
                                      </p:cBhvr>
                                      <p:to>
                                        <p:strVal val="visible"/>
                                      </p:to>
                                    </p:set>
                                    <p:anim calcmode="lin" valueType="num">
                                      <p:cBhvr additive="base">
                                        <p:cTn id="112" dur="500" fill="hold"/>
                                        <p:tgtEl>
                                          <p:spTgt spid="3">
                                            <p:graphicEl>
                                              <a:dgm id="{9E21B8F8-FEC1-4DEE-868D-7C01F244A551}"/>
                                            </p:graphicEl>
                                          </p:spTgt>
                                        </p:tgtEl>
                                        <p:attrNameLst>
                                          <p:attrName>ppt_x</p:attrName>
                                        </p:attrNameLst>
                                      </p:cBhvr>
                                      <p:tavLst>
                                        <p:tav tm="0">
                                          <p:val>
                                            <p:strVal val="#ppt_x"/>
                                          </p:val>
                                        </p:tav>
                                        <p:tav tm="100000">
                                          <p:val>
                                            <p:strVal val="#ppt_x"/>
                                          </p:val>
                                        </p:tav>
                                      </p:tavLst>
                                    </p:anim>
                                    <p:anim calcmode="lin" valueType="num">
                                      <p:cBhvr additive="base">
                                        <p:cTn id="113" dur="500" fill="hold"/>
                                        <p:tgtEl>
                                          <p:spTgt spid="3">
                                            <p:graphicEl>
                                              <a:dgm id="{9E21B8F8-FEC1-4DEE-868D-7C01F244A55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9" grpId="0">
        <p:bldSub>
          <a:bldChart bld="category"/>
        </p:bldSub>
      </p:bldGraphic>
      <p:bldGraphic spid="3"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A40E-8DD8-1974-366F-AE7E2A03A2E7}"/>
              </a:ext>
            </a:extLst>
          </p:cNvPr>
          <p:cNvSpPr>
            <a:spLocks noGrp="1"/>
          </p:cNvSpPr>
          <p:nvPr>
            <p:ph type="title"/>
          </p:nvPr>
        </p:nvSpPr>
        <p:spPr>
          <a:xfrm>
            <a:off x="646111" y="452718"/>
            <a:ext cx="9404723" cy="854972"/>
          </a:xfrm>
        </p:spPr>
        <p:txBody>
          <a:bodyPr/>
          <a:lstStyle/>
          <a:p>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Overall Insights</a:t>
            </a:r>
          </a:p>
        </p:txBody>
      </p:sp>
      <p:sp>
        <p:nvSpPr>
          <p:cNvPr id="3" name="TextBox 2">
            <a:extLst>
              <a:ext uri="{FF2B5EF4-FFF2-40B4-BE49-F238E27FC236}">
                <a16:creationId xmlns:a16="http://schemas.microsoft.com/office/drawing/2014/main" id="{7AEDF39C-E0B3-7B2F-E9B7-F02125D76CD6}"/>
              </a:ext>
            </a:extLst>
          </p:cNvPr>
          <p:cNvSpPr txBox="1"/>
          <p:nvPr/>
        </p:nvSpPr>
        <p:spPr>
          <a:xfrm>
            <a:off x="646111" y="1307690"/>
            <a:ext cx="7128387" cy="92333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scene3d>
              <a:camera prst="orthographicFront"/>
              <a:lightRig rig="soft" dir="t">
                <a:rot lat="0" lon="0" rev="15600000"/>
              </a:lightRig>
            </a:scene3d>
            <a:sp3d extrusionH="57150" prstMaterial="softEdge">
              <a:bevelT w="25400" h="38100"/>
            </a:sp3d>
          </a:bodyPr>
          <a:lstStyle/>
          <a:p>
            <a:r>
              <a:rPr lang="en-US"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The Sugar Cosmetics Instagram profile demonstrates a healthy, high-engagement performance driven primarily by instructional content.</a:t>
            </a:r>
            <a:endParaRPr lang="en-IN" b="1" i="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graphicFrame>
        <p:nvGraphicFramePr>
          <p:cNvPr id="12" name="Diagram 11">
            <a:extLst>
              <a:ext uri="{FF2B5EF4-FFF2-40B4-BE49-F238E27FC236}">
                <a16:creationId xmlns:a16="http://schemas.microsoft.com/office/drawing/2014/main" id="{7FBCBA87-1089-326F-BB36-396E18ED00A6}"/>
              </a:ext>
            </a:extLst>
          </p:cNvPr>
          <p:cNvGraphicFramePr/>
          <p:nvPr>
            <p:extLst>
              <p:ext uri="{D42A27DB-BD31-4B8C-83A1-F6EECF244321}">
                <p14:modId xmlns:p14="http://schemas.microsoft.com/office/powerpoint/2010/main" val="2028456777"/>
              </p:ext>
            </p:extLst>
          </p:nvPr>
        </p:nvGraphicFramePr>
        <p:xfrm>
          <a:off x="2031999" y="1641988"/>
          <a:ext cx="9206271" cy="52160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87363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2">
                                            <p:graphicEl>
                                              <a:dgm id="{7378055D-FC30-4B5D-8EBF-770B157CB111}"/>
                                            </p:graphicEl>
                                          </p:spTgt>
                                        </p:tgtEl>
                                        <p:attrNameLst>
                                          <p:attrName>style.visibility</p:attrName>
                                        </p:attrNameLst>
                                      </p:cBhvr>
                                      <p:to>
                                        <p:strVal val="visible"/>
                                      </p:to>
                                    </p:set>
                                    <p:anim calcmode="lin" valueType="num">
                                      <p:cBhvr>
                                        <p:cTn id="19" dur="500" fill="hold"/>
                                        <p:tgtEl>
                                          <p:spTgt spid="12">
                                            <p:graphicEl>
                                              <a:dgm id="{7378055D-FC30-4B5D-8EBF-770B157CB111}"/>
                                            </p:graphicEl>
                                          </p:spTgt>
                                        </p:tgtEl>
                                        <p:attrNameLst>
                                          <p:attrName>ppt_w</p:attrName>
                                        </p:attrNameLst>
                                      </p:cBhvr>
                                      <p:tavLst>
                                        <p:tav tm="0">
                                          <p:val>
                                            <p:fltVal val="0"/>
                                          </p:val>
                                        </p:tav>
                                        <p:tav tm="100000">
                                          <p:val>
                                            <p:strVal val="#ppt_w"/>
                                          </p:val>
                                        </p:tav>
                                      </p:tavLst>
                                    </p:anim>
                                    <p:anim calcmode="lin" valueType="num">
                                      <p:cBhvr>
                                        <p:cTn id="20" dur="500" fill="hold"/>
                                        <p:tgtEl>
                                          <p:spTgt spid="12">
                                            <p:graphicEl>
                                              <a:dgm id="{7378055D-FC30-4B5D-8EBF-770B157CB111}"/>
                                            </p:graphicEl>
                                          </p:spTgt>
                                        </p:tgtEl>
                                        <p:attrNameLst>
                                          <p:attrName>ppt_h</p:attrName>
                                        </p:attrNameLst>
                                      </p:cBhvr>
                                      <p:tavLst>
                                        <p:tav tm="0">
                                          <p:val>
                                            <p:fltVal val="0"/>
                                          </p:val>
                                        </p:tav>
                                        <p:tav tm="100000">
                                          <p:val>
                                            <p:strVal val="#ppt_h"/>
                                          </p:val>
                                        </p:tav>
                                      </p:tavLst>
                                    </p:anim>
                                    <p:animEffect transition="in" filter="fade">
                                      <p:cBhvr>
                                        <p:cTn id="21" dur="500"/>
                                        <p:tgtEl>
                                          <p:spTgt spid="12">
                                            <p:graphicEl>
                                              <a:dgm id="{7378055D-FC30-4B5D-8EBF-770B157CB111}"/>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2">
                                            <p:graphicEl>
                                              <a:dgm id="{BE4A5903-4DD0-4462-9E41-5049F421D609}"/>
                                            </p:graphicEl>
                                          </p:spTgt>
                                        </p:tgtEl>
                                        <p:attrNameLst>
                                          <p:attrName>style.visibility</p:attrName>
                                        </p:attrNameLst>
                                      </p:cBhvr>
                                      <p:to>
                                        <p:strVal val="visible"/>
                                      </p:to>
                                    </p:set>
                                    <p:anim calcmode="lin" valueType="num">
                                      <p:cBhvr>
                                        <p:cTn id="26" dur="500" fill="hold"/>
                                        <p:tgtEl>
                                          <p:spTgt spid="12">
                                            <p:graphicEl>
                                              <a:dgm id="{BE4A5903-4DD0-4462-9E41-5049F421D609}"/>
                                            </p:graphicEl>
                                          </p:spTgt>
                                        </p:tgtEl>
                                        <p:attrNameLst>
                                          <p:attrName>ppt_w</p:attrName>
                                        </p:attrNameLst>
                                      </p:cBhvr>
                                      <p:tavLst>
                                        <p:tav tm="0">
                                          <p:val>
                                            <p:fltVal val="0"/>
                                          </p:val>
                                        </p:tav>
                                        <p:tav tm="100000">
                                          <p:val>
                                            <p:strVal val="#ppt_w"/>
                                          </p:val>
                                        </p:tav>
                                      </p:tavLst>
                                    </p:anim>
                                    <p:anim calcmode="lin" valueType="num">
                                      <p:cBhvr>
                                        <p:cTn id="27" dur="500" fill="hold"/>
                                        <p:tgtEl>
                                          <p:spTgt spid="12">
                                            <p:graphicEl>
                                              <a:dgm id="{BE4A5903-4DD0-4462-9E41-5049F421D609}"/>
                                            </p:graphicEl>
                                          </p:spTgt>
                                        </p:tgtEl>
                                        <p:attrNameLst>
                                          <p:attrName>ppt_h</p:attrName>
                                        </p:attrNameLst>
                                      </p:cBhvr>
                                      <p:tavLst>
                                        <p:tav tm="0">
                                          <p:val>
                                            <p:fltVal val="0"/>
                                          </p:val>
                                        </p:tav>
                                        <p:tav tm="100000">
                                          <p:val>
                                            <p:strVal val="#ppt_h"/>
                                          </p:val>
                                        </p:tav>
                                      </p:tavLst>
                                    </p:anim>
                                    <p:animEffect transition="in" filter="fade">
                                      <p:cBhvr>
                                        <p:cTn id="28" dur="500"/>
                                        <p:tgtEl>
                                          <p:spTgt spid="12">
                                            <p:graphicEl>
                                              <a:dgm id="{BE4A5903-4DD0-4462-9E41-5049F421D609}"/>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2">
                                            <p:graphicEl>
                                              <a:dgm id="{4D661B62-5A82-40C9-84DB-815A2F28AE92}"/>
                                            </p:graphicEl>
                                          </p:spTgt>
                                        </p:tgtEl>
                                        <p:attrNameLst>
                                          <p:attrName>style.visibility</p:attrName>
                                        </p:attrNameLst>
                                      </p:cBhvr>
                                      <p:to>
                                        <p:strVal val="visible"/>
                                      </p:to>
                                    </p:set>
                                    <p:anim calcmode="lin" valueType="num">
                                      <p:cBhvr>
                                        <p:cTn id="33" dur="500" fill="hold"/>
                                        <p:tgtEl>
                                          <p:spTgt spid="12">
                                            <p:graphicEl>
                                              <a:dgm id="{4D661B62-5A82-40C9-84DB-815A2F28AE92}"/>
                                            </p:graphicEl>
                                          </p:spTgt>
                                        </p:tgtEl>
                                        <p:attrNameLst>
                                          <p:attrName>ppt_w</p:attrName>
                                        </p:attrNameLst>
                                      </p:cBhvr>
                                      <p:tavLst>
                                        <p:tav tm="0">
                                          <p:val>
                                            <p:fltVal val="0"/>
                                          </p:val>
                                        </p:tav>
                                        <p:tav tm="100000">
                                          <p:val>
                                            <p:strVal val="#ppt_w"/>
                                          </p:val>
                                        </p:tav>
                                      </p:tavLst>
                                    </p:anim>
                                    <p:anim calcmode="lin" valueType="num">
                                      <p:cBhvr>
                                        <p:cTn id="34" dur="500" fill="hold"/>
                                        <p:tgtEl>
                                          <p:spTgt spid="12">
                                            <p:graphicEl>
                                              <a:dgm id="{4D661B62-5A82-40C9-84DB-815A2F28AE92}"/>
                                            </p:graphicEl>
                                          </p:spTgt>
                                        </p:tgtEl>
                                        <p:attrNameLst>
                                          <p:attrName>ppt_h</p:attrName>
                                        </p:attrNameLst>
                                      </p:cBhvr>
                                      <p:tavLst>
                                        <p:tav tm="0">
                                          <p:val>
                                            <p:fltVal val="0"/>
                                          </p:val>
                                        </p:tav>
                                        <p:tav tm="100000">
                                          <p:val>
                                            <p:strVal val="#ppt_h"/>
                                          </p:val>
                                        </p:tav>
                                      </p:tavLst>
                                    </p:anim>
                                    <p:animEffect transition="in" filter="fade">
                                      <p:cBhvr>
                                        <p:cTn id="35" dur="500"/>
                                        <p:tgtEl>
                                          <p:spTgt spid="12">
                                            <p:graphicEl>
                                              <a:dgm id="{4D661B62-5A82-40C9-84DB-815A2F28AE92}"/>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2">
                                            <p:graphicEl>
                                              <a:dgm id="{433617A8-0824-4301-BB8E-1854A5F729E1}"/>
                                            </p:graphicEl>
                                          </p:spTgt>
                                        </p:tgtEl>
                                        <p:attrNameLst>
                                          <p:attrName>style.visibility</p:attrName>
                                        </p:attrNameLst>
                                      </p:cBhvr>
                                      <p:to>
                                        <p:strVal val="visible"/>
                                      </p:to>
                                    </p:set>
                                    <p:anim calcmode="lin" valueType="num">
                                      <p:cBhvr>
                                        <p:cTn id="40" dur="500" fill="hold"/>
                                        <p:tgtEl>
                                          <p:spTgt spid="12">
                                            <p:graphicEl>
                                              <a:dgm id="{433617A8-0824-4301-BB8E-1854A5F729E1}"/>
                                            </p:graphicEl>
                                          </p:spTgt>
                                        </p:tgtEl>
                                        <p:attrNameLst>
                                          <p:attrName>ppt_w</p:attrName>
                                        </p:attrNameLst>
                                      </p:cBhvr>
                                      <p:tavLst>
                                        <p:tav tm="0">
                                          <p:val>
                                            <p:fltVal val="0"/>
                                          </p:val>
                                        </p:tav>
                                        <p:tav tm="100000">
                                          <p:val>
                                            <p:strVal val="#ppt_w"/>
                                          </p:val>
                                        </p:tav>
                                      </p:tavLst>
                                    </p:anim>
                                    <p:anim calcmode="lin" valueType="num">
                                      <p:cBhvr>
                                        <p:cTn id="41" dur="500" fill="hold"/>
                                        <p:tgtEl>
                                          <p:spTgt spid="12">
                                            <p:graphicEl>
                                              <a:dgm id="{433617A8-0824-4301-BB8E-1854A5F729E1}"/>
                                            </p:graphicEl>
                                          </p:spTgt>
                                        </p:tgtEl>
                                        <p:attrNameLst>
                                          <p:attrName>ppt_h</p:attrName>
                                        </p:attrNameLst>
                                      </p:cBhvr>
                                      <p:tavLst>
                                        <p:tav tm="0">
                                          <p:val>
                                            <p:fltVal val="0"/>
                                          </p:val>
                                        </p:tav>
                                        <p:tav tm="100000">
                                          <p:val>
                                            <p:strVal val="#ppt_h"/>
                                          </p:val>
                                        </p:tav>
                                      </p:tavLst>
                                    </p:anim>
                                    <p:animEffect transition="in" filter="fade">
                                      <p:cBhvr>
                                        <p:cTn id="42" dur="500"/>
                                        <p:tgtEl>
                                          <p:spTgt spid="12">
                                            <p:graphicEl>
                                              <a:dgm id="{433617A8-0824-4301-BB8E-1854A5F729E1}"/>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2">
                                            <p:graphicEl>
                                              <a:dgm id="{AD13B442-B8CA-46ED-95EF-9BD7F28F8BC5}"/>
                                            </p:graphicEl>
                                          </p:spTgt>
                                        </p:tgtEl>
                                        <p:attrNameLst>
                                          <p:attrName>style.visibility</p:attrName>
                                        </p:attrNameLst>
                                      </p:cBhvr>
                                      <p:to>
                                        <p:strVal val="visible"/>
                                      </p:to>
                                    </p:set>
                                    <p:anim calcmode="lin" valueType="num">
                                      <p:cBhvr>
                                        <p:cTn id="47" dur="500" fill="hold"/>
                                        <p:tgtEl>
                                          <p:spTgt spid="12">
                                            <p:graphicEl>
                                              <a:dgm id="{AD13B442-B8CA-46ED-95EF-9BD7F28F8BC5}"/>
                                            </p:graphicEl>
                                          </p:spTgt>
                                        </p:tgtEl>
                                        <p:attrNameLst>
                                          <p:attrName>ppt_w</p:attrName>
                                        </p:attrNameLst>
                                      </p:cBhvr>
                                      <p:tavLst>
                                        <p:tav tm="0">
                                          <p:val>
                                            <p:fltVal val="0"/>
                                          </p:val>
                                        </p:tav>
                                        <p:tav tm="100000">
                                          <p:val>
                                            <p:strVal val="#ppt_w"/>
                                          </p:val>
                                        </p:tav>
                                      </p:tavLst>
                                    </p:anim>
                                    <p:anim calcmode="lin" valueType="num">
                                      <p:cBhvr>
                                        <p:cTn id="48" dur="500" fill="hold"/>
                                        <p:tgtEl>
                                          <p:spTgt spid="12">
                                            <p:graphicEl>
                                              <a:dgm id="{AD13B442-B8CA-46ED-95EF-9BD7F28F8BC5}"/>
                                            </p:graphicEl>
                                          </p:spTgt>
                                        </p:tgtEl>
                                        <p:attrNameLst>
                                          <p:attrName>ppt_h</p:attrName>
                                        </p:attrNameLst>
                                      </p:cBhvr>
                                      <p:tavLst>
                                        <p:tav tm="0">
                                          <p:val>
                                            <p:fltVal val="0"/>
                                          </p:val>
                                        </p:tav>
                                        <p:tav tm="100000">
                                          <p:val>
                                            <p:strVal val="#ppt_h"/>
                                          </p:val>
                                        </p:tav>
                                      </p:tavLst>
                                    </p:anim>
                                    <p:animEffect transition="in" filter="fade">
                                      <p:cBhvr>
                                        <p:cTn id="49" dur="500"/>
                                        <p:tgtEl>
                                          <p:spTgt spid="12">
                                            <p:graphicEl>
                                              <a:dgm id="{AD13B442-B8CA-46ED-95EF-9BD7F28F8BC5}"/>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2">
                                            <p:graphicEl>
                                              <a:dgm id="{ECAB71CD-BACE-48EB-8556-A75B455EA5E1}"/>
                                            </p:graphicEl>
                                          </p:spTgt>
                                        </p:tgtEl>
                                        <p:attrNameLst>
                                          <p:attrName>style.visibility</p:attrName>
                                        </p:attrNameLst>
                                      </p:cBhvr>
                                      <p:to>
                                        <p:strVal val="visible"/>
                                      </p:to>
                                    </p:set>
                                    <p:anim calcmode="lin" valueType="num">
                                      <p:cBhvr>
                                        <p:cTn id="54" dur="500" fill="hold"/>
                                        <p:tgtEl>
                                          <p:spTgt spid="12">
                                            <p:graphicEl>
                                              <a:dgm id="{ECAB71CD-BACE-48EB-8556-A75B455EA5E1}"/>
                                            </p:graphicEl>
                                          </p:spTgt>
                                        </p:tgtEl>
                                        <p:attrNameLst>
                                          <p:attrName>ppt_w</p:attrName>
                                        </p:attrNameLst>
                                      </p:cBhvr>
                                      <p:tavLst>
                                        <p:tav tm="0">
                                          <p:val>
                                            <p:fltVal val="0"/>
                                          </p:val>
                                        </p:tav>
                                        <p:tav tm="100000">
                                          <p:val>
                                            <p:strVal val="#ppt_w"/>
                                          </p:val>
                                        </p:tav>
                                      </p:tavLst>
                                    </p:anim>
                                    <p:anim calcmode="lin" valueType="num">
                                      <p:cBhvr>
                                        <p:cTn id="55" dur="500" fill="hold"/>
                                        <p:tgtEl>
                                          <p:spTgt spid="12">
                                            <p:graphicEl>
                                              <a:dgm id="{ECAB71CD-BACE-48EB-8556-A75B455EA5E1}"/>
                                            </p:graphicEl>
                                          </p:spTgt>
                                        </p:tgtEl>
                                        <p:attrNameLst>
                                          <p:attrName>ppt_h</p:attrName>
                                        </p:attrNameLst>
                                      </p:cBhvr>
                                      <p:tavLst>
                                        <p:tav tm="0">
                                          <p:val>
                                            <p:fltVal val="0"/>
                                          </p:val>
                                        </p:tav>
                                        <p:tav tm="100000">
                                          <p:val>
                                            <p:strVal val="#ppt_h"/>
                                          </p:val>
                                        </p:tav>
                                      </p:tavLst>
                                    </p:anim>
                                    <p:animEffect transition="in" filter="fade">
                                      <p:cBhvr>
                                        <p:cTn id="56" dur="500"/>
                                        <p:tgtEl>
                                          <p:spTgt spid="12">
                                            <p:graphicEl>
                                              <a:dgm id="{ECAB71CD-BACE-48EB-8556-A75B455EA5E1}"/>
                                            </p:graphic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12">
                                            <p:graphicEl>
                                              <a:dgm id="{5CC266D9-1AC7-4CC7-B85A-C0A8AD77B6EA}"/>
                                            </p:graphicEl>
                                          </p:spTgt>
                                        </p:tgtEl>
                                        <p:attrNameLst>
                                          <p:attrName>style.visibility</p:attrName>
                                        </p:attrNameLst>
                                      </p:cBhvr>
                                      <p:to>
                                        <p:strVal val="visible"/>
                                      </p:to>
                                    </p:set>
                                    <p:anim calcmode="lin" valueType="num">
                                      <p:cBhvr>
                                        <p:cTn id="61" dur="500" fill="hold"/>
                                        <p:tgtEl>
                                          <p:spTgt spid="12">
                                            <p:graphicEl>
                                              <a:dgm id="{5CC266D9-1AC7-4CC7-B85A-C0A8AD77B6EA}"/>
                                            </p:graphicEl>
                                          </p:spTgt>
                                        </p:tgtEl>
                                        <p:attrNameLst>
                                          <p:attrName>ppt_w</p:attrName>
                                        </p:attrNameLst>
                                      </p:cBhvr>
                                      <p:tavLst>
                                        <p:tav tm="0">
                                          <p:val>
                                            <p:fltVal val="0"/>
                                          </p:val>
                                        </p:tav>
                                        <p:tav tm="100000">
                                          <p:val>
                                            <p:strVal val="#ppt_w"/>
                                          </p:val>
                                        </p:tav>
                                      </p:tavLst>
                                    </p:anim>
                                    <p:anim calcmode="lin" valueType="num">
                                      <p:cBhvr>
                                        <p:cTn id="62" dur="500" fill="hold"/>
                                        <p:tgtEl>
                                          <p:spTgt spid="12">
                                            <p:graphicEl>
                                              <a:dgm id="{5CC266D9-1AC7-4CC7-B85A-C0A8AD77B6EA}"/>
                                            </p:graphicEl>
                                          </p:spTgt>
                                        </p:tgtEl>
                                        <p:attrNameLst>
                                          <p:attrName>ppt_h</p:attrName>
                                        </p:attrNameLst>
                                      </p:cBhvr>
                                      <p:tavLst>
                                        <p:tav tm="0">
                                          <p:val>
                                            <p:fltVal val="0"/>
                                          </p:val>
                                        </p:tav>
                                        <p:tav tm="100000">
                                          <p:val>
                                            <p:strVal val="#ppt_h"/>
                                          </p:val>
                                        </p:tav>
                                      </p:tavLst>
                                    </p:anim>
                                    <p:animEffect transition="in" filter="fade">
                                      <p:cBhvr>
                                        <p:cTn id="63" dur="500"/>
                                        <p:tgtEl>
                                          <p:spTgt spid="12">
                                            <p:graphicEl>
                                              <a:dgm id="{5CC266D9-1AC7-4CC7-B85A-C0A8AD77B6EA}"/>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12">
                                            <p:graphicEl>
                                              <a:dgm id="{AAF95031-380B-4A7B-9908-EDC90CA48EE5}"/>
                                            </p:graphicEl>
                                          </p:spTgt>
                                        </p:tgtEl>
                                        <p:attrNameLst>
                                          <p:attrName>style.visibility</p:attrName>
                                        </p:attrNameLst>
                                      </p:cBhvr>
                                      <p:to>
                                        <p:strVal val="visible"/>
                                      </p:to>
                                    </p:set>
                                    <p:anim calcmode="lin" valueType="num">
                                      <p:cBhvr>
                                        <p:cTn id="68" dur="500" fill="hold"/>
                                        <p:tgtEl>
                                          <p:spTgt spid="12">
                                            <p:graphicEl>
                                              <a:dgm id="{AAF95031-380B-4A7B-9908-EDC90CA48EE5}"/>
                                            </p:graphicEl>
                                          </p:spTgt>
                                        </p:tgtEl>
                                        <p:attrNameLst>
                                          <p:attrName>ppt_w</p:attrName>
                                        </p:attrNameLst>
                                      </p:cBhvr>
                                      <p:tavLst>
                                        <p:tav tm="0">
                                          <p:val>
                                            <p:fltVal val="0"/>
                                          </p:val>
                                        </p:tav>
                                        <p:tav tm="100000">
                                          <p:val>
                                            <p:strVal val="#ppt_w"/>
                                          </p:val>
                                        </p:tav>
                                      </p:tavLst>
                                    </p:anim>
                                    <p:anim calcmode="lin" valueType="num">
                                      <p:cBhvr>
                                        <p:cTn id="69" dur="500" fill="hold"/>
                                        <p:tgtEl>
                                          <p:spTgt spid="12">
                                            <p:graphicEl>
                                              <a:dgm id="{AAF95031-380B-4A7B-9908-EDC90CA48EE5}"/>
                                            </p:graphicEl>
                                          </p:spTgt>
                                        </p:tgtEl>
                                        <p:attrNameLst>
                                          <p:attrName>ppt_h</p:attrName>
                                        </p:attrNameLst>
                                      </p:cBhvr>
                                      <p:tavLst>
                                        <p:tav tm="0">
                                          <p:val>
                                            <p:fltVal val="0"/>
                                          </p:val>
                                        </p:tav>
                                        <p:tav tm="100000">
                                          <p:val>
                                            <p:strVal val="#ppt_h"/>
                                          </p:val>
                                        </p:tav>
                                      </p:tavLst>
                                    </p:anim>
                                    <p:animEffect transition="in" filter="fade">
                                      <p:cBhvr>
                                        <p:cTn id="70" dur="500"/>
                                        <p:tgtEl>
                                          <p:spTgt spid="12">
                                            <p:graphicEl>
                                              <a:dgm id="{AAF95031-380B-4A7B-9908-EDC90CA48EE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Graphic spid="12"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7997-46B3-3AB6-1460-0EF7DBBDF996}"/>
              </a:ext>
            </a:extLst>
          </p:cNvPr>
          <p:cNvSpPr>
            <a:spLocks noGrp="1"/>
          </p:cNvSpPr>
          <p:nvPr>
            <p:ph type="title"/>
          </p:nvPr>
        </p:nvSpPr>
        <p:spPr/>
        <p:txBody>
          <a:bodyPr/>
          <a:lstStyle/>
          <a:p>
            <a:r>
              <a:rPr lang="en-IN"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Strategic Recommendation</a:t>
            </a:r>
          </a:p>
        </p:txBody>
      </p:sp>
      <p:sp>
        <p:nvSpPr>
          <p:cNvPr id="3" name="TextBox 2">
            <a:extLst>
              <a:ext uri="{FF2B5EF4-FFF2-40B4-BE49-F238E27FC236}">
                <a16:creationId xmlns:a16="http://schemas.microsoft.com/office/drawing/2014/main" id="{A4499059-A6F6-C56B-89F2-80DDFB358075}"/>
              </a:ext>
            </a:extLst>
          </p:cNvPr>
          <p:cNvSpPr txBox="1"/>
          <p:nvPr/>
        </p:nvSpPr>
        <p:spPr>
          <a:xfrm>
            <a:off x="646111" y="1199535"/>
            <a:ext cx="9404723" cy="1477328"/>
          </a:xfrm>
          <a:prstGeom prst="rect">
            <a:avLst/>
          </a:prstGeom>
          <a:noFill/>
        </p:spPr>
        <p:txBody>
          <a:bodyPr wrap="square" rtlCol="0">
            <a:spAutoFit/>
          </a:bodyPr>
          <a:lstStyle/>
          <a:p>
            <a:r>
              <a:rPr lang="en-IN" b="1" dirty="0">
                <a:ln w="10160">
                  <a:solidFill>
                    <a:schemeClr val="accent5"/>
                  </a:solidFill>
                  <a:prstDash val="solid"/>
                </a:ln>
                <a:solidFill>
                  <a:srgbClr val="00B050"/>
                </a:solidFill>
                <a:effectLst>
                  <a:outerShdw blurRad="38100" dist="22860" dir="5400000" algn="tl" rotWithShape="0">
                    <a:srgbClr val="000000">
                      <a:alpha val="30000"/>
                    </a:srgbClr>
                  </a:outerShdw>
                </a:effectLst>
              </a:rPr>
              <a:t>Strategic Focus: Dominate the “Inspired Tutorial” format on Reels.</a:t>
            </a:r>
          </a:p>
          <a:p>
            <a:endParaRPr lang="en-IN" b="1" dirty="0">
              <a:ln w="10160">
                <a:solidFill>
                  <a:schemeClr val="accent5"/>
                </a:solidFill>
                <a:prstDash val="solid"/>
              </a:ln>
              <a:solidFill>
                <a:srgbClr val="00B050"/>
              </a:solidFill>
              <a:effectLst>
                <a:outerShdw blurRad="38100" dist="22860" dir="5400000" algn="tl" rotWithShape="0">
                  <a:srgbClr val="000000">
                    <a:alpha val="30000"/>
                  </a:srgbClr>
                </a:outerShdw>
              </a:effectLst>
            </a:endParaRPr>
          </a:p>
          <a:p>
            <a:r>
              <a:rPr lang="en-IN" b="1" dirty="0">
                <a:ln w="10160">
                  <a:solidFill>
                    <a:schemeClr val="accent5"/>
                  </a:solidFill>
                  <a:prstDash val="solid"/>
                </a:ln>
                <a:solidFill>
                  <a:srgbClr val="00B050"/>
                </a:solidFill>
                <a:effectLst>
                  <a:outerShdw blurRad="38100" dist="22860" dir="5400000" algn="tl" rotWithShape="0">
                    <a:srgbClr val="000000">
                      <a:alpha val="30000"/>
                    </a:srgbClr>
                  </a:outerShdw>
                </a:effectLst>
              </a:rPr>
              <a:t>The data dictates a clear path: Sugar Cosmetics must double down on creating and promoting high-value, inspiring, and exciting tutorials delivered primarily via the Reels format, timed for peak performance on Wednesdays.</a:t>
            </a:r>
          </a:p>
        </p:txBody>
      </p:sp>
      <p:graphicFrame>
        <p:nvGraphicFramePr>
          <p:cNvPr id="4" name="Diagram 3">
            <a:extLst>
              <a:ext uri="{FF2B5EF4-FFF2-40B4-BE49-F238E27FC236}">
                <a16:creationId xmlns:a16="http://schemas.microsoft.com/office/drawing/2014/main" id="{FAABC4B3-FFEF-53B2-98B7-D9341824E9EA}"/>
              </a:ext>
            </a:extLst>
          </p:cNvPr>
          <p:cNvGraphicFramePr/>
          <p:nvPr>
            <p:extLst>
              <p:ext uri="{D42A27DB-BD31-4B8C-83A1-F6EECF244321}">
                <p14:modId xmlns:p14="http://schemas.microsoft.com/office/powerpoint/2010/main" val="1990942107"/>
              </p:ext>
            </p:extLst>
          </p:nvPr>
        </p:nvGraphicFramePr>
        <p:xfrm>
          <a:off x="2032000" y="1853249"/>
          <a:ext cx="8128000" cy="5307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14806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528" fill="hold" grpId="0" nodeType="clickEffect">
                                  <p:stCondLst>
                                    <p:cond delay="0"/>
                                  </p:stCondLst>
                                  <p:childTnLst>
                                    <p:set>
                                      <p:cBhvr>
                                        <p:cTn id="16" dur="1" fill="hold">
                                          <p:stCondLst>
                                            <p:cond delay="0"/>
                                          </p:stCondLst>
                                        </p:cTn>
                                        <p:tgtEl>
                                          <p:spTgt spid="4">
                                            <p:graphicEl>
                                              <a:dgm id="{7A3EF820-1112-4CEE-8A94-A05A8A9ED587}"/>
                                            </p:graphicEl>
                                          </p:spTgt>
                                        </p:tgtEl>
                                        <p:attrNameLst>
                                          <p:attrName>style.visibility</p:attrName>
                                        </p:attrNameLst>
                                      </p:cBhvr>
                                      <p:to>
                                        <p:strVal val="visible"/>
                                      </p:to>
                                    </p:set>
                                    <p:anim calcmode="lin" valueType="num">
                                      <p:cBhvr>
                                        <p:cTn id="17" dur="500" fill="hold"/>
                                        <p:tgtEl>
                                          <p:spTgt spid="4">
                                            <p:graphicEl>
                                              <a:dgm id="{7A3EF820-1112-4CEE-8A94-A05A8A9ED587}"/>
                                            </p:graphicEl>
                                          </p:spTgt>
                                        </p:tgtEl>
                                        <p:attrNameLst>
                                          <p:attrName>ppt_w</p:attrName>
                                        </p:attrNameLst>
                                      </p:cBhvr>
                                      <p:tavLst>
                                        <p:tav tm="0">
                                          <p:val>
                                            <p:fltVal val="0"/>
                                          </p:val>
                                        </p:tav>
                                        <p:tav tm="100000">
                                          <p:val>
                                            <p:strVal val="#ppt_w"/>
                                          </p:val>
                                        </p:tav>
                                      </p:tavLst>
                                    </p:anim>
                                    <p:anim calcmode="lin" valueType="num">
                                      <p:cBhvr>
                                        <p:cTn id="18" dur="500" fill="hold"/>
                                        <p:tgtEl>
                                          <p:spTgt spid="4">
                                            <p:graphicEl>
                                              <a:dgm id="{7A3EF820-1112-4CEE-8A94-A05A8A9ED587}"/>
                                            </p:graphicEl>
                                          </p:spTgt>
                                        </p:tgtEl>
                                        <p:attrNameLst>
                                          <p:attrName>ppt_h</p:attrName>
                                        </p:attrNameLst>
                                      </p:cBhvr>
                                      <p:tavLst>
                                        <p:tav tm="0">
                                          <p:val>
                                            <p:fltVal val="0"/>
                                          </p:val>
                                        </p:tav>
                                        <p:tav tm="100000">
                                          <p:val>
                                            <p:strVal val="#ppt_h"/>
                                          </p:val>
                                        </p:tav>
                                      </p:tavLst>
                                    </p:anim>
                                    <p:animEffect transition="in" filter="fade">
                                      <p:cBhvr>
                                        <p:cTn id="19" dur="500"/>
                                        <p:tgtEl>
                                          <p:spTgt spid="4">
                                            <p:graphicEl>
                                              <a:dgm id="{7A3EF820-1112-4CEE-8A94-A05A8A9ED587}"/>
                                            </p:graphicEl>
                                          </p:spTgt>
                                        </p:tgtEl>
                                      </p:cBhvr>
                                    </p:animEffect>
                                    <p:anim calcmode="lin" valueType="num">
                                      <p:cBhvr>
                                        <p:cTn id="20" dur="500" fill="hold"/>
                                        <p:tgtEl>
                                          <p:spTgt spid="4">
                                            <p:graphicEl>
                                              <a:dgm id="{7A3EF820-1112-4CEE-8A94-A05A8A9ED587}"/>
                                            </p:graphicEl>
                                          </p:spTgt>
                                        </p:tgtEl>
                                        <p:attrNameLst>
                                          <p:attrName>ppt_x</p:attrName>
                                        </p:attrNameLst>
                                      </p:cBhvr>
                                      <p:tavLst>
                                        <p:tav tm="0">
                                          <p:val>
                                            <p:fltVal val="0.5"/>
                                          </p:val>
                                        </p:tav>
                                        <p:tav tm="100000">
                                          <p:val>
                                            <p:strVal val="#ppt_x"/>
                                          </p:val>
                                        </p:tav>
                                      </p:tavLst>
                                    </p:anim>
                                    <p:anim calcmode="lin" valueType="num">
                                      <p:cBhvr>
                                        <p:cTn id="21" dur="500" fill="hold"/>
                                        <p:tgtEl>
                                          <p:spTgt spid="4">
                                            <p:graphicEl>
                                              <a:dgm id="{7A3EF820-1112-4CEE-8A94-A05A8A9ED587}"/>
                                            </p:graphicEl>
                                          </p:spTgt>
                                        </p:tgtEl>
                                        <p:attrNameLst>
                                          <p:attrName>ppt_y</p:attrName>
                                        </p:attrNameLst>
                                      </p:cBhvr>
                                      <p:tavLst>
                                        <p:tav tm="0">
                                          <p:val>
                                            <p:fltVal val="0.5"/>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528" fill="hold" grpId="0" nodeType="clickEffect">
                                  <p:stCondLst>
                                    <p:cond delay="0"/>
                                  </p:stCondLst>
                                  <p:childTnLst>
                                    <p:set>
                                      <p:cBhvr>
                                        <p:cTn id="25" dur="1" fill="hold">
                                          <p:stCondLst>
                                            <p:cond delay="0"/>
                                          </p:stCondLst>
                                        </p:cTn>
                                        <p:tgtEl>
                                          <p:spTgt spid="4">
                                            <p:graphicEl>
                                              <a:dgm id="{A0E41868-3B5E-478E-AEAD-2BD6F1FE4FE0}"/>
                                            </p:graphicEl>
                                          </p:spTgt>
                                        </p:tgtEl>
                                        <p:attrNameLst>
                                          <p:attrName>style.visibility</p:attrName>
                                        </p:attrNameLst>
                                      </p:cBhvr>
                                      <p:to>
                                        <p:strVal val="visible"/>
                                      </p:to>
                                    </p:set>
                                    <p:anim calcmode="lin" valueType="num">
                                      <p:cBhvr>
                                        <p:cTn id="26" dur="500" fill="hold"/>
                                        <p:tgtEl>
                                          <p:spTgt spid="4">
                                            <p:graphicEl>
                                              <a:dgm id="{A0E41868-3B5E-478E-AEAD-2BD6F1FE4FE0}"/>
                                            </p:graphicEl>
                                          </p:spTgt>
                                        </p:tgtEl>
                                        <p:attrNameLst>
                                          <p:attrName>ppt_w</p:attrName>
                                        </p:attrNameLst>
                                      </p:cBhvr>
                                      <p:tavLst>
                                        <p:tav tm="0">
                                          <p:val>
                                            <p:fltVal val="0"/>
                                          </p:val>
                                        </p:tav>
                                        <p:tav tm="100000">
                                          <p:val>
                                            <p:strVal val="#ppt_w"/>
                                          </p:val>
                                        </p:tav>
                                      </p:tavLst>
                                    </p:anim>
                                    <p:anim calcmode="lin" valueType="num">
                                      <p:cBhvr>
                                        <p:cTn id="27" dur="500" fill="hold"/>
                                        <p:tgtEl>
                                          <p:spTgt spid="4">
                                            <p:graphicEl>
                                              <a:dgm id="{A0E41868-3B5E-478E-AEAD-2BD6F1FE4FE0}"/>
                                            </p:graphicEl>
                                          </p:spTgt>
                                        </p:tgtEl>
                                        <p:attrNameLst>
                                          <p:attrName>ppt_h</p:attrName>
                                        </p:attrNameLst>
                                      </p:cBhvr>
                                      <p:tavLst>
                                        <p:tav tm="0">
                                          <p:val>
                                            <p:fltVal val="0"/>
                                          </p:val>
                                        </p:tav>
                                        <p:tav tm="100000">
                                          <p:val>
                                            <p:strVal val="#ppt_h"/>
                                          </p:val>
                                        </p:tav>
                                      </p:tavLst>
                                    </p:anim>
                                    <p:animEffect transition="in" filter="fade">
                                      <p:cBhvr>
                                        <p:cTn id="28" dur="500"/>
                                        <p:tgtEl>
                                          <p:spTgt spid="4">
                                            <p:graphicEl>
                                              <a:dgm id="{A0E41868-3B5E-478E-AEAD-2BD6F1FE4FE0}"/>
                                            </p:graphicEl>
                                          </p:spTgt>
                                        </p:tgtEl>
                                      </p:cBhvr>
                                    </p:animEffect>
                                    <p:anim calcmode="lin" valueType="num">
                                      <p:cBhvr>
                                        <p:cTn id="29" dur="500" fill="hold"/>
                                        <p:tgtEl>
                                          <p:spTgt spid="4">
                                            <p:graphicEl>
                                              <a:dgm id="{A0E41868-3B5E-478E-AEAD-2BD6F1FE4FE0}"/>
                                            </p:graphicEl>
                                          </p:spTgt>
                                        </p:tgtEl>
                                        <p:attrNameLst>
                                          <p:attrName>ppt_x</p:attrName>
                                        </p:attrNameLst>
                                      </p:cBhvr>
                                      <p:tavLst>
                                        <p:tav tm="0">
                                          <p:val>
                                            <p:fltVal val="0.5"/>
                                          </p:val>
                                        </p:tav>
                                        <p:tav tm="100000">
                                          <p:val>
                                            <p:strVal val="#ppt_x"/>
                                          </p:val>
                                        </p:tav>
                                      </p:tavLst>
                                    </p:anim>
                                    <p:anim calcmode="lin" valueType="num">
                                      <p:cBhvr>
                                        <p:cTn id="30" dur="500" fill="hold"/>
                                        <p:tgtEl>
                                          <p:spTgt spid="4">
                                            <p:graphicEl>
                                              <a:dgm id="{A0E41868-3B5E-478E-AEAD-2BD6F1FE4FE0}"/>
                                            </p:graphicEl>
                                          </p:spTgt>
                                        </p:tgtEl>
                                        <p:attrNameLst>
                                          <p:attrName>ppt_y</p:attrName>
                                        </p:attrNameLst>
                                      </p:cBhvr>
                                      <p:tavLst>
                                        <p:tav tm="0">
                                          <p:val>
                                            <p:fltVal val="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528" fill="hold" grpId="0" nodeType="clickEffect">
                                  <p:stCondLst>
                                    <p:cond delay="0"/>
                                  </p:stCondLst>
                                  <p:childTnLst>
                                    <p:set>
                                      <p:cBhvr>
                                        <p:cTn id="34" dur="1" fill="hold">
                                          <p:stCondLst>
                                            <p:cond delay="0"/>
                                          </p:stCondLst>
                                        </p:cTn>
                                        <p:tgtEl>
                                          <p:spTgt spid="4">
                                            <p:graphicEl>
                                              <a:dgm id="{4C2DE579-EB9C-4556-81C7-4256C775BAA3}"/>
                                            </p:graphicEl>
                                          </p:spTgt>
                                        </p:tgtEl>
                                        <p:attrNameLst>
                                          <p:attrName>style.visibility</p:attrName>
                                        </p:attrNameLst>
                                      </p:cBhvr>
                                      <p:to>
                                        <p:strVal val="visible"/>
                                      </p:to>
                                    </p:set>
                                    <p:anim calcmode="lin" valueType="num">
                                      <p:cBhvr>
                                        <p:cTn id="35" dur="500" fill="hold"/>
                                        <p:tgtEl>
                                          <p:spTgt spid="4">
                                            <p:graphicEl>
                                              <a:dgm id="{4C2DE579-EB9C-4556-81C7-4256C775BAA3}"/>
                                            </p:graphicEl>
                                          </p:spTgt>
                                        </p:tgtEl>
                                        <p:attrNameLst>
                                          <p:attrName>ppt_w</p:attrName>
                                        </p:attrNameLst>
                                      </p:cBhvr>
                                      <p:tavLst>
                                        <p:tav tm="0">
                                          <p:val>
                                            <p:fltVal val="0"/>
                                          </p:val>
                                        </p:tav>
                                        <p:tav tm="100000">
                                          <p:val>
                                            <p:strVal val="#ppt_w"/>
                                          </p:val>
                                        </p:tav>
                                      </p:tavLst>
                                    </p:anim>
                                    <p:anim calcmode="lin" valueType="num">
                                      <p:cBhvr>
                                        <p:cTn id="36" dur="500" fill="hold"/>
                                        <p:tgtEl>
                                          <p:spTgt spid="4">
                                            <p:graphicEl>
                                              <a:dgm id="{4C2DE579-EB9C-4556-81C7-4256C775BAA3}"/>
                                            </p:graphicEl>
                                          </p:spTgt>
                                        </p:tgtEl>
                                        <p:attrNameLst>
                                          <p:attrName>ppt_h</p:attrName>
                                        </p:attrNameLst>
                                      </p:cBhvr>
                                      <p:tavLst>
                                        <p:tav tm="0">
                                          <p:val>
                                            <p:fltVal val="0"/>
                                          </p:val>
                                        </p:tav>
                                        <p:tav tm="100000">
                                          <p:val>
                                            <p:strVal val="#ppt_h"/>
                                          </p:val>
                                        </p:tav>
                                      </p:tavLst>
                                    </p:anim>
                                    <p:animEffect transition="in" filter="fade">
                                      <p:cBhvr>
                                        <p:cTn id="37" dur="500"/>
                                        <p:tgtEl>
                                          <p:spTgt spid="4">
                                            <p:graphicEl>
                                              <a:dgm id="{4C2DE579-EB9C-4556-81C7-4256C775BAA3}"/>
                                            </p:graphicEl>
                                          </p:spTgt>
                                        </p:tgtEl>
                                      </p:cBhvr>
                                    </p:animEffect>
                                    <p:anim calcmode="lin" valueType="num">
                                      <p:cBhvr>
                                        <p:cTn id="38" dur="500" fill="hold"/>
                                        <p:tgtEl>
                                          <p:spTgt spid="4">
                                            <p:graphicEl>
                                              <a:dgm id="{4C2DE579-EB9C-4556-81C7-4256C775BAA3}"/>
                                            </p:graphicEl>
                                          </p:spTgt>
                                        </p:tgtEl>
                                        <p:attrNameLst>
                                          <p:attrName>ppt_x</p:attrName>
                                        </p:attrNameLst>
                                      </p:cBhvr>
                                      <p:tavLst>
                                        <p:tav tm="0">
                                          <p:val>
                                            <p:fltVal val="0.5"/>
                                          </p:val>
                                        </p:tav>
                                        <p:tav tm="100000">
                                          <p:val>
                                            <p:strVal val="#ppt_x"/>
                                          </p:val>
                                        </p:tav>
                                      </p:tavLst>
                                    </p:anim>
                                    <p:anim calcmode="lin" valueType="num">
                                      <p:cBhvr>
                                        <p:cTn id="39" dur="500" fill="hold"/>
                                        <p:tgtEl>
                                          <p:spTgt spid="4">
                                            <p:graphicEl>
                                              <a:dgm id="{4C2DE579-EB9C-4556-81C7-4256C775BAA3}"/>
                                            </p:graphicEl>
                                          </p:spTgt>
                                        </p:tgtEl>
                                        <p:attrNameLst>
                                          <p:attrName>ppt_y</p:attrName>
                                        </p:attrNameLst>
                                      </p:cBhvr>
                                      <p:tavLst>
                                        <p:tav tm="0">
                                          <p:val>
                                            <p:fltVal val="0.5"/>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528" fill="hold" grpId="0" nodeType="clickEffect">
                                  <p:stCondLst>
                                    <p:cond delay="0"/>
                                  </p:stCondLst>
                                  <p:childTnLst>
                                    <p:set>
                                      <p:cBhvr>
                                        <p:cTn id="43" dur="1" fill="hold">
                                          <p:stCondLst>
                                            <p:cond delay="0"/>
                                          </p:stCondLst>
                                        </p:cTn>
                                        <p:tgtEl>
                                          <p:spTgt spid="4">
                                            <p:graphicEl>
                                              <a:dgm id="{12285438-6FE8-4AC9-8A69-D1903590EFFA}"/>
                                            </p:graphicEl>
                                          </p:spTgt>
                                        </p:tgtEl>
                                        <p:attrNameLst>
                                          <p:attrName>style.visibility</p:attrName>
                                        </p:attrNameLst>
                                      </p:cBhvr>
                                      <p:to>
                                        <p:strVal val="visible"/>
                                      </p:to>
                                    </p:set>
                                    <p:anim calcmode="lin" valueType="num">
                                      <p:cBhvr>
                                        <p:cTn id="44" dur="500" fill="hold"/>
                                        <p:tgtEl>
                                          <p:spTgt spid="4">
                                            <p:graphicEl>
                                              <a:dgm id="{12285438-6FE8-4AC9-8A69-D1903590EFFA}"/>
                                            </p:graphicEl>
                                          </p:spTgt>
                                        </p:tgtEl>
                                        <p:attrNameLst>
                                          <p:attrName>ppt_w</p:attrName>
                                        </p:attrNameLst>
                                      </p:cBhvr>
                                      <p:tavLst>
                                        <p:tav tm="0">
                                          <p:val>
                                            <p:fltVal val="0"/>
                                          </p:val>
                                        </p:tav>
                                        <p:tav tm="100000">
                                          <p:val>
                                            <p:strVal val="#ppt_w"/>
                                          </p:val>
                                        </p:tav>
                                      </p:tavLst>
                                    </p:anim>
                                    <p:anim calcmode="lin" valueType="num">
                                      <p:cBhvr>
                                        <p:cTn id="45" dur="500" fill="hold"/>
                                        <p:tgtEl>
                                          <p:spTgt spid="4">
                                            <p:graphicEl>
                                              <a:dgm id="{12285438-6FE8-4AC9-8A69-D1903590EFFA}"/>
                                            </p:graphicEl>
                                          </p:spTgt>
                                        </p:tgtEl>
                                        <p:attrNameLst>
                                          <p:attrName>ppt_h</p:attrName>
                                        </p:attrNameLst>
                                      </p:cBhvr>
                                      <p:tavLst>
                                        <p:tav tm="0">
                                          <p:val>
                                            <p:fltVal val="0"/>
                                          </p:val>
                                        </p:tav>
                                        <p:tav tm="100000">
                                          <p:val>
                                            <p:strVal val="#ppt_h"/>
                                          </p:val>
                                        </p:tav>
                                      </p:tavLst>
                                    </p:anim>
                                    <p:animEffect transition="in" filter="fade">
                                      <p:cBhvr>
                                        <p:cTn id="46" dur="500"/>
                                        <p:tgtEl>
                                          <p:spTgt spid="4">
                                            <p:graphicEl>
                                              <a:dgm id="{12285438-6FE8-4AC9-8A69-D1903590EFFA}"/>
                                            </p:graphicEl>
                                          </p:spTgt>
                                        </p:tgtEl>
                                      </p:cBhvr>
                                    </p:animEffect>
                                    <p:anim calcmode="lin" valueType="num">
                                      <p:cBhvr>
                                        <p:cTn id="47" dur="500" fill="hold"/>
                                        <p:tgtEl>
                                          <p:spTgt spid="4">
                                            <p:graphicEl>
                                              <a:dgm id="{12285438-6FE8-4AC9-8A69-D1903590EFFA}"/>
                                            </p:graphicEl>
                                          </p:spTgt>
                                        </p:tgtEl>
                                        <p:attrNameLst>
                                          <p:attrName>ppt_x</p:attrName>
                                        </p:attrNameLst>
                                      </p:cBhvr>
                                      <p:tavLst>
                                        <p:tav tm="0">
                                          <p:val>
                                            <p:fltVal val="0.5"/>
                                          </p:val>
                                        </p:tav>
                                        <p:tav tm="100000">
                                          <p:val>
                                            <p:strVal val="#ppt_x"/>
                                          </p:val>
                                        </p:tav>
                                      </p:tavLst>
                                    </p:anim>
                                    <p:anim calcmode="lin" valueType="num">
                                      <p:cBhvr>
                                        <p:cTn id="48" dur="500" fill="hold"/>
                                        <p:tgtEl>
                                          <p:spTgt spid="4">
                                            <p:graphicEl>
                                              <a:dgm id="{12285438-6FE8-4AC9-8A69-D1903590EFFA}"/>
                                            </p:graphic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Graphic spid="4" grpId="0" uiExpand="1">
        <p:bldSub>
          <a:bldDgm bld="lvl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20CFCF-BBD2-C6C8-96E3-C3934359330F}"/>
              </a:ext>
            </a:extLst>
          </p:cNvPr>
          <p:cNvSpPr/>
          <p:nvPr/>
        </p:nvSpPr>
        <p:spPr>
          <a:xfrm>
            <a:off x="4070447" y="2967335"/>
            <a:ext cx="4051109" cy="923330"/>
          </a:xfrm>
          <a:prstGeom prst="rect">
            <a:avLst/>
          </a:prstGeom>
          <a:no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YOU</a:t>
            </a:r>
          </a:p>
        </p:txBody>
      </p:sp>
    </p:spTree>
    <p:extLst>
      <p:ext uri="{BB962C8B-B14F-4D97-AF65-F5344CB8AC3E}">
        <p14:creationId xmlns:p14="http://schemas.microsoft.com/office/powerpoint/2010/main" val="19671625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635</TotalTime>
  <Words>1483</Words>
  <Application>Microsoft Office PowerPoint</Application>
  <PresentationFormat>Widescreen</PresentationFormat>
  <Paragraphs>110</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Century Gothic</vt:lpstr>
      <vt:lpstr>Wingdings</vt:lpstr>
      <vt:lpstr>Wingdings 3</vt:lpstr>
      <vt:lpstr>Ion</vt:lpstr>
      <vt:lpstr>Instagram Performance Analytics for Sugar Cosmetics</vt:lpstr>
      <vt:lpstr>About Sugar Cosmetics</vt:lpstr>
      <vt:lpstr>Brand and Products</vt:lpstr>
      <vt:lpstr>Business Model and Strategy</vt:lpstr>
      <vt:lpstr>Project Objectives</vt:lpstr>
      <vt:lpstr>Key Performance Indicators</vt:lpstr>
      <vt:lpstr>Post Type Distribution</vt:lpstr>
      <vt:lpstr>Monthly Shares and Profile Visits</vt:lpstr>
      <vt:lpstr>Audience Emotion Analysis</vt:lpstr>
      <vt:lpstr>Engagement Source Analysis</vt:lpstr>
      <vt:lpstr>Post Type Analysis</vt:lpstr>
      <vt:lpstr>Campaign Analysis</vt:lpstr>
      <vt:lpstr>Hashtag Performance</vt:lpstr>
      <vt:lpstr>Day of Week Analysis</vt:lpstr>
      <vt:lpstr>Day of Week Analysis</vt:lpstr>
      <vt:lpstr>Overall Insights</vt:lpstr>
      <vt:lpstr>Strategic Recommendation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Gupta</dc:creator>
  <cp:lastModifiedBy>Rohit Gupta</cp:lastModifiedBy>
  <cp:revision>30</cp:revision>
  <dcterms:created xsi:type="dcterms:W3CDTF">2025-11-11T06:04:33Z</dcterms:created>
  <dcterms:modified xsi:type="dcterms:W3CDTF">2025-11-14T06:05:12Z</dcterms:modified>
</cp:coreProperties>
</file>